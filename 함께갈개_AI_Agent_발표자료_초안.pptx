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7728"/>
    <p:restoredTop sz="94610"/>
  </p:normalViewPr>
  <p:slideViewPr>
    <p:cSldViewPr snapToGrid="0" snapToObjects="1">
      <p:cViewPr varScale="1">
        <p:scale>
          <a:sx n="159" d="100"/>
          <a:sy n="159" d="100"/>
        </p:scale>
        <p:origin x="157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278717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인사 및 팀 소개. 오늘 15분 발표, 5분 Q&amp;A로 진행합니다. '함께갈개'는 유기동물 입양 매칭과 반려동물 동반여행 추천을 하나로 묶은 AI Agent입니다. (약 30초)</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발표는 크게 4부분입니다: 개요, 기본 설계, Advanced 설계, 테스트&amp;마무리 순으로 진행하겠습니다. (약 20초)</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함께갈개는 농림축산식품부 유기동물 API와 한국관광공사 반려동물 동반여행 API, 두 개의 공공데이터를 하나의 대화로 연결하는 것이 핵심입니다. 두 API의 지역코드 체계가 달라 매핑 계층이 필수입니다. (약 40초)</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 4조는 6명으로 구성되어 있고, 각자 아키텍처·API 구현·Context·가드레일·프롬프트/테스트 영역을 맡았습니다. 저(전은배)는 가드레일과 구조화 출력을 담당했습니다. (약 30초)</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기능은 6가지입니다. 검색과 상세조회, 여행지 추천, 입양-여행 연계, 멀티턴 대화 이해, 그리고 세션을 넘어서는 개인화까지 포함합니다. (약 60초)</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가지 실제 대화 시나리오입니다. 조건 맞춤 추천, 입양 후 첫 동반여행 코스 추천, 그리고 동반 조건 조회까지 — 실제 데이터 기준으로 강릉은 관광지 32/숙박 7/음식점 21건, 서울은 3,170건 보유량을 확인했습니다. (약 60초)</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성공 기준은 정량적으로 정의했습니다. 할루시네이션 0건은 desertionNo/contentid를 Tool 응답 원문과 시스템이 직접 대조해 판정합니다. 응답시간, Tool 정확도, Guardrail 차단율까지 모두 측정 가능한 수치로 정의했습니다. (약 50초)</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기술, 보안, 성능, 안정성 네 영역의 제약을 설계 단계에서 명시했습니다. 특히 일일 트래픽 1,000건 제한 때문에 캐싱이 선택이 아니라 필수 제약이라는 점, 그리고 두 API의 지역코드 체계가 달라 매핑 계층이 꼭 필요하다는 점을 짚어주시면 좋습니다. (약 45초)</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아키텍처는 사용자-Agent-Tools-공공API가 순서대로 연결되고, Agent와 Tools가 Memory(Runtime Context/State/Store)를 함께 참조하는 구조입니다. Agent 내부는 Middleware 파이프라인과 GPT-5-mini/nano 두 모델로 구성됩니다. (약 70초)</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9단계 파이프라인입니다. 입력 가드레일과 의도분류 → 모델의 Tool 라우팅과 판단 → 지역코드 변환·캐시·재시도가 있는 Tool 실행 → 결과 1차 필터링 → Structured Output 생성 → 마지막 Output Guardrail에서 grounded 최종 검증까지, 종결 공고 필터는 7단계와 9단계에서 2중으로 방어합니다. (약 80초)</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모델은 역할을 분리했습니다. GPT-5-mini는 복합 Tool 체이닝 판단이 필요한 오케스트레이터로, temperature 0.3으로 일관성을 유지합니다. GPT-5-nano는 가드레일 판별과 의도분류만 담당하는 가볍고 빠른 분류기로, temperature 0으로 결정론적 라벨만 반환합니다. (약 60초)</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Structured Output은 4개 스키마로 설계했습니다. 핵심은 match_score나 grounded 같은 판정값을 모델이 스스로 매기지 않고, 시스템이 Tool 응답 원문과 대조해 계산한다는 점입니다 — 이게 할루시네이션을 막는 설계의 핵심입니다. (약 50초)</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Tool은 5개입니다. 유기동물 검색·상세, 동반여행 검색·상세, 그리고 선호도 저장. get_pet_travel_detail은 목록 전체가 아니라 상위 3~5건만 병렬 호출해 응답시간 제약을 지킵니다. (약 50초)</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Context는 Runtime Context(불변), State(대화 중 변화), Store(세션 간 영속) 세 가지로 명확히 구분했습니다. 지역코드표처럼 유저와 무관한 정적 데이터는 Store가 아니라 앱 레벨 캐시로 별도 관리합니다. (약 45초)</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Middleware는 LangChain 1.4의 Hook 지점(before_agent, wrap_model_call, wrap_tool_call, after_agent) 기준으로 구성했습니다. 지역코드 변환, 캐싱, 재시도, 결과 필터링이 모두 wrap_tool_call에 몰려 있고, ToolCallLimit과 Summarization은 내장 기능을 그대로 활용했습니다. (약 60초)</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Guardrail은 입력과 출력 양쪽에 2중으로 설계했습니다. 종결 공고 필터는 ResultFilterMiddleware가 1차로 걸러내고 OutputGuardrail이 잔여분을 잡는 최종 안전망 역할을 합니다. 원칙은 저비용 규칙 기반 필터를 먼저 적용하고, 통과분만 모델 기반으로 재검증하는 것입니다. (약 60초)</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테스트는 8개 카테고리, 8개 시나리오로 설계했습니다. 대표적으로 TS-01 Happy Path, TS-03 Guardrail 차단, TS-08 성능 한계 테스트를 예로 들면, 모두 Pass 판정 기준을 수치로 명확히 정의했습니다. (약 50초)</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저희 설계에서 가장 신경 쓴 부분은 다섯 가지입니다: 2중 방어 가드레일, grounded 검증을 통한 할루시네이션 차단, 차등 캐싱, multi-turn 개인화, 그리고 결과가 없을 때도 거짓말하지 않고 대안을 주는 정직한 실패 처리입니다. (약 40초)</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이상으로 발표를 마치겠습니다. 질문 받겠습니다. (5분)</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3.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3.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7.png"/><Relationship Id="rId7"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3.png"/><Relationship Id="rId7"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6.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FDEAEA"/>
          </a:solidFill>
          <a:ln/>
        </p:spPr>
        <p:txBody>
          <a:bodyPr/>
          <a:lstStyle/>
          <a:p>
            <a:endParaRPr lang="ko-KR" altLang="en-US"/>
          </a:p>
        </p:txBody>
      </p:sp>
      <p:sp>
        <p:nvSpPr>
          <p:cNvPr id="3" name="Shape 1"/>
          <p:cNvSpPr/>
          <p:nvPr/>
        </p:nvSpPr>
        <p:spPr>
          <a:xfrm>
            <a:off x="-1188720" y="4937760"/>
            <a:ext cx="3291840" cy="3291840"/>
          </a:xfrm>
          <a:prstGeom prst="ellipse">
            <a:avLst/>
          </a:prstGeom>
          <a:solidFill>
            <a:srgbClr val="E4F5F3"/>
          </a:solidFill>
          <a:ln/>
        </p:spPr>
        <p:txBody>
          <a:bodyPr/>
          <a:lstStyle/>
          <a:p>
            <a:endParaRPr lang="ko-KR" altLang="en-US"/>
          </a:p>
        </p:txBody>
      </p:sp>
      <p:sp>
        <p:nvSpPr>
          <p:cNvPr id="4" name="Shape 2"/>
          <p:cNvSpPr/>
          <p:nvPr/>
        </p:nvSpPr>
        <p:spPr>
          <a:xfrm>
            <a:off x="10515600" y="4480560"/>
            <a:ext cx="1280160" cy="1280160"/>
          </a:xfrm>
          <a:prstGeom prst="ellipse">
            <a:avLst/>
          </a:prstGeom>
          <a:solidFill>
            <a:srgbClr val="FFF4DC"/>
          </a:solidFill>
          <a:ln/>
        </p:spPr>
        <p:txBody>
          <a:bodyPr/>
          <a:lstStyle/>
          <a:p>
            <a:endParaRPr lang="ko-KR" altLang="en-US"/>
          </a:p>
        </p:txBody>
      </p:sp>
      <p:sp>
        <p:nvSpPr>
          <p:cNvPr id="5" name="Shape 3"/>
          <p:cNvSpPr/>
          <p:nvPr/>
        </p:nvSpPr>
        <p:spPr>
          <a:xfrm>
            <a:off x="822960" y="1417320"/>
            <a:ext cx="960120" cy="960120"/>
          </a:xfrm>
          <a:prstGeom prst="ellipse">
            <a:avLst/>
          </a:prstGeom>
          <a:solidFill>
            <a:srgbClr val="F96167"/>
          </a:solidFill>
          <a:ln/>
          <a:effectLst>
            <a:outerShdw blurRad="101600" dist="38100" dir="5400000" algn="bl" rotWithShape="0">
              <a:srgbClr val="888888">
                <a:alpha val="25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6" name="Image 0" descr="/home/claude/ppt_project/icons/paw.png"/>
          <p:cNvPicPr>
            <a:picLocks noChangeAspect="1"/>
          </p:cNvPicPr>
          <p:nvPr/>
        </p:nvPicPr>
        <p:blipFill>
          <a:blip r:embed="rId3"/>
          <a:stretch>
            <a:fillRect/>
          </a:stretch>
        </p:blipFill>
        <p:spPr>
          <a:xfrm>
            <a:off x="1115568" y="1709928"/>
            <a:ext cx="374904" cy="374904"/>
          </a:xfrm>
          <a:prstGeom prst="rect">
            <a:avLst/>
          </a:prstGeom>
        </p:spPr>
      </p:pic>
      <p:sp>
        <p:nvSpPr>
          <p:cNvPr id="7" name="Text 4"/>
          <p:cNvSpPr/>
          <p:nvPr/>
        </p:nvSpPr>
        <p:spPr>
          <a:xfrm>
            <a:off x="822960" y="2606040"/>
            <a:ext cx="9144000" cy="960120"/>
          </a:xfrm>
          <a:prstGeom prst="rect">
            <a:avLst/>
          </a:prstGeom>
          <a:noFill/>
          <a:ln/>
        </p:spPr>
        <p:txBody>
          <a:bodyPr wrap="square" lIns="0" tIns="0" rIns="0" bIns="0" rtlCol="0" anchor="ctr"/>
          <a:lstStyle/>
          <a:p>
            <a:pPr marL="0" indent="0">
              <a:buNone/>
            </a:pPr>
            <a:r>
              <a:rPr lang="en-US" sz="54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함께갈개</a:t>
            </a:r>
            <a:endParaRPr lang="en-US" sz="5400" dirty="0">
              <a:latin typeface="BM HANNA 11yrs old OTF" panose="020B0600000101010101" pitchFamily="34" charset="-127"/>
              <a:ea typeface="BM HANNA 11yrs old OTF" panose="020B0600000101010101" pitchFamily="34" charset="-127"/>
            </a:endParaRPr>
          </a:p>
        </p:txBody>
      </p:sp>
      <p:sp>
        <p:nvSpPr>
          <p:cNvPr id="8" name="Text 5"/>
          <p:cNvSpPr/>
          <p:nvPr/>
        </p:nvSpPr>
        <p:spPr>
          <a:xfrm>
            <a:off x="841248" y="3520440"/>
            <a:ext cx="9601200" cy="457200"/>
          </a:xfrm>
          <a:prstGeom prst="rect">
            <a:avLst/>
          </a:prstGeom>
          <a:noFill/>
          <a:ln/>
        </p:spPr>
        <p:txBody>
          <a:bodyPr wrap="square" lIns="0" tIns="0" rIns="0" bIns="0" rtlCol="0" anchor="ctr"/>
          <a:lstStyle/>
          <a:p>
            <a:pPr marL="0" indent="0">
              <a:buNone/>
            </a:pPr>
            <a:r>
              <a:rPr lang="en-US" sz="1800" dirty="0">
                <a:solidFill>
                  <a:srgbClr val="2F3C7E"/>
                </a:solidFill>
                <a:latin typeface="BM HANNA 11yrs old OTF" panose="020B0600000101010101" pitchFamily="34" charset="-127"/>
                <a:ea typeface="BM HANNA 11yrs old OTF" panose="020B0600000101010101" pitchFamily="34" charset="-127"/>
                <a:cs typeface="Calibri" pitchFamily="34" charset="-120"/>
              </a:rPr>
              <a:t>맞춤형 유기동물 입양 매칭 &amp; 반려동물 동반여행 컨시어지 AI Agent</a:t>
            </a:r>
            <a:endParaRPr lang="en-US" sz="1800" dirty="0">
              <a:latin typeface="BM HANNA 11yrs old OTF" panose="020B0600000101010101" pitchFamily="34" charset="-127"/>
              <a:ea typeface="BM HANNA 11yrs old OTF" panose="020B0600000101010101" pitchFamily="34" charset="-127"/>
            </a:endParaRPr>
          </a:p>
        </p:txBody>
      </p:sp>
      <p:sp>
        <p:nvSpPr>
          <p:cNvPr id="9" name="Text 6"/>
          <p:cNvSpPr/>
          <p:nvPr/>
        </p:nvSpPr>
        <p:spPr>
          <a:xfrm>
            <a:off x="841248" y="5989320"/>
            <a:ext cx="7315200" cy="548640"/>
          </a:xfrm>
          <a:prstGeom prst="rect">
            <a:avLst/>
          </a:prstGeom>
          <a:noFill/>
          <a:ln/>
        </p:spPr>
        <p:txBody>
          <a:bodyPr wrap="square" lIns="0" tIns="0" rIns="0" bIns="0" rtlCol="0" anchor="ctr"/>
          <a:lstStyle/>
          <a:p>
            <a:pPr marL="0" indent="0">
              <a:lnSpc>
                <a:spcPts val="2000"/>
              </a:lnSpc>
              <a:buNone/>
            </a:pPr>
            <a:r>
              <a:rPr lang="en-US" sz="13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생성형 AI 서비스 개발의 이해·활용 (LangChain)</a:t>
            </a:r>
            <a:endParaRPr lang="en-US" sz="1300" dirty="0">
              <a:latin typeface="BM HANNA 11yrs old OTF" panose="020B0600000101010101" pitchFamily="34" charset="-127"/>
              <a:ea typeface="BM HANNA 11yrs old OTF" panose="020B0600000101010101" pitchFamily="34" charset="-127"/>
            </a:endParaRPr>
          </a:p>
          <a:p>
            <a:pPr marL="0" indent="0">
              <a:lnSpc>
                <a:spcPts val="2000"/>
              </a:lnSpc>
              <a:buNone/>
            </a:pPr>
            <a:r>
              <a:rPr lang="en-US" sz="13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5층 10반 4조</a:t>
            </a:r>
            <a:endParaRPr lang="en-US" sz="1300" dirty="0">
              <a:latin typeface="BM HANNA 11yrs old OTF" panose="020B0600000101010101" pitchFamily="34" charset="-127"/>
              <a:ea typeface="BM HANNA 11yrs old OTF" panose="020B0600000101010101" pitchFamily="34" charset="-127"/>
            </a:endParaRPr>
          </a:p>
        </p:txBody>
      </p:sp>
      <p:sp>
        <p:nvSpPr>
          <p:cNvPr id="10" name="Text 7"/>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01</a:t>
            </a:r>
            <a:endParaRPr lang="en-US" sz="1000" dirty="0">
              <a:latin typeface="BM HANNA 11yrs old OTF" panose="020B0600000101010101" pitchFamily="34" charset="-127"/>
              <a:ea typeface="BM HANNA 11yrs old OTF" panose="020B0600000101010101" pitchFamily="34" charset="-127"/>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658368" cy="658368"/>
          </a:xfrm>
          <a:prstGeom prst="ellipse">
            <a:avLst/>
          </a:prstGeom>
          <a:solidFill>
            <a:srgbClr val="F96167"/>
          </a:solidFill>
          <a:ln/>
          <a:effectLst>
            <a:outerShdw blurRad="76200" dist="25400" dir="5400000" algn="bl" rotWithShape="0">
              <a:srgbClr val="888888">
                <a:alpha val="25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3" name="Image 0" descr="/home/claude/ppt_project/icons/list.png"/>
          <p:cNvPicPr>
            <a:picLocks noChangeAspect="1"/>
          </p:cNvPicPr>
          <p:nvPr/>
        </p:nvPicPr>
        <p:blipFill>
          <a:blip r:embed="rId3"/>
          <a:stretch>
            <a:fillRect/>
          </a:stretch>
        </p:blipFill>
        <p:spPr>
          <a:xfrm>
            <a:off x="713232" y="594360"/>
            <a:ext cx="237744" cy="237744"/>
          </a:xfrm>
          <a:prstGeom prst="rect">
            <a:avLst/>
          </a:prstGeom>
        </p:spPr>
      </p:pic>
      <p:sp>
        <p:nvSpPr>
          <p:cNvPr id="4" name="Text 1"/>
          <p:cNvSpPr/>
          <p:nvPr/>
        </p:nvSpPr>
        <p:spPr>
          <a:xfrm>
            <a:off x="1325880" y="329184"/>
            <a:ext cx="9875520" cy="502920"/>
          </a:xfrm>
          <a:prstGeom prst="rect">
            <a:avLst/>
          </a:prstGeom>
          <a:noFill/>
          <a:ln/>
        </p:spPr>
        <p:txBody>
          <a:bodyPr wrap="square" lIns="0" tIns="0" rIns="0" bIns="0" rtlCol="0" anchor="ctr"/>
          <a:lstStyle/>
          <a:p>
            <a:pPr marL="0" indent="0" algn="l">
              <a:buNone/>
            </a:pPr>
            <a:r>
              <a:rPr lang="en-US" sz="27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발표 순서</a:t>
            </a:r>
            <a:endParaRPr lang="en-US" sz="2700" dirty="0">
              <a:latin typeface="BM HANNA 11yrs old OTF" panose="020B0600000101010101" pitchFamily="34" charset="-127"/>
              <a:ea typeface="BM HANNA 11yrs old OTF" panose="020B0600000101010101" pitchFamily="34" charset="-127"/>
            </a:endParaRPr>
          </a:p>
        </p:txBody>
      </p:sp>
      <p:sp>
        <p:nvSpPr>
          <p:cNvPr id="5" name="Text 2"/>
          <p:cNvSpPr/>
          <p:nvPr/>
        </p:nvSpPr>
        <p:spPr>
          <a:xfrm>
            <a:off x="1325880" y="822960"/>
            <a:ext cx="9875520" cy="292608"/>
          </a:xfrm>
          <a:prstGeom prst="rect">
            <a:avLst/>
          </a:prstGeom>
          <a:noFill/>
          <a:ln/>
        </p:spPr>
        <p:txBody>
          <a:bodyPr wrap="square" lIns="0" tIns="0" rIns="0" bIns="0" rtlCol="0" anchor="ctr"/>
          <a:lstStyle/>
          <a:p>
            <a:pPr marL="0" indent="0" algn="l">
              <a:buNone/>
            </a:pPr>
            <a:r>
              <a:rPr lang="en-US" sz="1200" i="1" dirty="0">
                <a:solidFill>
                  <a:srgbClr val="6B6F8A"/>
                </a:solidFill>
                <a:latin typeface="BM HANNA 11yrs old OTF" panose="020B0600000101010101" pitchFamily="34" charset="-127"/>
                <a:ea typeface="BM HANNA 11yrs old OTF" panose="020B0600000101010101" pitchFamily="34" charset="-127"/>
                <a:cs typeface="Calibri" pitchFamily="34" charset="-120"/>
              </a:rPr>
              <a:t>15분 발표 · 5분 Q&amp;A</a:t>
            </a:r>
            <a:endParaRPr lang="en-US" sz="1200" dirty="0">
              <a:latin typeface="BM HANNA 11yrs old OTF" panose="020B0600000101010101" pitchFamily="34" charset="-127"/>
              <a:ea typeface="BM HANNA 11yrs old OTF" panose="020B0600000101010101" pitchFamily="34" charset="-127"/>
            </a:endParaRPr>
          </a:p>
        </p:txBody>
      </p:sp>
      <p:sp>
        <p:nvSpPr>
          <p:cNvPr id="6" name="Shape 3"/>
          <p:cNvSpPr/>
          <p:nvPr/>
        </p:nvSpPr>
        <p:spPr>
          <a:xfrm>
            <a:off x="548640" y="1691640"/>
            <a:ext cx="11064240" cy="1078992"/>
          </a:xfrm>
          <a:prstGeom prst="roundRect">
            <a:avLst>
              <a:gd name="adj" fmla="val 7627"/>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7" name="Shape 4"/>
          <p:cNvSpPr/>
          <p:nvPr/>
        </p:nvSpPr>
        <p:spPr>
          <a:xfrm>
            <a:off x="868680" y="1933956"/>
            <a:ext cx="594360" cy="594360"/>
          </a:xfrm>
          <a:prstGeom prst="ellipse">
            <a:avLst/>
          </a:prstGeom>
          <a:solidFill>
            <a:srgbClr val="2F3C7E"/>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8" name="Text 5"/>
          <p:cNvSpPr/>
          <p:nvPr/>
        </p:nvSpPr>
        <p:spPr>
          <a:xfrm>
            <a:off x="868680" y="1933956"/>
            <a:ext cx="594360" cy="594360"/>
          </a:xfrm>
          <a:prstGeom prst="rect">
            <a:avLst/>
          </a:prstGeom>
          <a:noFill/>
          <a:ln/>
        </p:spPr>
        <p:txBody>
          <a:bodyPr wrap="square" lIns="0" tIns="0" rIns="0" bIns="0" rtlCol="0" anchor="ctr"/>
          <a:lstStyle/>
          <a:p>
            <a:pPr marL="0" indent="0" algn="ctr">
              <a:buNone/>
            </a:pPr>
            <a:r>
              <a:rPr lang="en-US" sz="1800" b="1" dirty="0">
                <a:solidFill>
                  <a:srgbClr val="FFFFFF"/>
                </a:solidFill>
                <a:latin typeface="BM HANNA 11yrs old OTF" panose="020B0600000101010101" pitchFamily="34" charset="-127"/>
                <a:ea typeface="BM HANNA 11yrs old OTF" panose="020B0600000101010101" pitchFamily="34" charset="-127"/>
                <a:cs typeface="Cambria" pitchFamily="34" charset="-120"/>
              </a:rPr>
              <a:t>01</a:t>
            </a:r>
            <a:endParaRPr lang="en-US" sz="1800" dirty="0">
              <a:latin typeface="BM HANNA 11yrs old OTF" panose="020B0600000101010101" pitchFamily="34" charset="-127"/>
              <a:ea typeface="BM HANNA 11yrs old OTF" panose="020B0600000101010101" pitchFamily="34" charset="-127"/>
            </a:endParaRPr>
          </a:p>
        </p:txBody>
      </p:sp>
      <p:sp>
        <p:nvSpPr>
          <p:cNvPr id="9" name="Text 6"/>
          <p:cNvSpPr/>
          <p:nvPr/>
        </p:nvSpPr>
        <p:spPr>
          <a:xfrm>
            <a:off x="1737360" y="1819656"/>
            <a:ext cx="2834640" cy="457200"/>
          </a:xfrm>
          <a:prstGeom prst="rect">
            <a:avLst/>
          </a:prstGeom>
          <a:noFill/>
          <a:ln/>
        </p:spPr>
        <p:txBody>
          <a:bodyPr wrap="square" lIns="0" tIns="0" rIns="0" bIns="0" rtlCol="0" anchor="ctr"/>
          <a:lstStyle/>
          <a:p>
            <a:pPr marL="0" indent="0">
              <a:buNone/>
            </a:pPr>
            <a:r>
              <a:rPr lang="en-US" sz="18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개요</a:t>
            </a:r>
            <a:endParaRPr lang="en-US" sz="1800" dirty="0">
              <a:latin typeface="BM HANNA 11yrs old OTF" panose="020B0600000101010101" pitchFamily="34" charset="-127"/>
              <a:ea typeface="BM HANNA 11yrs old OTF" panose="020B0600000101010101" pitchFamily="34" charset="-127"/>
            </a:endParaRPr>
          </a:p>
        </p:txBody>
      </p:sp>
      <p:sp>
        <p:nvSpPr>
          <p:cNvPr id="10" name="Text 7"/>
          <p:cNvSpPr/>
          <p:nvPr/>
        </p:nvSpPr>
        <p:spPr>
          <a:xfrm>
            <a:off x="4617720" y="1691640"/>
            <a:ext cx="6766560" cy="1078992"/>
          </a:xfrm>
          <a:prstGeom prst="rect">
            <a:avLst/>
          </a:prstGeom>
          <a:noFill/>
          <a:ln/>
        </p:spPr>
        <p:txBody>
          <a:bodyPr wrap="square" lIns="0" tIns="0" rIns="0" bIns="0" rtlCol="0" anchor="ctr"/>
          <a:lstStyle/>
          <a:p>
            <a:pPr marL="0" indent="0">
              <a:buNone/>
            </a:pPr>
            <a:r>
              <a:rPr lang="en-US" sz="13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Agent 정의 · 핵심 기능 · 사용자 시나리오 · 성공 기준(DoD)</a:t>
            </a:r>
            <a:endParaRPr lang="en-US" sz="1300" dirty="0">
              <a:latin typeface="BM HANNA 11yrs old OTF" panose="020B0600000101010101" pitchFamily="34" charset="-127"/>
              <a:ea typeface="BM HANNA 11yrs old OTF" panose="020B0600000101010101" pitchFamily="34" charset="-127"/>
            </a:endParaRPr>
          </a:p>
        </p:txBody>
      </p:sp>
      <p:sp>
        <p:nvSpPr>
          <p:cNvPr id="11" name="Shape 8"/>
          <p:cNvSpPr/>
          <p:nvPr/>
        </p:nvSpPr>
        <p:spPr>
          <a:xfrm>
            <a:off x="548640" y="2935224"/>
            <a:ext cx="11064240" cy="1078992"/>
          </a:xfrm>
          <a:prstGeom prst="roundRect">
            <a:avLst>
              <a:gd name="adj" fmla="val 7627"/>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2" name="Shape 9"/>
          <p:cNvSpPr/>
          <p:nvPr/>
        </p:nvSpPr>
        <p:spPr>
          <a:xfrm>
            <a:off x="868680" y="3177540"/>
            <a:ext cx="594360" cy="594360"/>
          </a:xfrm>
          <a:prstGeom prst="ellipse">
            <a:avLst/>
          </a:prstGeom>
          <a:solidFill>
            <a:srgbClr val="F96167"/>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3" name="Text 10"/>
          <p:cNvSpPr/>
          <p:nvPr/>
        </p:nvSpPr>
        <p:spPr>
          <a:xfrm>
            <a:off x="868680" y="3177540"/>
            <a:ext cx="594360" cy="594360"/>
          </a:xfrm>
          <a:prstGeom prst="rect">
            <a:avLst/>
          </a:prstGeom>
          <a:noFill/>
          <a:ln/>
        </p:spPr>
        <p:txBody>
          <a:bodyPr wrap="square" lIns="0" tIns="0" rIns="0" bIns="0" rtlCol="0" anchor="ctr"/>
          <a:lstStyle/>
          <a:p>
            <a:pPr marL="0" indent="0" algn="ctr">
              <a:buNone/>
            </a:pPr>
            <a:r>
              <a:rPr lang="en-US" sz="1800" b="1" dirty="0">
                <a:solidFill>
                  <a:srgbClr val="FFFFFF"/>
                </a:solidFill>
                <a:latin typeface="BM HANNA 11yrs old OTF" panose="020B0600000101010101" pitchFamily="34" charset="-127"/>
                <a:ea typeface="BM HANNA 11yrs old OTF" panose="020B0600000101010101" pitchFamily="34" charset="-127"/>
                <a:cs typeface="Cambria" pitchFamily="34" charset="-120"/>
              </a:rPr>
              <a:t>02</a:t>
            </a:r>
            <a:endParaRPr lang="en-US" sz="1800" dirty="0">
              <a:latin typeface="BM HANNA 11yrs old OTF" panose="020B0600000101010101" pitchFamily="34" charset="-127"/>
              <a:ea typeface="BM HANNA 11yrs old OTF" panose="020B0600000101010101" pitchFamily="34" charset="-127"/>
            </a:endParaRPr>
          </a:p>
        </p:txBody>
      </p:sp>
      <p:sp>
        <p:nvSpPr>
          <p:cNvPr id="14" name="Text 11"/>
          <p:cNvSpPr/>
          <p:nvPr/>
        </p:nvSpPr>
        <p:spPr>
          <a:xfrm>
            <a:off x="1737360" y="3063240"/>
            <a:ext cx="2834640" cy="457200"/>
          </a:xfrm>
          <a:prstGeom prst="rect">
            <a:avLst/>
          </a:prstGeom>
          <a:noFill/>
          <a:ln/>
        </p:spPr>
        <p:txBody>
          <a:bodyPr wrap="square" lIns="0" tIns="0" rIns="0" bIns="0" rtlCol="0" anchor="ctr"/>
          <a:lstStyle/>
          <a:p>
            <a:pPr marL="0" indent="0">
              <a:buNone/>
            </a:pPr>
            <a:r>
              <a:rPr lang="en-US" sz="18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기본 설계</a:t>
            </a:r>
            <a:endParaRPr lang="en-US" sz="1800" dirty="0">
              <a:latin typeface="BM HANNA 11yrs old OTF" panose="020B0600000101010101" pitchFamily="34" charset="-127"/>
              <a:ea typeface="BM HANNA 11yrs old OTF" panose="020B0600000101010101" pitchFamily="34" charset="-127"/>
            </a:endParaRPr>
          </a:p>
        </p:txBody>
      </p:sp>
      <p:sp>
        <p:nvSpPr>
          <p:cNvPr id="15" name="Text 12"/>
          <p:cNvSpPr/>
          <p:nvPr/>
        </p:nvSpPr>
        <p:spPr>
          <a:xfrm>
            <a:off x="4617720" y="2935224"/>
            <a:ext cx="6766560" cy="1078992"/>
          </a:xfrm>
          <a:prstGeom prst="rect">
            <a:avLst/>
          </a:prstGeom>
          <a:noFill/>
          <a:ln/>
        </p:spPr>
        <p:txBody>
          <a:bodyPr wrap="square" lIns="0" tIns="0" rIns="0" bIns="0" rtlCol="0" anchor="ctr"/>
          <a:lstStyle/>
          <a:p>
            <a:pPr marL="0" indent="0">
              <a:buNone/>
            </a:pPr>
            <a:r>
              <a:rPr lang="en-US" sz="13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전체 아키텍처 · 동작 흐름 · LLM 모델 · Structured Output · Tool</a:t>
            </a:r>
            <a:endParaRPr lang="en-US" sz="1300" dirty="0">
              <a:latin typeface="BM HANNA 11yrs old OTF" panose="020B0600000101010101" pitchFamily="34" charset="-127"/>
              <a:ea typeface="BM HANNA 11yrs old OTF" panose="020B0600000101010101" pitchFamily="34" charset="-127"/>
            </a:endParaRPr>
          </a:p>
        </p:txBody>
      </p:sp>
      <p:sp>
        <p:nvSpPr>
          <p:cNvPr id="16" name="Shape 13"/>
          <p:cNvSpPr/>
          <p:nvPr/>
        </p:nvSpPr>
        <p:spPr>
          <a:xfrm>
            <a:off x="548640" y="4178808"/>
            <a:ext cx="11064240" cy="1078992"/>
          </a:xfrm>
          <a:prstGeom prst="roundRect">
            <a:avLst>
              <a:gd name="adj" fmla="val 7627"/>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7" name="Shape 14"/>
          <p:cNvSpPr/>
          <p:nvPr/>
        </p:nvSpPr>
        <p:spPr>
          <a:xfrm>
            <a:off x="868680" y="4421124"/>
            <a:ext cx="594360" cy="594360"/>
          </a:xfrm>
          <a:prstGeom prst="ellipse">
            <a:avLst/>
          </a:prstGeom>
          <a:solidFill>
            <a:srgbClr val="3AA6A0"/>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8" name="Text 15"/>
          <p:cNvSpPr/>
          <p:nvPr/>
        </p:nvSpPr>
        <p:spPr>
          <a:xfrm>
            <a:off x="868680" y="4421124"/>
            <a:ext cx="594360" cy="594360"/>
          </a:xfrm>
          <a:prstGeom prst="rect">
            <a:avLst/>
          </a:prstGeom>
          <a:noFill/>
          <a:ln/>
        </p:spPr>
        <p:txBody>
          <a:bodyPr wrap="square" lIns="0" tIns="0" rIns="0" bIns="0" rtlCol="0" anchor="ctr"/>
          <a:lstStyle/>
          <a:p>
            <a:pPr marL="0" indent="0" algn="ctr">
              <a:buNone/>
            </a:pPr>
            <a:r>
              <a:rPr lang="en-US" sz="1800" b="1" dirty="0">
                <a:solidFill>
                  <a:srgbClr val="FFFFFF"/>
                </a:solidFill>
                <a:latin typeface="BM HANNA 11yrs old OTF" panose="020B0600000101010101" pitchFamily="34" charset="-127"/>
                <a:ea typeface="BM HANNA 11yrs old OTF" panose="020B0600000101010101" pitchFamily="34" charset="-127"/>
                <a:cs typeface="Cambria" pitchFamily="34" charset="-120"/>
              </a:rPr>
              <a:t>03</a:t>
            </a:r>
            <a:endParaRPr lang="en-US" sz="1800" dirty="0">
              <a:latin typeface="BM HANNA 11yrs old OTF" panose="020B0600000101010101" pitchFamily="34" charset="-127"/>
              <a:ea typeface="BM HANNA 11yrs old OTF" panose="020B0600000101010101" pitchFamily="34" charset="-127"/>
            </a:endParaRPr>
          </a:p>
        </p:txBody>
      </p:sp>
      <p:sp>
        <p:nvSpPr>
          <p:cNvPr id="19" name="Text 16"/>
          <p:cNvSpPr/>
          <p:nvPr/>
        </p:nvSpPr>
        <p:spPr>
          <a:xfrm>
            <a:off x="1737360" y="4306824"/>
            <a:ext cx="2834640" cy="457200"/>
          </a:xfrm>
          <a:prstGeom prst="rect">
            <a:avLst/>
          </a:prstGeom>
          <a:noFill/>
          <a:ln/>
        </p:spPr>
        <p:txBody>
          <a:bodyPr wrap="square" lIns="0" tIns="0" rIns="0" bIns="0" rtlCol="0" anchor="ctr"/>
          <a:lstStyle/>
          <a:p>
            <a:pPr marL="0" indent="0">
              <a:buNone/>
            </a:pPr>
            <a:r>
              <a:rPr lang="en-US" sz="18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Advanced 설계</a:t>
            </a:r>
            <a:endParaRPr lang="en-US" sz="1800" dirty="0">
              <a:latin typeface="BM HANNA 11yrs old OTF" panose="020B0600000101010101" pitchFamily="34" charset="-127"/>
              <a:ea typeface="BM HANNA 11yrs old OTF" panose="020B0600000101010101" pitchFamily="34" charset="-127"/>
            </a:endParaRPr>
          </a:p>
        </p:txBody>
      </p:sp>
      <p:sp>
        <p:nvSpPr>
          <p:cNvPr id="20" name="Text 17"/>
          <p:cNvSpPr/>
          <p:nvPr/>
        </p:nvSpPr>
        <p:spPr>
          <a:xfrm>
            <a:off x="4617720" y="4178808"/>
            <a:ext cx="6766560" cy="1078992"/>
          </a:xfrm>
          <a:prstGeom prst="rect">
            <a:avLst/>
          </a:prstGeom>
          <a:noFill/>
          <a:ln/>
        </p:spPr>
        <p:txBody>
          <a:bodyPr wrap="square" lIns="0" tIns="0" rIns="0" bIns="0" rtlCol="0" anchor="ctr"/>
          <a:lstStyle/>
          <a:p>
            <a:pPr marL="0" indent="0">
              <a:buNone/>
            </a:pPr>
            <a:r>
              <a:rPr lang="en-US" sz="13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Context · Middleware 파이프라인 · Guardrail 2중 방어</a:t>
            </a:r>
            <a:endParaRPr lang="en-US" sz="1300" dirty="0">
              <a:latin typeface="BM HANNA 11yrs old OTF" panose="020B0600000101010101" pitchFamily="34" charset="-127"/>
              <a:ea typeface="BM HANNA 11yrs old OTF" panose="020B0600000101010101" pitchFamily="34" charset="-127"/>
            </a:endParaRPr>
          </a:p>
        </p:txBody>
      </p:sp>
      <p:sp>
        <p:nvSpPr>
          <p:cNvPr id="21" name="Shape 18"/>
          <p:cNvSpPr/>
          <p:nvPr/>
        </p:nvSpPr>
        <p:spPr>
          <a:xfrm>
            <a:off x="548640" y="5422392"/>
            <a:ext cx="11064240" cy="1078992"/>
          </a:xfrm>
          <a:prstGeom prst="roundRect">
            <a:avLst>
              <a:gd name="adj" fmla="val 7627"/>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22" name="Shape 19"/>
          <p:cNvSpPr/>
          <p:nvPr/>
        </p:nvSpPr>
        <p:spPr>
          <a:xfrm>
            <a:off x="868680" y="5664708"/>
            <a:ext cx="594360" cy="594360"/>
          </a:xfrm>
          <a:prstGeom prst="ellipse">
            <a:avLst/>
          </a:prstGeom>
          <a:solidFill>
            <a:srgbClr val="F5A623"/>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23" name="Text 20"/>
          <p:cNvSpPr/>
          <p:nvPr/>
        </p:nvSpPr>
        <p:spPr>
          <a:xfrm>
            <a:off x="868680" y="5664708"/>
            <a:ext cx="594360" cy="594360"/>
          </a:xfrm>
          <a:prstGeom prst="rect">
            <a:avLst/>
          </a:prstGeom>
          <a:noFill/>
          <a:ln/>
        </p:spPr>
        <p:txBody>
          <a:bodyPr wrap="square" lIns="0" tIns="0" rIns="0" bIns="0" rtlCol="0" anchor="ctr"/>
          <a:lstStyle/>
          <a:p>
            <a:pPr marL="0" indent="0" algn="ctr">
              <a:buNone/>
            </a:pPr>
            <a:r>
              <a:rPr lang="en-US" sz="1800" b="1" dirty="0">
                <a:solidFill>
                  <a:srgbClr val="FFFFFF"/>
                </a:solidFill>
                <a:latin typeface="BM HANNA 11yrs old OTF" panose="020B0600000101010101" pitchFamily="34" charset="-127"/>
                <a:ea typeface="BM HANNA 11yrs old OTF" panose="020B0600000101010101" pitchFamily="34" charset="-127"/>
                <a:cs typeface="Cambria" pitchFamily="34" charset="-120"/>
              </a:rPr>
              <a:t>04</a:t>
            </a:r>
            <a:endParaRPr lang="en-US" sz="1800" dirty="0">
              <a:latin typeface="BM HANNA 11yrs old OTF" panose="020B0600000101010101" pitchFamily="34" charset="-127"/>
              <a:ea typeface="BM HANNA 11yrs old OTF" panose="020B0600000101010101" pitchFamily="34" charset="-127"/>
            </a:endParaRPr>
          </a:p>
        </p:txBody>
      </p:sp>
      <p:sp>
        <p:nvSpPr>
          <p:cNvPr id="24" name="Text 21"/>
          <p:cNvSpPr/>
          <p:nvPr/>
        </p:nvSpPr>
        <p:spPr>
          <a:xfrm>
            <a:off x="1737360" y="5550408"/>
            <a:ext cx="2834640" cy="457200"/>
          </a:xfrm>
          <a:prstGeom prst="rect">
            <a:avLst/>
          </a:prstGeom>
          <a:noFill/>
          <a:ln/>
        </p:spPr>
        <p:txBody>
          <a:bodyPr wrap="square" lIns="0" tIns="0" rIns="0" bIns="0" rtlCol="0" anchor="ctr"/>
          <a:lstStyle/>
          <a:p>
            <a:pPr marL="0" indent="0">
              <a:buNone/>
            </a:pPr>
            <a:r>
              <a:rPr lang="en-US" sz="18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테스트 &amp; 마무리</a:t>
            </a:r>
            <a:endParaRPr lang="en-US" sz="1800" dirty="0">
              <a:latin typeface="BM HANNA 11yrs old OTF" panose="020B0600000101010101" pitchFamily="34" charset="-127"/>
              <a:ea typeface="BM HANNA 11yrs old OTF" panose="020B0600000101010101" pitchFamily="34" charset="-127"/>
            </a:endParaRPr>
          </a:p>
        </p:txBody>
      </p:sp>
      <p:sp>
        <p:nvSpPr>
          <p:cNvPr id="25" name="Text 22"/>
          <p:cNvSpPr/>
          <p:nvPr/>
        </p:nvSpPr>
        <p:spPr>
          <a:xfrm>
            <a:off x="4617720" y="5422392"/>
            <a:ext cx="6766560" cy="1078992"/>
          </a:xfrm>
          <a:prstGeom prst="rect">
            <a:avLst/>
          </a:prstGeom>
          <a:noFill/>
          <a:ln/>
        </p:spPr>
        <p:txBody>
          <a:bodyPr wrap="square" lIns="0" tIns="0" rIns="0" bIns="0" rtlCol="0" anchor="ctr"/>
          <a:lstStyle/>
          <a:p>
            <a:pPr marL="0" indent="0">
              <a:buNone/>
            </a:pPr>
            <a:r>
              <a:rPr lang="en-US" sz="13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테스트 설계 · 핵심 차별점 요약</a:t>
            </a:r>
            <a:endParaRPr lang="en-US" sz="1300" dirty="0">
              <a:latin typeface="BM HANNA 11yrs old OTF" panose="020B0600000101010101" pitchFamily="34" charset="-127"/>
              <a:ea typeface="BM HANNA 11yrs old OTF" panose="020B0600000101010101" pitchFamily="34" charset="-127"/>
            </a:endParaRPr>
          </a:p>
        </p:txBody>
      </p:sp>
      <p:sp>
        <p:nvSpPr>
          <p:cNvPr id="26" name="Text 23"/>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02</a:t>
            </a:r>
            <a:endParaRPr lang="en-US" sz="1000" dirty="0">
              <a:latin typeface="BM HANNA 11yrs old OTF" panose="020B0600000101010101" pitchFamily="34" charset="-127"/>
              <a:ea typeface="BM HANNA 11yrs old OTF" panose="020B0600000101010101" pitchFamily="34" charset="-127"/>
            </a:endParaRPr>
          </a:p>
        </p:txBody>
      </p:sp>
      <p:sp>
        <p:nvSpPr>
          <p:cNvPr id="27" name="Text 24"/>
          <p:cNvSpPr/>
          <p:nvPr/>
        </p:nvSpPr>
        <p:spPr>
          <a:xfrm>
            <a:off x="457200" y="6446520"/>
            <a:ext cx="3657600" cy="274320"/>
          </a:xfrm>
          <a:prstGeom prst="rect">
            <a:avLst/>
          </a:prstGeom>
          <a:noFill/>
          <a:ln/>
        </p:spPr>
        <p:txBody>
          <a:bodyPr wrap="square" lIns="0" tIns="0" rIns="0" bIns="0" rtlCol="0" anchor="ctr"/>
          <a:lstStyle/>
          <a:p>
            <a:pPr marL="0" indent="0" algn="l">
              <a:buNone/>
            </a:pPr>
            <a:r>
              <a:rPr lang="en-US" sz="9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함께갈개 · AI Agent 설계</a:t>
            </a:r>
            <a:endParaRPr lang="en-US" sz="900" dirty="0">
              <a:latin typeface="BM HANNA 11yrs old OTF" panose="020B0600000101010101" pitchFamily="34" charset="-127"/>
              <a:ea typeface="BM HANNA 11yrs old OTF" panose="020B0600000101010101" pitchFamily="34" charset="-127"/>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658368" cy="658368"/>
          </a:xfrm>
          <a:prstGeom prst="ellipse">
            <a:avLst/>
          </a:prstGeom>
          <a:solidFill>
            <a:srgbClr val="F96167"/>
          </a:solidFill>
          <a:ln/>
          <a:effectLst>
            <a:outerShdw blurRad="76200" dist="25400" dir="5400000" algn="bl" rotWithShape="0">
              <a:srgbClr val="888888">
                <a:alpha val="25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3" name="Image 0" descr="/home/claude/ppt_project/icons/paw.png"/>
          <p:cNvPicPr>
            <a:picLocks noChangeAspect="1"/>
          </p:cNvPicPr>
          <p:nvPr/>
        </p:nvPicPr>
        <p:blipFill>
          <a:blip r:embed="rId3"/>
          <a:stretch>
            <a:fillRect/>
          </a:stretch>
        </p:blipFill>
        <p:spPr>
          <a:xfrm>
            <a:off x="713232" y="594360"/>
            <a:ext cx="237744" cy="237744"/>
          </a:xfrm>
          <a:prstGeom prst="rect">
            <a:avLst/>
          </a:prstGeom>
        </p:spPr>
      </p:pic>
      <p:sp>
        <p:nvSpPr>
          <p:cNvPr id="4" name="Text 1"/>
          <p:cNvSpPr/>
          <p:nvPr/>
        </p:nvSpPr>
        <p:spPr>
          <a:xfrm>
            <a:off x="1325880" y="329184"/>
            <a:ext cx="9875520" cy="502920"/>
          </a:xfrm>
          <a:prstGeom prst="rect">
            <a:avLst/>
          </a:prstGeom>
          <a:noFill/>
          <a:ln/>
        </p:spPr>
        <p:txBody>
          <a:bodyPr wrap="square" lIns="0" tIns="0" rIns="0" bIns="0" rtlCol="0" anchor="ctr"/>
          <a:lstStyle/>
          <a:p>
            <a:pPr marL="0" indent="0" algn="l">
              <a:buNone/>
            </a:pPr>
            <a:r>
              <a:rPr lang="en-US" sz="27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Agent 정의</a:t>
            </a:r>
            <a:endParaRPr lang="en-US" sz="2700" dirty="0">
              <a:latin typeface="BM HANNA 11yrs old OTF" panose="020B0600000101010101" pitchFamily="34" charset="-127"/>
              <a:ea typeface="BM HANNA 11yrs old OTF" panose="020B0600000101010101" pitchFamily="34" charset="-127"/>
            </a:endParaRPr>
          </a:p>
        </p:txBody>
      </p:sp>
      <p:sp>
        <p:nvSpPr>
          <p:cNvPr id="5" name="Text 2"/>
          <p:cNvSpPr/>
          <p:nvPr/>
        </p:nvSpPr>
        <p:spPr>
          <a:xfrm>
            <a:off x="1325880" y="822960"/>
            <a:ext cx="9875520" cy="292608"/>
          </a:xfrm>
          <a:prstGeom prst="rect">
            <a:avLst/>
          </a:prstGeom>
          <a:noFill/>
          <a:ln/>
        </p:spPr>
        <p:txBody>
          <a:bodyPr wrap="square" lIns="0" tIns="0" rIns="0" bIns="0" rtlCol="0" anchor="ctr"/>
          <a:lstStyle/>
          <a:p>
            <a:pPr marL="0" indent="0" algn="l">
              <a:buNone/>
            </a:pPr>
            <a:r>
              <a:rPr lang="en-US" sz="1200" i="1" dirty="0">
                <a:solidFill>
                  <a:srgbClr val="6B6F8A"/>
                </a:solidFill>
                <a:latin typeface="BM HANNA 11yrs old OTF" panose="020B0600000101010101" pitchFamily="34" charset="-127"/>
                <a:ea typeface="BM HANNA 11yrs old OTF" panose="020B0600000101010101" pitchFamily="34" charset="-127"/>
                <a:cs typeface="Calibri" pitchFamily="34" charset="-120"/>
              </a:rPr>
              <a:t>1.1  왜 이 Agent가 필요한가</a:t>
            </a:r>
            <a:endParaRPr lang="en-US" sz="1200" dirty="0">
              <a:latin typeface="BM HANNA 11yrs old OTF" panose="020B0600000101010101" pitchFamily="34" charset="-127"/>
              <a:ea typeface="BM HANNA 11yrs old OTF" panose="020B0600000101010101" pitchFamily="34" charset="-127"/>
            </a:endParaRPr>
          </a:p>
        </p:txBody>
      </p:sp>
      <p:sp>
        <p:nvSpPr>
          <p:cNvPr id="6" name="Shape 3"/>
          <p:cNvSpPr/>
          <p:nvPr/>
        </p:nvSpPr>
        <p:spPr>
          <a:xfrm>
            <a:off x="548640" y="1691640"/>
            <a:ext cx="5760720" cy="4251960"/>
          </a:xfrm>
          <a:prstGeom prst="roundRect">
            <a:avLst>
              <a:gd name="adj" fmla="val 1935"/>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7" name="Text 4"/>
          <p:cNvSpPr/>
          <p:nvPr/>
        </p:nvSpPr>
        <p:spPr>
          <a:xfrm>
            <a:off x="868680" y="1965960"/>
            <a:ext cx="5120640" cy="457200"/>
          </a:xfrm>
          <a:prstGeom prst="rect">
            <a:avLst/>
          </a:prstGeom>
          <a:noFill/>
          <a:ln/>
        </p:spPr>
        <p:txBody>
          <a:bodyPr wrap="square" lIns="0" tIns="0" rIns="0" bIns="0" rtlCol="0" anchor="ctr"/>
          <a:lstStyle/>
          <a:p>
            <a:pPr marL="0" indent="0">
              <a:buNone/>
            </a:pPr>
            <a:r>
              <a:rPr lang="en-US" sz="17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올인원 반려동물 라이프 Agent</a:t>
            </a:r>
            <a:endParaRPr lang="en-US" sz="1700" dirty="0">
              <a:latin typeface="BM HANNA 11yrs old OTF" panose="020B0600000101010101" pitchFamily="34" charset="-127"/>
              <a:ea typeface="BM HANNA 11yrs old OTF" panose="020B0600000101010101" pitchFamily="34" charset="-127"/>
            </a:endParaRPr>
          </a:p>
        </p:txBody>
      </p:sp>
      <p:sp>
        <p:nvSpPr>
          <p:cNvPr id="8" name="Text 5"/>
          <p:cNvSpPr/>
          <p:nvPr/>
        </p:nvSpPr>
        <p:spPr>
          <a:xfrm>
            <a:off x="868680" y="2514600"/>
            <a:ext cx="5120640" cy="1737360"/>
          </a:xfrm>
          <a:prstGeom prst="rect">
            <a:avLst/>
          </a:prstGeom>
          <a:noFill/>
          <a:ln/>
        </p:spPr>
        <p:txBody>
          <a:bodyPr wrap="square" lIns="0" tIns="0" rIns="0" bIns="0" rtlCol="0" anchor="ctr"/>
          <a:lstStyle/>
          <a:p>
            <a:pPr marL="0" indent="0">
              <a:lnSpc>
                <a:spcPct val="125000"/>
              </a:lnSpc>
              <a:buNone/>
            </a:pPr>
            <a:r>
              <a:rPr lang="en-US" sz="14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입양 희망자의 주거환경·성향 등 맞춤 조건에 최적화된 유기동물을 매칭하고, 입양(예정) 반려동물과 함께 갈 수 있는 전국 </a:t>
            </a:r>
            <a:r>
              <a:rPr lang="en-US" sz="140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동반여행지·숙소·식당과</a:t>
            </a:r>
            <a:r>
              <a:rPr lang="en-US" sz="14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 </a:t>
            </a:r>
            <a:r>
              <a:rPr lang="en-US" sz="140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레포츠를</a:t>
            </a:r>
            <a:r>
              <a:rPr lang="en-US" sz="14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 </a:t>
            </a:r>
            <a:r>
              <a:rPr lang="en-US" sz="140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제안합니다</a:t>
            </a:r>
            <a:r>
              <a:rPr lang="en-US" sz="14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a:t>
            </a:r>
            <a:endParaRPr lang="en-US" sz="1400" dirty="0">
              <a:latin typeface="BM HANNA 11yrs old OTF" panose="020B0600000101010101" pitchFamily="34" charset="-127"/>
              <a:ea typeface="BM HANNA 11yrs old OTF" panose="020B0600000101010101" pitchFamily="34" charset="-127"/>
            </a:endParaRPr>
          </a:p>
        </p:txBody>
      </p:sp>
      <p:sp>
        <p:nvSpPr>
          <p:cNvPr id="9" name="Shape 6"/>
          <p:cNvSpPr/>
          <p:nvPr/>
        </p:nvSpPr>
        <p:spPr>
          <a:xfrm>
            <a:off x="868680" y="4343400"/>
            <a:ext cx="5120640" cy="1417320"/>
          </a:xfrm>
          <a:prstGeom prst="roundRect">
            <a:avLst>
              <a:gd name="adj" fmla="val 5161"/>
            </a:avLst>
          </a:prstGeom>
          <a:solidFill>
            <a:srgbClr val="FFF4DC"/>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0" name="Text 7"/>
          <p:cNvSpPr/>
          <p:nvPr/>
        </p:nvSpPr>
        <p:spPr>
          <a:xfrm>
            <a:off x="1097280" y="4526280"/>
            <a:ext cx="4663440" cy="1097280"/>
          </a:xfrm>
          <a:prstGeom prst="rect">
            <a:avLst/>
          </a:prstGeom>
          <a:noFill/>
          <a:ln/>
        </p:spPr>
        <p:txBody>
          <a:bodyPr wrap="square" lIns="0" tIns="0" rIns="0" bIns="0" rtlCol="0" anchor="t"/>
          <a:lstStyle/>
          <a:p>
            <a:pPr marL="0" indent="0">
              <a:lnSpc>
                <a:spcPct val="120000"/>
              </a:lnSpc>
              <a:buNone/>
            </a:pPr>
            <a:r>
              <a:rPr lang="en-US" sz="1300" b="1" dirty="0">
                <a:solidFill>
                  <a:srgbClr val="1E2761"/>
                </a:solidFill>
                <a:latin typeface="BM HANNA 11yrs old OTF" panose="020B0600000101010101" pitchFamily="34" charset="-127"/>
                <a:ea typeface="BM HANNA 11yrs old OTF" panose="020B0600000101010101" pitchFamily="34" charset="-127"/>
                <a:cs typeface="Calibri" pitchFamily="34" charset="-120"/>
              </a:rPr>
              <a:t>두 개의 공공 API를 하나의 대화 흐름으로 연결
</a:t>
            </a:r>
            <a:endParaRPr lang="en-US" sz="1300" dirty="0">
              <a:latin typeface="BM HANNA 11yrs old OTF" panose="020B0600000101010101" pitchFamily="34" charset="-127"/>
              <a:ea typeface="BM HANNA 11yrs old OTF" panose="020B0600000101010101" pitchFamily="34" charset="-127"/>
            </a:endParaRPr>
          </a:p>
          <a:p>
            <a:pPr marL="0" indent="0">
              <a:lnSpc>
                <a:spcPct val="120000"/>
              </a:lnSpc>
              <a:buNone/>
            </a:pPr>
            <a:r>
              <a:rPr lang="en-US" sz="12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지역코드 체계가 다른 두 API를 매핑 계층으로 연결해, 입양 상담과 여행 추천을 자연스럽게 잇습니다.</a:t>
            </a:r>
            <a:endParaRPr lang="en-US" sz="1300" dirty="0">
              <a:latin typeface="BM HANNA 11yrs old OTF" panose="020B0600000101010101" pitchFamily="34" charset="-127"/>
              <a:ea typeface="BM HANNA 11yrs old OTF" panose="020B0600000101010101" pitchFamily="34" charset="-127"/>
            </a:endParaRPr>
          </a:p>
        </p:txBody>
      </p:sp>
      <p:sp>
        <p:nvSpPr>
          <p:cNvPr id="11" name="Shape 8"/>
          <p:cNvSpPr/>
          <p:nvPr/>
        </p:nvSpPr>
        <p:spPr>
          <a:xfrm>
            <a:off x="6583680" y="1691640"/>
            <a:ext cx="5074920" cy="1965960"/>
          </a:xfrm>
          <a:prstGeom prst="roundRect">
            <a:avLst>
              <a:gd name="adj" fmla="val 4186"/>
            </a:avLst>
          </a:prstGeom>
          <a:solidFill>
            <a:srgbClr val="FFFFFF"/>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2" name="Shape 9"/>
          <p:cNvSpPr/>
          <p:nvPr/>
        </p:nvSpPr>
        <p:spPr>
          <a:xfrm>
            <a:off x="6903720" y="2011680"/>
            <a:ext cx="548640" cy="548640"/>
          </a:xfrm>
          <a:prstGeom prst="ellipse">
            <a:avLst/>
          </a:prstGeom>
          <a:solidFill>
            <a:srgbClr val="F96167"/>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13" name="Image 1" descr="/home/claude/ppt_project/icons/search.png"/>
          <p:cNvPicPr>
            <a:picLocks noChangeAspect="1"/>
          </p:cNvPicPr>
          <p:nvPr/>
        </p:nvPicPr>
        <p:blipFill>
          <a:blip r:embed="rId4"/>
          <a:stretch>
            <a:fillRect/>
          </a:stretch>
        </p:blipFill>
        <p:spPr>
          <a:xfrm>
            <a:off x="7051853" y="2159813"/>
            <a:ext cx="252374" cy="252374"/>
          </a:xfrm>
          <a:prstGeom prst="rect">
            <a:avLst/>
          </a:prstGeom>
        </p:spPr>
      </p:pic>
      <p:sp>
        <p:nvSpPr>
          <p:cNvPr id="14" name="Text 10"/>
          <p:cNvSpPr/>
          <p:nvPr/>
        </p:nvSpPr>
        <p:spPr>
          <a:xfrm>
            <a:off x="7635240" y="1965960"/>
            <a:ext cx="3657600" cy="365760"/>
          </a:xfrm>
          <a:prstGeom prst="rect">
            <a:avLst/>
          </a:prstGeom>
          <a:noFill/>
          <a:ln/>
        </p:spPr>
        <p:txBody>
          <a:bodyPr wrap="square" lIns="0" tIns="0" rIns="0" bIns="0" rtlCol="0" anchor="ctr"/>
          <a:lstStyle/>
          <a:p>
            <a:pPr marL="0" indent="0">
              <a:buNone/>
            </a:pPr>
            <a:r>
              <a:rPr lang="en-US" sz="145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유기동물 OpenAPI</a:t>
            </a:r>
            <a:endParaRPr lang="en-US" sz="1450" dirty="0">
              <a:latin typeface="BM HANNA 11yrs old OTF" panose="020B0600000101010101" pitchFamily="34" charset="-127"/>
              <a:ea typeface="BM HANNA 11yrs old OTF" panose="020B0600000101010101" pitchFamily="34" charset="-127"/>
            </a:endParaRPr>
          </a:p>
        </p:txBody>
      </p:sp>
      <p:sp>
        <p:nvSpPr>
          <p:cNvPr id="15" name="Text 11"/>
          <p:cNvSpPr/>
          <p:nvPr/>
        </p:nvSpPr>
        <p:spPr>
          <a:xfrm>
            <a:off x="7635240" y="2313432"/>
            <a:ext cx="3657600" cy="274320"/>
          </a:xfrm>
          <a:prstGeom prst="rect">
            <a:avLst/>
          </a:prstGeom>
          <a:noFill/>
          <a:ln/>
        </p:spPr>
        <p:txBody>
          <a:bodyPr wrap="square" lIns="0" tIns="0" rIns="0" bIns="0" rtlCol="0" anchor="ctr"/>
          <a:lstStyle/>
          <a:p>
            <a:pPr marL="0" indent="0">
              <a:buNone/>
            </a:pPr>
            <a:r>
              <a:rPr lang="en-US" sz="1100" i="1" dirty="0">
                <a:solidFill>
                  <a:srgbClr val="6B6F8A"/>
                </a:solidFill>
                <a:latin typeface="BM HANNA 11yrs old OTF" panose="020B0600000101010101" pitchFamily="34" charset="-127"/>
                <a:ea typeface="BM HANNA 11yrs old OTF" panose="020B0600000101010101" pitchFamily="34" charset="-127"/>
                <a:cs typeface="Calibri" pitchFamily="34" charset="-120"/>
              </a:rPr>
              <a:t>농림축산식품부</a:t>
            </a:r>
            <a:endParaRPr lang="en-US" sz="1100" dirty="0">
              <a:latin typeface="BM HANNA 11yrs old OTF" panose="020B0600000101010101" pitchFamily="34" charset="-127"/>
              <a:ea typeface="BM HANNA 11yrs old OTF" panose="020B0600000101010101" pitchFamily="34" charset="-127"/>
            </a:endParaRPr>
          </a:p>
        </p:txBody>
      </p:sp>
      <p:sp>
        <p:nvSpPr>
          <p:cNvPr id="16" name="Text 12"/>
          <p:cNvSpPr/>
          <p:nvPr/>
        </p:nvSpPr>
        <p:spPr>
          <a:xfrm>
            <a:off x="6903720" y="2834640"/>
            <a:ext cx="4480560" cy="640080"/>
          </a:xfrm>
          <a:prstGeom prst="rect">
            <a:avLst/>
          </a:prstGeom>
          <a:noFill/>
          <a:ln/>
        </p:spPr>
        <p:txBody>
          <a:bodyPr wrap="square" lIns="0" tIns="0" rIns="0" bIns="0" rtlCol="0" anchor="ctr"/>
          <a:lstStyle/>
          <a:p>
            <a:pPr marL="0" indent="0">
              <a:buNone/>
            </a:pPr>
            <a:r>
              <a:rPr lang="en-US" sz="12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구조(유기)동물 공고 검색 · 상세정보</a:t>
            </a:r>
            <a:endParaRPr lang="en-US" sz="1250" dirty="0">
              <a:latin typeface="BM HANNA 11yrs old OTF" panose="020B0600000101010101" pitchFamily="34" charset="-127"/>
              <a:ea typeface="BM HANNA 11yrs old OTF" panose="020B0600000101010101" pitchFamily="34" charset="-127"/>
            </a:endParaRPr>
          </a:p>
        </p:txBody>
      </p:sp>
      <p:sp>
        <p:nvSpPr>
          <p:cNvPr id="17" name="Shape 13"/>
          <p:cNvSpPr/>
          <p:nvPr/>
        </p:nvSpPr>
        <p:spPr>
          <a:xfrm>
            <a:off x="6583680" y="3840480"/>
            <a:ext cx="5074920" cy="1965960"/>
          </a:xfrm>
          <a:prstGeom prst="roundRect">
            <a:avLst>
              <a:gd name="adj" fmla="val 4186"/>
            </a:avLst>
          </a:prstGeom>
          <a:solidFill>
            <a:srgbClr val="FFFFFF"/>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8" name="Shape 14"/>
          <p:cNvSpPr/>
          <p:nvPr/>
        </p:nvSpPr>
        <p:spPr>
          <a:xfrm>
            <a:off x="6903720" y="4160520"/>
            <a:ext cx="548640" cy="548640"/>
          </a:xfrm>
          <a:prstGeom prst="ellipse">
            <a:avLst/>
          </a:prstGeom>
          <a:solidFill>
            <a:srgbClr val="3AA6A0"/>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19" name="Image 2" descr="/home/claude/ppt_project/icons/mapmarked.png"/>
          <p:cNvPicPr>
            <a:picLocks noChangeAspect="1"/>
          </p:cNvPicPr>
          <p:nvPr/>
        </p:nvPicPr>
        <p:blipFill>
          <a:blip r:embed="rId5"/>
          <a:stretch>
            <a:fillRect/>
          </a:stretch>
        </p:blipFill>
        <p:spPr>
          <a:xfrm>
            <a:off x="7051853" y="4308653"/>
            <a:ext cx="252374" cy="252374"/>
          </a:xfrm>
          <a:prstGeom prst="rect">
            <a:avLst/>
          </a:prstGeom>
        </p:spPr>
      </p:pic>
      <p:sp>
        <p:nvSpPr>
          <p:cNvPr id="20" name="Text 15"/>
          <p:cNvSpPr/>
          <p:nvPr/>
        </p:nvSpPr>
        <p:spPr>
          <a:xfrm>
            <a:off x="7635240" y="4114800"/>
            <a:ext cx="3657600" cy="365760"/>
          </a:xfrm>
          <a:prstGeom prst="rect">
            <a:avLst/>
          </a:prstGeom>
          <a:noFill/>
          <a:ln/>
        </p:spPr>
        <p:txBody>
          <a:bodyPr wrap="square" lIns="0" tIns="0" rIns="0" bIns="0" rtlCol="0" anchor="ctr"/>
          <a:lstStyle/>
          <a:p>
            <a:pPr marL="0" indent="0">
              <a:buNone/>
            </a:pPr>
            <a:r>
              <a:rPr lang="en-US" sz="145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반려동물 동반여행 OpenAPI</a:t>
            </a:r>
            <a:endParaRPr lang="en-US" sz="1450" dirty="0">
              <a:latin typeface="BM HANNA 11yrs old OTF" panose="020B0600000101010101" pitchFamily="34" charset="-127"/>
              <a:ea typeface="BM HANNA 11yrs old OTF" panose="020B0600000101010101" pitchFamily="34" charset="-127"/>
            </a:endParaRPr>
          </a:p>
        </p:txBody>
      </p:sp>
      <p:sp>
        <p:nvSpPr>
          <p:cNvPr id="21" name="Text 16"/>
          <p:cNvSpPr/>
          <p:nvPr/>
        </p:nvSpPr>
        <p:spPr>
          <a:xfrm>
            <a:off x="7635240" y="4462272"/>
            <a:ext cx="3657600" cy="274320"/>
          </a:xfrm>
          <a:prstGeom prst="rect">
            <a:avLst/>
          </a:prstGeom>
          <a:noFill/>
          <a:ln/>
        </p:spPr>
        <p:txBody>
          <a:bodyPr wrap="square" lIns="0" tIns="0" rIns="0" bIns="0" rtlCol="0" anchor="ctr"/>
          <a:lstStyle/>
          <a:p>
            <a:pPr marL="0" indent="0">
              <a:buNone/>
            </a:pPr>
            <a:r>
              <a:rPr lang="en-US" sz="1100" i="1" dirty="0">
                <a:solidFill>
                  <a:srgbClr val="6B6F8A"/>
                </a:solidFill>
                <a:latin typeface="BM HANNA 11yrs old OTF" panose="020B0600000101010101" pitchFamily="34" charset="-127"/>
                <a:ea typeface="BM HANNA 11yrs old OTF" panose="020B0600000101010101" pitchFamily="34" charset="-127"/>
                <a:cs typeface="Calibri" pitchFamily="34" charset="-120"/>
              </a:rPr>
              <a:t>한국관광공사</a:t>
            </a:r>
            <a:endParaRPr lang="en-US" sz="1100" dirty="0">
              <a:latin typeface="BM HANNA 11yrs old OTF" panose="020B0600000101010101" pitchFamily="34" charset="-127"/>
              <a:ea typeface="BM HANNA 11yrs old OTF" panose="020B0600000101010101" pitchFamily="34" charset="-127"/>
            </a:endParaRPr>
          </a:p>
        </p:txBody>
      </p:sp>
      <p:sp>
        <p:nvSpPr>
          <p:cNvPr id="22" name="Text 17"/>
          <p:cNvSpPr/>
          <p:nvPr/>
        </p:nvSpPr>
        <p:spPr>
          <a:xfrm>
            <a:off x="6903720" y="4983480"/>
            <a:ext cx="4480560" cy="640080"/>
          </a:xfrm>
          <a:prstGeom prst="rect">
            <a:avLst/>
          </a:prstGeom>
          <a:noFill/>
          <a:ln/>
        </p:spPr>
        <p:txBody>
          <a:bodyPr wrap="square" lIns="0" tIns="0" rIns="0" bIns="0" rtlCol="0" anchor="ctr"/>
          <a:lstStyle/>
          <a:p>
            <a:r>
              <a:rPr lang="en-US" sz="12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동반 가능 </a:t>
            </a:r>
            <a:r>
              <a:rPr lang="en-US" sz="125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관광지·문화시설</a:t>
            </a:r>
            <a:r>
              <a:rPr lang="en-US" altLang="ko-KR" sz="125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a:t>
            </a:r>
            <a:r>
              <a:rPr lang="en-US" sz="125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숙소·쇼핑</a:t>
            </a:r>
            <a:r>
              <a:rPr lang="en-US" altLang="ko-KR" sz="125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a:t>
            </a:r>
            <a:r>
              <a:rPr lang="en-US" sz="125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음식점·레포츠</a:t>
            </a:r>
            <a:endParaRPr lang="en-US" sz="1250" dirty="0">
              <a:latin typeface="BM HANNA 11yrs old OTF" panose="020B0600000101010101" pitchFamily="34" charset="-127"/>
              <a:ea typeface="BM HANNA 11yrs old OTF" panose="020B0600000101010101" pitchFamily="34" charset="-127"/>
            </a:endParaRPr>
          </a:p>
        </p:txBody>
      </p:sp>
      <p:sp>
        <p:nvSpPr>
          <p:cNvPr id="23" name="Text 18"/>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03</a:t>
            </a:r>
            <a:endParaRPr lang="en-US" sz="1000" dirty="0">
              <a:latin typeface="BM HANNA 11yrs old OTF" panose="020B0600000101010101" pitchFamily="34" charset="-127"/>
              <a:ea typeface="BM HANNA 11yrs old OTF" panose="020B0600000101010101" pitchFamily="34" charset="-127"/>
            </a:endParaRPr>
          </a:p>
        </p:txBody>
      </p:sp>
      <p:sp>
        <p:nvSpPr>
          <p:cNvPr id="24" name="Text 19"/>
          <p:cNvSpPr/>
          <p:nvPr/>
        </p:nvSpPr>
        <p:spPr>
          <a:xfrm>
            <a:off x="457200" y="6446520"/>
            <a:ext cx="3657600" cy="274320"/>
          </a:xfrm>
          <a:prstGeom prst="rect">
            <a:avLst/>
          </a:prstGeom>
          <a:noFill/>
          <a:ln/>
        </p:spPr>
        <p:txBody>
          <a:bodyPr wrap="square" lIns="0" tIns="0" rIns="0" bIns="0" rtlCol="0" anchor="ctr"/>
          <a:lstStyle/>
          <a:p>
            <a:pPr marL="0" indent="0" algn="l">
              <a:buNone/>
            </a:pPr>
            <a:r>
              <a:rPr lang="en-US" sz="9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함께갈개 · AI Agent 설계</a:t>
            </a:r>
            <a:endParaRPr lang="en-US" sz="900" dirty="0">
              <a:latin typeface="BM HANNA 11yrs old OTF" panose="020B0600000101010101" pitchFamily="34" charset="-127"/>
              <a:ea typeface="BM HANNA 11yrs old OTF" panose="020B0600000101010101" pitchFamily="34" charset="-127"/>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658368" cy="658368"/>
          </a:xfrm>
          <a:prstGeom prst="ellipse">
            <a:avLst/>
          </a:prstGeom>
          <a:solidFill>
            <a:srgbClr val="F96167"/>
          </a:solidFill>
          <a:ln/>
          <a:effectLst>
            <a:outerShdw blurRad="76200" dist="25400" dir="5400000" algn="bl" rotWithShape="0">
              <a:srgbClr val="888888">
                <a:alpha val="25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3" name="Image 0" descr="/home/claude/ppt_project/icons/users.png"/>
          <p:cNvPicPr>
            <a:picLocks noChangeAspect="1"/>
          </p:cNvPicPr>
          <p:nvPr/>
        </p:nvPicPr>
        <p:blipFill>
          <a:blip r:embed="rId3"/>
          <a:stretch>
            <a:fillRect/>
          </a:stretch>
        </p:blipFill>
        <p:spPr>
          <a:xfrm>
            <a:off x="713232" y="594360"/>
            <a:ext cx="237744" cy="237744"/>
          </a:xfrm>
          <a:prstGeom prst="rect">
            <a:avLst/>
          </a:prstGeom>
        </p:spPr>
      </p:pic>
      <p:sp>
        <p:nvSpPr>
          <p:cNvPr id="4" name="Text 1"/>
          <p:cNvSpPr/>
          <p:nvPr/>
        </p:nvSpPr>
        <p:spPr>
          <a:xfrm>
            <a:off x="1325880" y="329184"/>
            <a:ext cx="9875520" cy="502920"/>
          </a:xfrm>
          <a:prstGeom prst="rect">
            <a:avLst/>
          </a:prstGeom>
          <a:noFill/>
          <a:ln/>
        </p:spPr>
        <p:txBody>
          <a:bodyPr wrap="square" lIns="0" tIns="0" rIns="0" bIns="0" rtlCol="0" anchor="ctr"/>
          <a:lstStyle/>
          <a:p>
            <a:pPr marL="0" indent="0" algn="l">
              <a:buNone/>
            </a:pPr>
            <a:r>
              <a:rPr lang="en-US" sz="27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팀 구성 및 역할 분담</a:t>
            </a:r>
            <a:endParaRPr lang="en-US" sz="2700" dirty="0">
              <a:latin typeface="BM HANNA 11yrs old OTF" panose="020B0600000101010101" pitchFamily="34" charset="-127"/>
              <a:ea typeface="BM HANNA 11yrs old OTF" panose="020B0600000101010101" pitchFamily="34" charset="-127"/>
            </a:endParaRPr>
          </a:p>
        </p:txBody>
      </p:sp>
      <p:sp>
        <p:nvSpPr>
          <p:cNvPr id="5" name="Text 2"/>
          <p:cNvSpPr/>
          <p:nvPr/>
        </p:nvSpPr>
        <p:spPr>
          <a:xfrm>
            <a:off x="1325880" y="822960"/>
            <a:ext cx="9875520" cy="292608"/>
          </a:xfrm>
          <a:prstGeom prst="rect">
            <a:avLst/>
          </a:prstGeom>
          <a:noFill/>
          <a:ln/>
        </p:spPr>
        <p:txBody>
          <a:bodyPr wrap="square" lIns="0" tIns="0" rIns="0" bIns="0" rtlCol="0" anchor="ctr"/>
          <a:lstStyle/>
          <a:p>
            <a:pPr marL="0" indent="0" algn="l">
              <a:buNone/>
            </a:pPr>
            <a:r>
              <a:rPr lang="en-US" sz="1200" i="1" dirty="0">
                <a:solidFill>
                  <a:srgbClr val="6B6F8A"/>
                </a:solidFill>
                <a:latin typeface="BM HANNA 11yrs old OTF" panose="020B0600000101010101" pitchFamily="34" charset="-127"/>
                <a:ea typeface="BM HANNA 11yrs old OTF" panose="020B0600000101010101" pitchFamily="34" charset="-127"/>
                <a:cs typeface="Calibri" pitchFamily="34" charset="-120"/>
              </a:rPr>
              <a:t>5층 10반 4조</a:t>
            </a:r>
            <a:endParaRPr lang="en-US" sz="1200" dirty="0">
              <a:latin typeface="BM HANNA 11yrs old OTF" panose="020B0600000101010101" pitchFamily="34" charset="-127"/>
              <a:ea typeface="BM HANNA 11yrs old OTF" panose="020B0600000101010101" pitchFamily="34" charset="-127"/>
            </a:endParaRPr>
          </a:p>
        </p:txBody>
      </p:sp>
      <p:sp>
        <p:nvSpPr>
          <p:cNvPr id="6" name="Shape 3"/>
          <p:cNvSpPr/>
          <p:nvPr/>
        </p:nvSpPr>
        <p:spPr>
          <a:xfrm>
            <a:off x="548640" y="1737360"/>
            <a:ext cx="3474720" cy="1943100"/>
          </a:xfrm>
          <a:prstGeom prst="roundRect">
            <a:avLst>
              <a:gd name="adj" fmla="val 4235"/>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7" name="Shape 4"/>
          <p:cNvSpPr/>
          <p:nvPr/>
        </p:nvSpPr>
        <p:spPr>
          <a:xfrm>
            <a:off x="804672" y="1975104"/>
            <a:ext cx="502920" cy="502920"/>
          </a:xfrm>
          <a:prstGeom prst="ellipse">
            <a:avLst/>
          </a:prstGeom>
          <a:solidFill>
            <a:srgbClr val="2F3C7E"/>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8" name="Text 5"/>
          <p:cNvSpPr/>
          <p:nvPr/>
        </p:nvSpPr>
        <p:spPr>
          <a:xfrm>
            <a:off x="804672" y="1975104"/>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BM HANNA 11yrs old OTF" panose="020B0600000101010101" pitchFamily="34" charset="-127"/>
                <a:ea typeface="BM HANNA 11yrs old OTF" panose="020B0600000101010101" pitchFamily="34" charset="-127"/>
                <a:cs typeface="Cambria" pitchFamily="34" charset="-120"/>
              </a:rPr>
              <a:t>성우</a:t>
            </a:r>
            <a:endParaRPr lang="en-US" sz="1300" dirty="0">
              <a:latin typeface="BM HANNA 11yrs old OTF" panose="020B0600000101010101" pitchFamily="34" charset="-127"/>
              <a:ea typeface="BM HANNA 11yrs old OTF" panose="020B0600000101010101" pitchFamily="34" charset="-127"/>
            </a:endParaRPr>
          </a:p>
        </p:txBody>
      </p:sp>
      <p:sp>
        <p:nvSpPr>
          <p:cNvPr id="9" name="Text 6"/>
          <p:cNvSpPr/>
          <p:nvPr/>
        </p:nvSpPr>
        <p:spPr>
          <a:xfrm>
            <a:off x="1444752" y="1920240"/>
            <a:ext cx="2468880" cy="320040"/>
          </a:xfrm>
          <a:prstGeom prst="rect">
            <a:avLst/>
          </a:prstGeom>
          <a:noFill/>
          <a:ln/>
        </p:spPr>
        <p:txBody>
          <a:bodyPr wrap="square" lIns="0" tIns="0" rIns="0" bIns="0" rtlCol="0" anchor="ctr"/>
          <a:lstStyle/>
          <a:p>
            <a:pPr marL="0" indent="0">
              <a:buNone/>
            </a:pPr>
            <a:r>
              <a:rPr lang="en-US" sz="145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박성우</a:t>
            </a:r>
            <a:endParaRPr lang="en-US" sz="1450" dirty="0">
              <a:latin typeface="BM HANNA 11yrs old OTF" panose="020B0600000101010101" pitchFamily="34" charset="-127"/>
              <a:ea typeface="BM HANNA 11yrs old OTF" panose="020B0600000101010101" pitchFamily="34" charset="-127"/>
            </a:endParaRPr>
          </a:p>
        </p:txBody>
      </p:sp>
      <p:sp>
        <p:nvSpPr>
          <p:cNvPr id="10" name="Text 7"/>
          <p:cNvSpPr/>
          <p:nvPr/>
        </p:nvSpPr>
        <p:spPr>
          <a:xfrm>
            <a:off x="1444752" y="2240280"/>
            <a:ext cx="2468880" cy="274320"/>
          </a:xfrm>
          <a:prstGeom prst="rect">
            <a:avLst/>
          </a:prstGeom>
          <a:noFill/>
          <a:ln/>
        </p:spPr>
        <p:txBody>
          <a:bodyPr wrap="square" lIns="0" tIns="0" rIns="0" bIns="0" rtlCol="0" anchor="ctr"/>
          <a:lstStyle/>
          <a:p>
            <a:r>
              <a:rPr lang="en-US" altLang="ko-KR" sz="1150" b="1" dirty="0" err="1">
                <a:solidFill>
                  <a:srgbClr val="F96167"/>
                </a:solidFill>
                <a:latin typeface="BM HANNA 11yrs old OTF" panose="020B0600000101010101" pitchFamily="34" charset="-127"/>
                <a:ea typeface="BM HANNA 11yrs old OTF" panose="020B0600000101010101" pitchFamily="34" charset="-127"/>
                <a:cs typeface="Calibri" pitchFamily="34" charset="-120"/>
              </a:rPr>
              <a:t>가드레일</a:t>
            </a:r>
            <a:r>
              <a:rPr lang="en-US" altLang="ko-KR" sz="1150" b="1" dirty="0">
                <a:solidFill>
                  <a:srgbClr val="F96167"/>
                </a:solidFill>
                <a:latin typeface="BM HANNA 11yrs old OTF" panose="020B0600000101010101" pitchFamily="34" charset="-127"/>
                <a:ea typeface="BM HANNA 11yrs old OTF" panose="020B0600000101010101" pitchFamily="34" charset="-127"/>
                <a:cs typeface="Calibri" pitchFamily="34" charset="-120"/>
              </a:rPr>
              <a:t> · </a:t>
            </a:r>
            <a:r>
              <a:rPr lang="en-US" altLang="ko-KR" sz="1150" b="1" dirty="0" err="1">
                <a:solidFill>
                  <a:srgbClr val="F96167"/>
                </a:solidFill>
                <a:latin typeface="BM HANNA 11yrs old OTF" panose="020B0600000101010101" pitchFamily="34" charset="-127"/>
                <a:ea typeface="BM HANNA 11yrs old OTF" panose="020B0600000101010101" pitchFamily="34" charset="-127"/>
                <a:cs typeface="Calibri" pitchFamily="34" charset="-120"/>
              </a:rPr>
              <a:t>구조화</a:t>
            </a:r>
            <a:r>
              <a:rPr lang="en-US" altLang="ko-KR" sz="1150" b="1" dirty="0">
                <a:solidFill>
                  <a:srgbClr val="F96167"/>
                </a:solidFill>
                <a:latin typeface="BM HANNA 11yrs old OTF" panose="020B0600000101010101" pitchFamily="34" charset="-127"/>
                <a:ea typeface="BM HANNA 11yrs old OTF" panose="020B0600000101010101" pitchFamily="34" charset="-127"/>
                <a:cs typeface="Calibri" pitchFamily="34" charset="-120"/>
              </a:rPr>
              <a:t> </a:t>
            </a:r>
            <a:r>
              <a:rPr lang="en-US" altLang="ko-KR" sz="1150" b="1" dirty="0" err="1">
                <a:solidFill>
                  <a:srgbClr val="F96167"/>
                </a:solidFill>
                <a:latin typeface="BM HANNA 11yrs old OTF" panose="020B0600000101010101" pitchFamily="34" charset="-127"/>
                <a:ea typeface="BM HANNA 11yrs old OTF" panose="020B0600000101010101" pitchFamily="34" charset="-127"/>
                <a:cs typeface="Calibri" pitchFamily="34" charset="-120"/>
              </a:rPr>
              <a:t>출력</a:t>
            </a:r>
            <a:endParaRPr lang="en-US" sz="1150" dirty="0">
              <a:latin typeface="BM HANNA 11yrs old OTF" panose="020B0600000101010101" pitchFamily="34" charset="-127"/>
              <a:ea typeface="BM HANNA 11yrs old OTF" panose="020B0600000101010101" pitchFamily="34" charset="-127"/>
            </a:endParaRPr>
          </a:p>
        </p:txBody>
      </p:sp>
      <p:sp>
        <p:nvSpPr>
          <p:cNvPr id="11" name="Text 8"/>
          <p:cNvSpPr/>
          <p:nvPr/>
        </p:nvSpPr>
        <p:spPr>
          <a:xfrm>
            <a:off x="804672" y="2670048"/>
            <a:ext cx="2971800" cy="891540"/>
          </a:xfrm>
          <a:prstGeom prst="rect">
            <a:avLst/>
          </a:prstGeom>
          <a:noFill/>
          <a:ln/>
        </p:spPr>
        <p:txBody>
          <a:bodyPr wrap="square" lIns="0" tIns="0" rIns="0" bIns="0" rtlCol="0" anchor="ctr"/>
          <a:lstStyle/>
          <a:p>
            <a:pPr>
              <a:lnSpc>
                <a:spcPct val="115000"/>
              </a:lnSpc>
            </a:pPr>
            <a:r>
              <a:rPr lang="en-US" altLang="ko-KR" sz="108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입·출력</a:t>
            </a:r>
            <a:r>
              <a:rPr lang="en-US" altLang="ko-KR" sz="1080" dirty="0">
                <a:solidFill>
                  <a:srgbClr val="22264A"/>
                </a:solidFill>
                <a:latin typeface="BM HANNA 11yrs old OTF" panose="020B0600000101010101" pitchFamily="34" charset="-127"/>
                <a:ea typeface="BM HANNA 11yrs old OTF" panose="020B0600000101010101" pitchFamily="34" charset="-127"/>
                <a:cs typeface="Calibri" pitchFamily="34" charset="-120"/>
              </a:rPr>
              <a:t> Guardrail, </a:t>
            </a:r>
            <a:r>
              <a:rPr lang="en-US" altLang="ko-KR" sz="108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Pydantic</a:t>
            </a:r>
            <a:r>
              <a:rPr lang="en-US" altLang="ko-KR" sz="1080" dirty="0">
                <a:solidFill>
                  <a:srgbClr val="22264A"/>
                </a:solidFill>
                <a:latin typeface="BM HANNA 11yrs old OTF" panose="020B0600000101010101" pitchFamily="34" charset="-127"/>
                <a:ea typeface="BM HANNA 11yrs old OTF" panose="020B0600000101010101" pitchFamily="34" charset="-127"/>
                <a:cs typeface="Calibri" pitchFamily="34" charset="-120"/>
              </a:rPr>
              <a:t> </a:t>
            </a:r>
            <a:r>
              <a:rPr lang="en-US" altLang="ko-KR" sz="108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스키마</a:t>
            </a:r>
            <a:r>
              <a:rPr lang="en-US" altLang="ko-KR" sz="1080" dirty="0">
                <a:solidFill>
                  <a:srgbClr val="22264A"/>
                </a:solidFill>
                <a:latin typeface="BM HANNA 11yrs old OTF" panose="020B0600000101010101" pitchFamily="34" charset="-127"/>
                <a:ea typeface="BM HANNA 11yrs old OTF" panose="020B0600000101010101" pitchFamily="34" charset="-127"/>
                <a:cs typeface="Calibri" pitchFamily="34" charset="-120"/>
              </a:rPr>
              <a:t>, grounded </a:t>
            </a:r>
            <a:r>
              <a:rPr lang="en-US" altLang="ko-KR" sz="108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검증</a:t>
            </a:r>
            <a:endParaRPr lang="en-US" altLang="ko-KR" sz="1080" dirty="0">
              <a:latin typeface="BM HANNA 11yrs old OTF" panose="020B0600000101010101" pitchFamily="34" charset="-127"/>
              <a:ea typeface="BM HANNA 11yrs old OTF" panose="020B0600000101010101" pitchFamily="34" charset="-127"/>
            </a:endParaRPr>
          </a:p>
        </p:txBody>
      </p:sp>
      <p:sp>
        <p:nvSpPr>
          <p:cNvPr id="12" name="Shape 9"/>
          <p:cNvSpPr/>
          <p:nvPr/>
        </p:nvSpPr>
        <p:spPr>
          <a:xfrm>
            <a:off x="4343400" y="1737360"/>
            <a:ext cx="3474720" cy="1943100"/>
          </a:xfrm>
          <a:prstGeom prst="roundRect">
            <a:avLst>
              <a:gd name="adj" fmla="val 4235"/>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3" name="Shape 10"/>
          <p:cNvSpPr/>
          <p:nvPr/>
        </p:nvSpPr>
        <p:spPr>
          <a:xfrm>
            <a:off x="4599432" y="1975104"/>
            <a:ext cx="502920" cy="502920"/>
          </a:xfrm>
          <a:prstGeom prst="ellipse">
            <a:avLst/>
          </a:prstGeom>
          <a:solidFill>
            <a:srgbClr val="F96167"/>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4" name="Text 11"/>
          <p:cNvSpPr/>
          <p:nvPr/>
        </p:nvSpPr>
        <p:spPr>
          <a:xfrm>
            <a:off x="4599432" y="1975104"/>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BM HANNA 11yrs old OTF" panose="020B0600000101010101" pitchFamily="34" charset="-127"/>
                <a:ea typeface="BM HANNA 11yrs old OTF" panose="020B0600000101010101" pitchFamily="34" charset="-127"/>
                <a:cs typeface="Cambria" pitchFamily="34" charset="-120"/>
              </a:rPr>
              <a:t>인애</a:t>
            </a:r>
            <a:endParaRPr lang="en-US" sz="1300" dirty="0">
              <a:latin typeface="BM HANNA 11yrs old OTF" panose="020B0600000101010101" pitchFamily="34" charset="-127"/>
              <a:ea typeface="BM HANNA 11yrs old OTF" panose="020B0600000101010101" pitchFamily="34" charset="-127"/>
            </a:endParaRPr>
          </a:p>
        </p:txBody>
      </p:sp>
      <p:sp>
        <p:nvSpPr>
          <p:cNvPr id="15" name="Text 12"/>
          <p:cNvSpPr/>
          <p:nvPr/>
        </p:nvSpPr>
        <p:spPr>
          <a:xfrm>
            <a:off x="5239512" y="1920240"/>
            <a:ext cx="2468880" cy="320040"/>
          </a:xfrm>
          <a:prstGeom prst="rect">
            <a:avLst/>
          </a:prstGeom>
          <a:noFill/>
          <a:ln/>
        </p:spPr>
        <p:txBody>
          <a:bodyPr wrap="square" lIns="0" tIns="0" rIns="0" bIns="0" rtlCol="0" anchor="ctr"/>
          <a:lstStyle/>
          <a:p>
            <a:pPr marL="0" indent="0">
              <a:buNone/>
            </a:pPr>
            <a:r>
              <a:rPr lang="en-US" sz="145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박인애</a:t>
            </a:r>
            <a:endParaRPr lang="en-US" sz="1450" dirty="0">
              <a:latin typeface="BM HANNA 11yrs old OTF" panose="020B0600000101010101" pitchFamily="34" charset="-127"/>
              <a:ea typeface="BM HANNA 11yrs old OTF" panose="020B0600000101010101" pitchFamily="34" charset="-127"/>
            </a:endParaRPr>
          </a:p>
        </p:txBody>
      </p:sp>
      <p:sp>
        <p:nvSpPr>
          <p:cNvPr id="16" name="Text 13"/>
          <p:cNvSpPr/>
          <p:nvPr/>
        </p:nvSpPr>
        <p:spPr>
          <a:xfrm>
            <a:off x="5239512" y="2240280"/>
            <a:ext cx="2468880" cy="274320"/>
          </a:xfrm>
          <a:prstGeom prst="rect">
            <a:avLst/>
          </a:prstGeom>
          <a:noFill/>
          <a:ln/>
        </p:spPr>
        <p:txBody>
          <a:bodyPr wrap="square" lIns="0" tIns="0" rIns="0" bIns="0" rtlCol="0" anchor="ctr"/>
          <a:lstStyle/>
          <a:p>
            <a:pPr marL="0" indent="0">
              <a:buNone/>
            </a:pPr>
            <a:r>
              <a:rPr lang="en-US" sz="1150" b="1" dirty="0">
                <a:solidFill>
                  <a:srgbClr val="F96167"/>
                </a:solidFill>
                <a:latin typeface="BM HANNA 11yrs old OTF" panose="020B0600000101010101" pitchFamily="34" charset="-127"/>
                <a:ea typeface="BM HANNA 11yrs old OTF" panose="020B0600000101010101" pitchFamily="34" charset="-127"/>
                <a:cs typeface="Calibri" pitchFamily="34" charset="-120"/>
              </a:rPr>
              <a:t>구조동물 API</a:t>
            </a:r>
            <a:endParaRPr lang="en-US" sz="1150" dirty="0">
              <a:latin typeface="BM HANNA 11yrs old OTF" panose="020B0600000101010101" pitchFamily="34" charset="-127"/>
              <a:ea typeface="BM HANNA 11yrs old OTF" panose="020B0600000101010101" pitchFamily="34" charset="-127"/>
            </a:endParaRPr>
          </a:p>
        </p:txBody>
      </p:sp>
      <p:sp>
        <p:nvSpPr>
          <p:cNvPr id="17" name="Text 14"/>
          <p:cNvSpPr/>
          <p:nvPr/>
        </p:nvSpPr>
        <p:spPr>
          <a:xfrm>
            <a:off x="4599432" y="2670048"/>
            <a:ext cx="2971800" cy="891540"/>
          </a:xfrm>
          <a:prstGeom prst="rect">
            <a:avLst/>
          </a:prstGeom>
          <a:noFill/>
          <a:ln/>
        </p:spPr>
        <p:txBody>
          <a:bodyPr wrap="square" lIns="0" tIns="0" rIns="0" bIns="0" rtlCol="0" anchor="ctr"/>
          <a:lstStyle/>
          <a:p>
            <a:pPr marL="0" indent="0">
              <a:lnSpc>
                <a:spcPct val="115000"/>
              </a:lnSpc>
              <a:buNone/>
            </a:pPr>
            <a:r>
              <a:rPr lang="en-US" sz="1080" dirty="0">
                <a:solidFill>
                  <a:srgbClr val="22264A"/>
                </a:solidFill>
                <a:latin typeface="BM HANNA 11yrs old OTF" panose="020B0600000101010101" pitchFamily="34" charset="-127"/>
                <a:ea typeface="BM HANNA 11yrs old OTF" panose="020B0600000101010101" pitchFamily="34" charset="-127"/>
                <a:cs typeface="Calibri" pitchFamily="34" charset="-120"/>
              </a:rPr>
              <a:t>search_rescued_animals / get_animal_detail 구현</a:t>
            </a:r>
            <a:endParaRPr lang="en-US" sz="1080" dirty="0">
              <a:latin typeface="BM HANNA 11yrs old OTF" panose="020B0600000101010101" pitchFamily="34" charset="-127"/>
              <a:ea typeface="BM HANNA 11yrs old OTF" panose="020B0600000101010101" pitchFamily="34" charset="-127"/>
            </a:endParaRPr>
          </a:p>
        </p:txBody>
      </p:sp>
      <p:sp>
        <p:nvSpPr>
          <p:cNvPr id="18" name="Shape 15"/>
          <p:cNvSpPr/>
          <p:nvPr/>
        </p:nvSpPr>
        <p:spPr>
          <a:xfrm>
            <a:off x="8138160" y="1737360"/>
            <a:ext cx="3474720" cy="1943100"/>
          </a:xfrm>
          <a:prstGeom prst="roundRect">
            <a:avLst>
              <a:gd name="adj" fmla="val 4235"/>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9" name="Shape 16"/>
          <p:cNvSpPr/>
          <p:nvPr/>
        </p:nvSpPr>
        <p:spPr>
          <a:xfrm>
            <a:off x="8394192" y="1975104"/>
            <a:ext cx="502920" cy="502920"/>
          </a:xfrm>
          <a:prstGeom prst="ellipse">
            <a:avLst/>
          </a:prstGeom>
          <a:solidFill>
            <a:srgbClr val="3AA6A0"/>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20" name="Text 17"/>
          <p:cNvSpPr/>
          <p:nvPr/>
        </p:nvSpPr>
        <p:spPr>
          <a:xfrm>
            <a:off x="8394192" y="1975104"/>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BM HANNA 11yrs old OTF" panose="020B0600000101010101" pitchFamily="34" charset="-127"/>
                <a:ea typeface="BM HANNA 11yrs old OTF" panose="020B0600000101010101" pitchFamily="34" charset="-127"/>
                <a:cs typeface="Cambria" pitchFamily="34" charset="-120"/>
              </a:rPr>
              <a:t>지원</a:t>
            </a:r>
            <a:endParaRPr lang="en-US" sz="1300" dirty="0">
              <a:latin typeface="BM HANNA 11yrs old OTF" panose="020B0600000101010101" pitchFamily="34" charset="-127"/>
              <a:ea typeface="BM HANNA 11yrs old OTF" panose="020B0600000101010101" pitchFamily="34" charset="-127"/>
            </a:endParaRPr>
          </a:p>
        </p:txBody>
      </p:sp>
      <p:sp>
        <p:nvSpPr>
          <p:cNvPr id="21" name="Text 18"/>
          <p:cNvSpPr/>
          <p:nvPr/>
        </p:nvSpPr>
        <p:spPr>
          <a:xfrm>
            <a:off x="9034272" y="1920240"/>
            <a:ext cx="2468880" cy="320040"/>
          </a:xfrm>
          <a:prstGeom prst="rect">
            <a:avLst/>
          </a:prstGeom>
          <a:noFill/>
          <a:ln/>
        </p:spPr>
        <p:txBody>
          <a:bodyPr wrap="square" lIns="0" tIns="0" rIns="0" bIns="0" rtlCol="0" anchor="ctr"/>
          <a:lstStyle/>
          <a:p>
            <a:pPr marL="0" indent="0">
              <a:buNone/>
            </a:pPr>
            <a:r>
              <a:rPr lang="en-US" sz="145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서지원</a:t>
            </a:r>
            <a:endParaRPr lang="en-US" sz="1450" dirty="0">
              <a:latin typeface="BM HANNA 11yrs old OTF" panose="020B0600000101010101" pitchFamily="34" charset="-127"/>
              <a:ea typeface="BM HANNA 11yrs old OTF" panose="020B0600000101010101" pitchFamily="34" charset="-127"/>
            </a:endParaRPr>
          </a:p>
        </p:txBody>
      </p:sp>
      <p:sp>
        <p:nvSpPr>
          <p:cNvPr id="22" name="Text 19"/>
          <p:cNvSpPr/>
          <p:nvPr/>
        </p:nvSpPr>
        <p:spPr>
          <a:xfrm>
            <a:off x="9034272" y="2240280"/>
            <a:ext cx="2468880" cy="274320"/>
          </a:xfrm>
          <a:prstGeom prst="rect">
            <a:avLst/>
          </a:prstGeom>
          <a:noFill/>
          <a:ln/>
        </p:spPr>
        <p:txBody>
          <a:bodyPr wrap="square" lIns="0" tIns="0" rIns="0" bIns="0" rtlCol="0" anchor="ctr"/>
          <a:lstStyle/>
          <a:p>
            <a:pPr marL="0" indent="0">
              <a:buNone/>
            </a:pPr>
            <a:r>
              <a:rPr lang="en-US" sz="1150" b="1" dirty="0">
                <a:solidFill>
                  <a:srgbClr val="F96167"/>
                </a:solidFill>
                <a:latin typeface="BM HANNA 11yrs old OTF" panose="020B0600000101010101" pitchFamily="34" charset="-127"/>
                <a:ea typeface="BM HANNA 11yrs old OTF" panose="020B0600000101010101" pitchFamily="34" charset="-127"/>
                <a:cs typeface="Calibri" pitchFamily="34" charset="-120"/>
              </a:rPr>
              <a:t>동반여행 API</a:t>
            </a:r>
            <a:endParaRPr lang="en-US" sz="1150" dirty="0">
              <a:latin typeface="BM HANNA 11yrs old OTF" panose="020B0600000101010101" pitchFamily="34" charset="-127"/>
              <a:ea typeface="BM HANNA 11yrs old OTF" panose="020B0600000101010101" pitchFamily="34" charset="-127"/>
            </a:endParaRPr>
          </a:p>
        </p:txBody>
      </p:sp>
      <p:sp>
        <p:nvSpPr>
          <p:cNvPr id="23" name="Text 20"/>
          <p:cNvSpPr/>
          <p:nvPr/>
        </p:nvSpPr>
        <p:spPr>
          <a:xfrm>
            <a:off x="8394192" y="2670048"/>
            <a:ext cx="2971800" cy="891540"/>
          </a:xfrm>
          <a:prstGeom prst="rect">
            <a:avLst/>
          </a:prstGeom>
          <a:noFill/>
          <a:ln/>
        </p:spPr>
        <p:txBody>
          <a:bodyPr wrap="square" lIns="0" tIns="0" rIns="0" bIns="0" rtlCol="0" anchor="ctr"/>
          <a:lstStyle/>
          <a:p>
            <a:pPr marL="0" indent="0">
              <a:lnSpc>
                <a:spcPct val="115000"/>
              </a:lnSpc>
              <a:buNone/>
            </a:pPr>
            <a:r>
              <a:rPr lang="en-US" sz="1080" dirty="0">
                <a:solidFill>
                  <a:srgbClr val="22264A"/>
                </a:solidFill>
                <a:latin typeface="BM HANNA 11yrs old OTF" panose="020B0600000101010101" pitchFamily="34" charset="-127"/>
                <a:ea typeface="BM HANNA 11yrs old OTF" panose="020B0600000101010101" pitchFamily="34" charset="-127"/>
                <a:cs typeface="Calibri" pitchFamily="34" charset="-120"/>
              </a:rPr>
              <a:t>search_pet_friendly_travel 구현, 상세 fan-out·캐싱</a:t>
            </a:r>
            <a:endParaRPr lang="en-US" sz="1080" dirty="0">
              <a:latin typeface="BM HANNA 11yrs old OTF" panose="020B0600000101010101" pitchFamily="34" charset="-127"/>
              <a:ea typeface="BM HANNA 11yrs old OTF" panose="020B0600000101010101" pitchFamily="34" charset="-127"/>
            </a:endParaRPr>
          </a:p>
        </p:txBody>
      </p:sp>
      <p:sp>
        <p:nvSpPr>
          <p:cNvPr id="24" name="Shape 21"/>
          <p:cNvSpPr/>
          <p:nvPr/>
        </p:nvSpPr>
        <p:spPr>
          <a:xfrm>
            <a:off x="548640" y="3954780"/>
            <a:ext cx="3474720" cy="1943100"/>
          </a:xfrm>
          <a:prstGeom prst="roundRect">
            <a:avLst>
              <a:gd name="adj" fmla="val 4235"/>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25" name="Shape 22"/>
          <p:cNvSpPr/>
          <p:nvPr/>
        </p:nvSpPr>
        <p:spPr>
          <a:xfrm>
            <a:off x="804672" y="4192524"/>
            <a:ext cx="502920" cy="502920"/>
          </a:xfrm>
          <a:prstGeom prst="ellipse">
            <a:avLst/>
          </a:prstGeom>
          <a:solidFill>
            <a:srgbClr val="F5A623"/>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26" name="Text 23"/>
          <p:cNvSpPr/>
          <p:nvPr/>
        </p:nvSpPr>
        <p:spPr>
          <a:xfrm>
            <a:off x="804672" y="4192524"/>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BM HANNA 11yrs old OTF" panose="020B0600000101010101" pitchFamily="34" charset="-127"/>
                <a:ea typeface="BM HANNA 11yrs old OTF" panose="020B0600000101010101" pitchFamily="34" charset="-127"/>
                <a:cs typeface="Cambria" pitchFamily="34" charset="-120"/>
              </a:rPr>
              <a:t>승준</a:t>
            </a:r>
            <a:endParaRPr lang="en-US" sz="1300" dirty="0">
              <a:latin typeface="BM HANNA 11yrs old OTF" panose="020B0600000101010101" pitchFamily="34" charset="-127"/>
              <a:ea typeface="BM HANNA 11yrs old OTF" panose="020B0600000101010101" pitchFamily="34" charset="-127"/>
            </a:endParaRPr>
          </a:p>
        </p:txBody>
      </p:sp>
      <p:sp>
        <p:nvSpPr>
          <p:cNvPr id="27" name="Text 24"/>
          <p:cNvSpPr/>
          <p:nvPr/>
        </p:nvSpPr>
        <p:spPr>
          <a:xfrm>
            <a:off x="1444752" y="4137660"/>
            <a:ext cx="2468880" cy="320040"/>
          </a:xfrm>
          <a:prstGeom prst="rect">
            <a:avLst/>
          </a:prstGeom>
          <a:noFill/>
          <a:ln/>
        </p:spPr>
        <p:txBody>
          <a:bodyPr wrap="square" lIns="0" tIns="0" rIns="0" bIns="0" rtlCol="0" anchor="ctr"/>
          <a:lstStyle/>
          <a:p>
            <a:pPr marL="0" indent="0">
              <a:buNone/>
            </a:pPr>
            <a:r>
              <a:rPr lang="en-US" sz="145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이승준</a:t>
            </a:r>
            <a:endParaRPr lang="en-US" sz="1450" dirty="0">
              <a:latin typeface="BM HANNA 11yrs old OTF" panose="020B0600000101010101" pitchFamily="34" charset="-127"/>
              <a:ea typeface="BM HANNA 11yrs old OTF" panose="020B0600000101010101" pitchFamily="34" charset="-127"/>
            </a:endParaRPr>
          </a:p>
        </p:txBody>
      </p:sp>
      <p:sp>
        <p:nvSpPr>
          <p:cNvPr id="28" name="Text 25"/>
          <p:cNvSpPr/>
          <p:nvPr/>
        </p:nvSpPr>
        <p:spPr>
          <a:xfrm>
            <a:off x="1444752" y="4457700"/>
            <a:ext cx="2468880" cy="274320"/>
          </a:xfrm>
          <a:prstGeom prst="rect">
            <a:avLst/>
          </a:prstGeom>
          <a:noFill/>
          <a:ln/>
        </p:spPr>
        <p:txBody>
          <a:bodyPr wrap="square" lIns="0" tIns="0" rIns="0" bIns="0" rtlCol="0" anchor="ctr"/>
          <a:lstStyle/>
          <a:p>
            <a:pPr marL="0" indent="0">
              <a:buNone/>
            </a:pPr>
            <a:r>
              <a:rPr lang="en-US" sz="1150" b="1" dirty="0">
                <a:solidFill>
                  <a:srgbClr val="F96167"/>
                </a:solidFill>
                <a:latin typeface="BM HANNA 11yrs old OTF" panose="020B0600000101010101" pitchFamily="34" charset="-127"/>
                <a:ea typeface="BM HANNA 11yrs old OTF" panose="020B0600000101010101" pitchFamily="34" charset="-127"/>
                <a:cs typeface="Calibri" pitchFamily="34" charset="-120"/>
              </a:rPr>
              <a:t>지역코드 · Context</a:t>
            </a:r>
            <a:endParaRPr lang="en-US" sz="1150" dirty="0">
              <a:latin typeface="BM HANNA 11yrs old OTF" panose="020B0600000101010101" pitchFamily="34" charset="-127"/>
              <a:ea typeface="BM HANNA 11yrs old OTF" panose="020B0600000101010101" pitchFamily="34" charset="-127"/>
            </a:endParaRPr>
          </a:p>
        </p:txBody>
      </p:sp>
      <p:sp>
        <p:nvSpPr>
          <p:cNvPr id="29" name="Text 26"/>
          <p:cNvSpPr/>
          <p:nvPr/>
        </p:nvSpPr>
        <p:spPr>
          <a:xfrm>
            <a:off x="804672" y="4887468"/>
            <a:ext cx="2971800" cy="891540"/>
          </a:xfrm>
          <a:prstGeom prst="rect">
            <a:avLst/>
          </a:prstGeom>
          <a:noFill/>
          <a:ln/>
        </p:spPr>
        <p:txBody>
          <a:bodyPr wrap="square" lIns="0" tIns="0" rIns="0" bIns="0" rtlCol="0" anchor="ctr"/>
          <a:lstStyle/>
          <a:p>
            <a:pPr marL="0" indent="0">
              <a:lnSpc>
                <a:spcPct val="115000"/>
              </a:lnSpc>
              <a:buNone/>
            </a:pPr>
            <a:r>
              <a:rPr lang="en-US" sz="1080" dirty="0">
                <a:solidFill>
                  <a:srgbClr val="22264A"/>
                </a:solidFill>
                <a:latin typeface="BM HANNA 11yrs old OTF" panose="020B0600000101010101" pitchFamily="34" charset="-127"/>
                <a:ea typeface="BM HANNA 11yrs old OTF" panose="020B0600000101010101" pitchFamily="34" charset="-127"/>
                <a:cs typeface="Calibri" pitchFamily="34" charset="-120"/>
              </a:rPr>
              <a:t>RegionCodeResolver, State/Store 설계, 개인화 주입</a:t>
            </a:r>
            <a:endParaRPr lang="en-US" sz="1080" dirty="0">
              <a:latin typeface="BM HANNA 11yrs old OTF" panose="020B0600000101010101" pitchFamily="34" charset="-127"/>
              <a:ea typeface="BM HANNA 11yrs old OTF" panose="020B0600000101010101" pitchFamily="34" charset="-127"/>
            </a:endParaRPr>
          </a:p>
        </p:txBody>
      </p:sp>
      <p:sp>
        <p:nvSpPr>
          <p:cNvPr id="30" name="Shape 27"/>
          <p:cNvSpPr/>
          <p:nvPr/>
        </p:nvSpPr>
        <p:spPr>
          <a:xfrm>
            <a:off x="4343400" y="3954780"/>
            <a:ext cx="3474720" cy="1943100"/>
          </a:xfrm>
          <a:prstGeom prst="roundRect">
            <a:avLst>
              <a:gd name="adj" fmla="val 4235"/>
            </a:avLst>
          </a:prstGeom>
          <a:solidFill>
            <a:srgbClr val="F5F6FB"/>
          </a:solidFill>
          <a:ln/>
          <a:effectLst>
            <a:outerShdw blurRad="101600" dist="25400" dir="5400000" algn="bl" rotWithShape="0">
              <a:srgbClr val="9AA0C0">
                <a:alpha val="18000"/>
              </a:srgbClr>
            </a:outerShdw>
          </a:effectLst>
        </p:spPr>
        <p:txBody>
          <a:bodyPr/>
          <a:lstStyle/>
          <a:p>
            <a:endParaRPr lang="ko-KR" altLang="en-US" dirty="0">
              <a:latin typeface="BM HANNA 11yrs old OTF" panose="020B0600000101010101" pitchFamily="34" charset="-127"/>
              <a:ea typeface="BM HANNA 11yrs old OTF" panose="020B0600000101010101" pitchFamily="34" charset="-127"/>
            </a:endParaRPr>
          </a:p>
        </p:txBody>
      </p:sp>
      <p:sp>
        <p:nvSpPr>
          <p:cNvPr id="31" name="Shape 28"/>
          <p:cNvSpPr/>
          <p:nvPr/>
        </p:nvSpPr>
        <p:spPr>
          <a:xfrm>
            <a:off x="4599432" y="4192524"/>
            <a:ext cx="502920" cy="502920"/>
          </a:xfrm>
          <a:prstGeom prst="ellipse">
            <a:avLst/>
          </a:prstGeom>
          <a:solidFill>
            <a:srgbClr val="F96167"/>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32" name="Text 29"/>
          <p:cNvSpPr/>
          <p:nvPr/>
        </p:nvSpPr>
        <p:spPr>
          <a:xfrm>
            <a:off x="4599432" y="4192524"/>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BM HANNA 11yrs old OTF" panose="020B0600000101010101" pitchFamily="34" charset="-127"/>
                <a:ea typeface="BM HANNA 11yrs old OTF" panose="020B0600000101010101" pitchFamily="34" charset="-127"/>
                <a:cs typeface="Cambria" pitchFamily="34" charset="-120"/>
              </a:rPr>
              <a:t>은배</a:t>
            </a:r>
            <a:endParaRPr lang="en-US" sz="1300" dirty="0">
              <a:latin typeface="BM HANNA 11yrs old OTF" panose="020B0600000101010101" pitchFamily="34" charset="-127"/>
              <a:ea typeface="BM HANNA 11yrs old OTF" panose="020B0600000101010101" pitchFamily="34" charset="-127"/>
            </a:endParaRPr>
          </a:p>
        </p:txBody>
      </p:sp>
      <p:sp>
        <p:nvSpPr>
          <p:cNvPr id="33" name="Text 30"/>
          <p:cNvSpPr/>
          <p:nvPr/>
        </p:nvSpPr>
        <p:spPr>
          <a:xfrm>
            <a:off x="5239512" y="4137660"/>
            <a:ext cx="2468880" cy="320040"/>
          </a:xfrm>
          <a:prstGeom prst="rect">
            <a:avLst/>
          </a:prstGeom>
          <a:noFill/>
          <a:ln/>
        </p:spPr>
        <p:txBody>
          <a:bodyPr wrap="square" lIns="0" tIns="0" rIns="0" bIns="0" rtlCol="0" anchor="ctr"/>
          <a:lstStyle/>
          <a:p>
            <a:pPr marL="0" indent="0">
              <a:buNone/>
            </a:pPr>
            <a:r>
              <a:rPr lang="en-US" sz="145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전은배</a:t>
            </a:r>
            <a:endParaRPr lang="en-US" sz="1450" dirty="0">
              <a:latin typeface="BM HANNA 11yrs old OTF" panose="020B0600000101010101" pitchFamily="34" charset="-127"/>
              <a:ea typeface="BM HANNA 11yrs old OTF" panose="020B0600000101010101" pitchFamily="34" charset="-127"/>
            </a:endParaRPr>
          </a:p>
        </p:txBody>
      </p:sp>
      <p:sp>
        <p:nvSpPr>
          <p:cNvPr id="34" name="Text 31"/>
          <p:cNvSpPr/>
          <p:nvPr/>
        </p:nvSpPr>
        <p:spPr>
          <a:xfrm>
            <a:off x="5239512" y="4457700"/>
            <a:ext cx="2468880" cy="274320"/>
          </a:xfrm>
          <a:prstGeom prst="rect">
            <a:avLst/>
          </a:prstGeom>
          <a:noFill/>
          <a:ln/>
        </p:spPr>
        <p:txBody>
          <a:bodyPr wrap="square" lIns="0" tIns="0" rIns="0" bIns="0" rtlCol="0" anchor="ctr"/>
          <a:lstStyle/>
          <a:p>
            <a:r>
              <a:rPr lang="en-US" altLang="ko-KR" sz="1150" b="1" dirty="0">
                <a:solidFill>
                  <a:srgbClr val="F96167"/>
                </a:solidFill>
                <a:latin typeface="BM HANNA 11yrs old OTF" panose="020B0600000101010101" pitchFamily="34" charset="-127"/>
                <a:ea typeface="BM HANNA 11yrs old OTF" panose="020B0600000101010101" pitchFamily="34" charset="-127"/>
                <a:cs typeface="Calibri" pitchFamily="34" charset="-120"/>
              </a:rPr>
              <a:t>PM · </a:t>
            </a:r>
            <a:r>
              <a:rPr lang="en-US" altLang="ko-KR" sz="1150" b="1" dirty="0" err="1">
                <a:solidFill>
                  <a:srgbClr val="F96167"/>
                </a:solidFill>
                <a:latin typeface="BM HANNA 11yrs old OTF" panose="020B0600000101010101" pitchFamily="34" charset="-127"/>
                <a:ea typeface="BM HANNA 11yrs old OTF" panose="020B0600000101010101" pitchFamily="34" charset="-127"/>
                <a:cs typeface="Calibri" pitchFamily="34" charset="-120"/>
              </a:rPr>
              <a:t>아키텍처</a:t>
            </a:r>
            <a:endParaRPr lang="en-US" altLang="ko-KR" sz="1150" dirty="0">
              <a:latin typeface="BM HANNA 11yrs old OTF" panose="020B0600000101010101" pitchFamily="34" charset="-127"/>
              <a:ea typeface="BM HANNA 11yrs old OTF" panose="020B0600000101010101" pitchFamily="34" charset="-127"/>
            </a:endParaRPr>
          </a:p>
          <a:p>
            <a:pPr marL="0" indent="0">
              <a:buNone/>
            </a:pPr>
            <a:endParaRPr lang="en-US" sz="1150" dirty="0">
              <a:latin typeface="BM HANNA 11yrs old OTF" panose="020B0600000101010101" pitchFamily="34" charset="-127"/>
              <a:ea typeface="BM HANNA 11yrs old OTF" panose="020B0600000101010101" pitchFamily="34" charset="-127"/>
            </a:endParaRPr>
          </a:p>
        </p:txBody>
      </p:sp>
      <p:sp>
        <p:nvSpPr>
          <p:cNvPr id="35" name="Text 32"/>
          <p:cNvSpPr/>
          <p:nvPr/>
        </p:nvSpPr>
        <p:spPr>
          <a:xfrm>
            <a:off x="4599432" y="4887468"/>
            <a:ext cx="2971800" cy="891540"/>
          </a:xfrm>
          <a:prstGeom prst="rect">
            <a:avLst/>
          </a:prstGeom>
          <a:noFill/>
          <a:ln/>
        </p:spPr>
        <p:txBody>
          <a:bodyPr wrap="square" lIns="0" tIns="0" rIns="0" bIns="0" rtlCol="0" anchor="ctr"/>
          <a:lstStyle/>
          <a:p>
            <a:pPr>
              <a:lnSpc>
                <a:spcPct val="115000"/>
              </a:lnSpc>
            </a:pPr>
            <a:r>
              <a:rPr lang="en-US" altLang="ko-KR" sz="108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전체</a:t>
            </a:r>
            <a:r>
              <a:rPr lang="en-US" altLang="ko-KR" sz="1080" dirty="0">
                <a:solidFill>
                  <a:srgbClr val="22264A"/>
                </a:solidFill>
                <a:latin typeface="BM HANNA 11yrs old OTF" panose="020B0600000101010101" pitchFamily="34" charset="-127"/>
                <a:ea typeface="BM HANNA 11yrs old OTF" panose="020B0600000101010101" pitchFamily="34" charset="-127"/>
                <a:cs typeface="Calibri" pitchFamily="34" charset="-120"/>
              </a:rPr>
              <a:t> </a:t>
            </a:r>
            <a:r>
              <a:rPr lang="en-US" altLang="ko-KR" sz="108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설계</a:t>
            </a:r>
            <a:r>
              <a:rPr lang="en-US" altLang="ko-KR" sz="1080" dirty="0">
                <a:solidFill>
                  <a:srgbClr val="22264A"/>
                </a:solidFill>
                <a:latin typeface="BM HANNA 11yrs old OTF" panose="020B0600000101010101" pitchFamily="34" charset="-127"/>
                <a:ea typeface="BM HANNA 11yrs old OTF" panose="020B0600000101010101" pitchFamily="34" charset="-127"/>
                <a:cs typeface="Calibri" pitchFamily="34" charset="-120"/>
              </a:rPr>
              <a:t> </a:t>
            </a:r>
            <a:r>
              <a:rPr lang="en-US" altLang="ko-KR" sz="108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총괄</a:t>
            </a:r>
            <a:r>
              <a:rPr lang="en-US" altLang="ko-KR" sz="1080" dirty="0">
                <a:solidFill>
                  <a:srgbClr val="22264A"/>
                </a:solidFill>
                <a:latin typeface="BM HANNA 11yrs old OTF" panose="020B0600000101010101" pitchFamily="34" charset="-127"/>
                <a:ea typeface="BM HANNA 11yrs old OTF" panose="020B0600000101010101" pitchFamily="34" charset="-127"/>
                <a:cs typeface="Calibri" pitchFamily="34" charset="-120"/>
              </a:rPr>
              <a:t>, </a:t>
            </a:r>
            <a:r>
              <a:rPr lang="en-US" altLang="ko-KR" sz="108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미들웨어</a:t>
            </a:r>
            <a:r>
              <a:rPr lang="en-US" altLang="ko-KR" sz="1080" dirty="0">
                <a:solidFill>
                  <a:srgbClr val="22264A"/>
                </a:solidFill>
                <a:latin typeface="BM HANNA 11yrs old OTF" panose="020B0600000101010101" pitchFamily="34" charset="-127"/>
                <a:ea typeface="BM HANNA 11yrs old OTF" panose="020B0600000101010101" pitchFamily="34" charset="-127"/>
                <a:cs typeface="Calibri" pitchFamily="34" charset="-120"/>
              </a:rPr>
              <a:t> </a:t>
            </a:r>
            <a:r>
              <a:rPr lang="en-US" altLang="ko-KR" sz="108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파이프라인</a:t>
            </a:r>
            <a:r>
              <a:rPr lang="en-US" altLang="ko-KR" sz="1080" dirty="0">
                <a:solidFill>
                  <a:srgbClr val="22264A"/>
                </a:solidFill>
                <a:latin typeface="BM HANNA 11yrs old OTF" panose="020B0600000101010101" pitchFamily="34" charset="-127"/>
                <a:ea typeface="BM HANNA 11yrs old OTF" panose="020B0600000101010101" pitchFamily="34" charset="-127"/>
                <a:cs typeface="Calibri" pitchFamily="34" charset="-120"/>
              </a:rPr>
              <a:t> </a:t>
            </a:r>
            <a:r>
              <a:rPr lang="en-US" altLang="ko-KR" sz="108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조립</a:t>
            </a:r>
            <a:r>
              <a:rPr lang="en-US" altLang="ko-KR" sz="1080" dirty="0">
                <a:solidFill>
                  <a:srgbClr val="22264A"/>
                </a:solidFill>
                <a:latin typeface="BM HANNA 11yrs old OTF" panose="020B0600000101010101" pitchFamily="34" charset="-127"/>
                <a:ea typeface="BM HANNA 11yrs old OTF" panose="020B0600000101010101" pitchFamily="34" charset="-127"/>
                <a:cs typeface="Calibri" pitchFamily="34" charset="-120"/>
              </a:rPr>
              <a:t>, </a:t>
            </a:r>
            <a:r>
              <a:rPr lang="en-US" altLang="ko-KR" sz="108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통합</a:t>
            </a:r>
            <a:r>
              <a:rPr lang="en-US" altLang="ko-KR" sz="1080" dirty="0">
                <a:solidFill>
                  <a:srgbClr val="22264A"/>
                </a:solidFill>
                <a:latin typeface="BM HANNA 11yrs old OTF" panose="020B0600000101010101" pitchFamily="34" charset="-127"/>
                <a:ea typeface="BM HANNA 11yrs old OTF" panose="020B0600000101010101" pitchFamily="34" charset="-127"/>
                <a:cs typeface="Calibri" pitchFamily="34" charset="-120"/>
              </a:rPr>
              <a:t> </a:t>
            </a:r>
            <a:r>
              <a:rPr lang="en-US" altLang="ko-KR" sz="108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테스트</a:t>
            </a:r>
            <a:endParaRPr lang="en-US" altLang="ko-KR" sz="1080" dirty="0">
              <a:solidFill>
                <a:srgbClr val="22264A"/>
              </a:solidFill>
              <a:latin typeface="BM HANNA 11yrs old OTF" panose="020B0600000101010101" pitchFamily="34" charset="-127"/>
              <a:ea typeface="BM HANNA 11yrs old OTF" panose="020B0600000101010101" pitchFamily="34" charset="-127"/>
              <a:cs typeface="Calibri" pitchFamily="34" charset="-120"/>
            </a:endParaRPr>
          </a:p>
        </p:txBody>
      </p:sp>
      <p:sp>
        <p:nvSpPr>
          <p:cNvPr id="36" name="Shape 33"/>
          <p:cNvSpPr/>
          <p:nvPr/>
        </p:nvSpPr>
        <p:spPr>
          <a:xfrm>
            <a:off x="8138160" y="3954780"/>
            <a:ext cx="3474720" cy="1943100"/>
          </a:xfrm>
          <a:prstGeom prst="roundRect">
            <a:avLst>
              <a:gd name="adj" fmla="val 4235"/>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37" name="Shape 34"/>
          <p:cNvSpPr/>
          <p:nvPr/>
        </p:nvSpPr>
        <p:spPr>
          <a:xfrm>
            <a:off x="8394192" y="4192524"/>
            <a:ext cx="502920" cy="502920"/>
          </a:xfrm>
          <a:prstGeom prst="ellipse">
            <a:avLst/>
          </a:prstGeom>
          <a:solidFill>
            <a:srgbClr val="2F3C7E"/>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38" name="Text 35"/>
          <p:cNvSpPr/>
          <p:nvPr/>
        </p:nvSpPr>
        <p:spPr>
          <a:xfrm>
            <a:off x="8394192" y="4192524"/>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BM HANNA 11yrs old OTF" panose="020B0600000101010101" pitchFamily="34" charset="-127"/>
                <a:ea typeface="BM HANNA 11yrs old OTF" panose="020B0600000101010101" pitchFamily="34" charset="-127"/>
                <a:cs typeface="Cambria" pitchFamily="34" charset="-120"/>
              </a:rPr>
              <a:t>윤영</a:t>
            </a:r>
            <a:endParaRPr lang="en-US" sz="1300" dirty="0">
              <a:latin typeface="BM HANNA 11yrs old OTF" panose="020B0600000101010101" pitchFamily="34" charset="-127"/>
              <a:ea typeface="BM HANNA 11yrs old OTF" panose="020B0600000101010101" pitchFamily="34" charset="-127"/>
            </a:endParaRPr>
          </a:p>
        </p:txBody>
      </p:sp>
      <p:sp>
        <p:nvSpPr>
          <p:cNvPr id="39" name="Text 36"/>
          <p:cNvSpPr/>
          <p:nvPr/>
        </p:nvSpPr>
        <p:spPr>
          <a:xfrm>
            <a:off x="9034272" y="4137660"/>
            <a:ext cx="2468880" cy="320040"/>
          </a:xfrm>
          <a:prstGeom prst="rect">
            <a:avLst/>
          </a:prstGeom>
          <a:noFill/>
          <a:ln/>
        </p:spPr>
        <p:txBody>
          <a:bodyPr wrap="square" lIns="0" tIns="0" rIns="0" bIns="0" rtlCol="0" anchor="ctr"/>
          <a:lstStyle/>
          <a:p>
            <a:pPr marL="0" indent="0">
              <a:buNone/>
            </a:pPr>
            <a:r>
              <a:rPr lang="en-US" sz="145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최윤영</a:t>
            </a:r>
            <a:endParaRPr lang="en-US" sz="1450" dirty="0">
              <a:latin typeface="BM HANNA 11yrs old OTF" panose="020B0600000101010101" pitchFamily="34" charset="-127"/>
              <a:ea typeface="BM HANNA 11yrs old OTF" panose="020B0600000101010101" pitchFamily="34" charset="-127"/>
            </a:endParaRPr>
          </a:p>
        </p:txBody>
      </p:sp>
      <p:sp>
        <p:nvSpPr>
          <p:cNvPr id="40" name="Text 37"/>
          <p:cNvSpPr/>
          <p:nvPr/>
        </p:nvSpPr>
        <p:spPr>
          <a:xfrm>
            <a:off x="9034272" y="4457700"/>
            <a:ext cx="2468880" cy="274320"/>
          </a:xfrm>
          <a:prstGeom prst="rect">
            <a:avLst/>
          </a:prstGeom>
          <a:noFill/>
          <a:ln/>
        </p:spPr>
        <p:txBody>
          <a:bodyPr wrap="square" lIns="0" tIns="0" rIns="0" bIns="0" rtlCol="0" anchor="ctr"/>
          <a:lstStyle/>
          <a:p>
            <a:pPr marL="0" indent="0">
              <a:buNone/>
            </a:pPr>
            <a:r>
              <a:rPr lang="en-US" sz="1150" b="1" dirty="0">
                <a:solidFill>
                  <a:srgbClr val="F96167"/>
                </a:solidFill>
                <a:latin typeface="BM HANNA 11yrs old OTF" panose="020B0600000101010101" pitchFamily="34" charset="-127"/>
                <a:ea typeface="BM HANNA 11yrs old OTF" panose="020B0600000101010101" pitchFamily="34" charset="-127"/>
                <a:cs typeface="Calibri" pitchFamily="34" charset="-120"/>
              </a:rPr>
              <a:t>프롬프트 · 테스트</a:t>
            </a:r>
            <a:endParaRPr lang="en-US" sz="1150" dirty="0">
              <a:latin typeface="BM HANNA 11yrs old OTF" panose="020B0600000101010101" pitchFamily="34" charset="-127"/>
              <a:ea typeface="BM HANNA 11yrs old OTF" panose="020B0600000101010101" pitchFamily="34" charset="-127"/>
            </a:endParaRPr>
          </a:p>
        </p:txBody>
      </p:sp>
      <p:sp>
        <p:nvSpPr>
          <p:cNvPr id="41" name="Text 38"/>
          <p:cNvSpPr/>
          <p:nvPr/>
        </p:nvSpPr>
        <p:spPr>
          <a:xfrm>
            <a:off x="8394192" y="4887468"/>
            <a:ext cx="2971800" cy="891540"/>
          </a:xfrm>
          <a:prstGeom prst="rect">
            <a:avLst/>
          </a:prstGeom>
          <a:noFill/>
          <a:ln/>
        </p:spPr>
        <p:txBody>
          <a:bodyPr wrap="square" lIns="0" tIns="0" rIns="0" bIns="0" rtlCol="0" anchor="ctr"/>
          <a:lstStyle/>
          <a:p>
            <a:pPr marL="0" indent="0">
              <a:lnSpc>
                <a:spcPct val="115000"/>
              </a:lnSpc>
              <a:buNone/>
            </a:pPr>
            <a:r>
              <a:rPr lang="en-US" sz="1080" dirty="0">
                <a:solidFill>
                  <a:srgbClr val="22264A"/>
                </a:solidFill>
                <a:latin typeface="BM HANNA 11yrs old OTF" panose="020B0600000101010101" pitchFamily="34" charset="-127"/>
                <a:ea typeface="BM HANNA 11yrs old OTF" panose="020B0600000101010101" pitchFamily="34" charset="-127"/>
                <a:cs typeface="Calibri" pitchFamily="34" charset="-120"/>
              </a:rPr>
              <a:t>System Prompt/Few-shot 작성, 테스트 시나리오 수행</a:t>
            </a:r>
            <a:endParaRPr lang="en-US" sz="1080" dirty="0">
              <a:latin typeface="BM HANNA 11yrs old OTF" panose="020B0600000101010101" pitchFamily="34" charset="-127"/>
              <a:ea typeface="BM HANNA 11yrs old OTF" panose="020B0600000101010101" pitchFamily="34" charset="-127"/>
            </a:endParaRPr>
          </a:p>
        </p:txBody>
      </p:sp>
      <p:sp>
        <p:nvSpPr>
          <p:cNvPr id="42" name="Text 39"/>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04</a:t>
            </a:r>
            <a:endParaRPr lang="en-US" sz="1000" dirty="0">
              <a:latin typeface="BM HANNA 11yrs old OTF" panose="020B0600000101010101" pitchFamily="34" charset="-127"/>
              <a:ea typeface="BM HANNA 11yrs old OTF" panose="020B0600000101010101" pitchFamily="34" charset="-127"/>
            </a:endParaRPr>
          </a:p>
        </p:txBody>
      </p:sp>
      <p:sp>
        <p:nvSpPr>
          <p:cNvPr id="43" name="Text 40"/>
          <p:cNvSpPr/>
          <p:nvPr/>
        </p:nvSpPr>
        <p:spPr>
          <a:xfrm>
            <a:off x="457200" y="6446520"/>
            <a:ext cx="3657600" cy="274320"/>
          </a:xfrm>
          <a:prstGeom prst="rect">
            <a:avLst/>
          </a:prstGeom>
          <a:noFill/>
          <a:ln/>
        </p:spPr>
        <p:txBody>
          <a:bodyPr wrap="square" lIns="0" tIns="0" rIns="0" bIns="0" rtlCol="0" anchor="ctr"/>
          <a:lstStyle/>
          <a:p>
            <a:pPr marL="0" indent="0" algn="l">
              <a:buNone/>
            </a:pPr>
            <a:r>
              <a:rPr lang="en-US" sz="9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함께갈개 · AI Agent 설계</a:t>
            </a:r>
            <a:endParaRPr lang="en-US" sz="900" dirty="0">
              <a:latin typeface="BM HANNA 11yrs old OTF" panose="020B0600000101010101" pitchFamily="34" charset="-127"/>
              <a:ea typeface="BM HANNA 11yrs old OTF" panose="020B0600000101010101" pitchFamily="34" charset="-127"/>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658368" cy="658368"/>
          </a:xfrm>
          <a:prstGeom prst="ellipse">
            <a:avLst/>
          </a:prstGeom>
          <a:solidFill>
            <a:srgbClr val="F96167"/>
          </a:solidFill>
          <a:ln/>
          <a:effectLst>
            <a:outerShdw blurRad="76200" dist="25400" dir="5400000" algn="bl" rotWithShape="0">
              <a:srgbClr val="888888">
                <a:alpha val="25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3" name="Image 0" descr="/home/claude/ppt_project/icons/checkCircle.png"/>
          <p:cNvPicPr>
            <a:picLocks noChangeAspect="1"/>
          </p:cNvPicPr>
          <p:nvPr/>
        </p:nvPicPr>
        <p:blipFill>
          <a:blip r:embed="rId3"/>
          <a:stretch>
            <a:fillRect/>
          </a:stretch>
        </p:blipFill>
        <p:spPr>
          <a:xfrm>
            <a:off x="713232" y="594360"/>
            <a:ext cx="237744" cy="237744"/>
          </a:xfrm>
          <a:prstGeom prst="rect">
            <a:avLst/>
          </a:prstGeom>
        </p:spPr>
      </p:pic>
      <p:sp>
        <p:nvSpPr>
          <p:cNvPr id="4" name="Text 1"/>
          <p:cNvSpPr/>
          <p:nvPr/>
        </p:nvSpPr>
        <p:spPr>
          <a:xfrm>
            <a:off x="1325880" y="329184"/>
            <a:ext cx="9875520" cy="502920"/>
          </a:xfrm>
          <a:prstGeom prst="rect">
            <a:avLst/>
          </a:prstGeom>
          <a:noFill/>
          <a:ln/>
        </p:spPr>
        <p:txBody>
          <a:bodyPr wrap="square" lIns="0" tIns="0" rIns="0" bIns="0" rtlCol="0" anchor="ctr"/>
          <a:lstStyle/>
          <a:p>
            <a:pPr marL="0" indent="0" algn="l">
              <a:buNone/>
            </a:pPr>
            <a:r>
              <a:rPr lang="en-US" sz="27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핵심 기능 6가지</a:t>
            </a:r>
            <a:endParaRPr lang="en-US" sz="2700" dirty="0">
              <a:latin typeface="BM HANNA 11yrs old OTF" panose="020B0600000101010101" pitchFamily="34" charset="-127"/>
              <a:ea typeface="BM HANNA 11yrs old OTF" panose="020B0600000101010101" pitchFamily="34" charset="-127"/>
            </a:endParaRPr>
          </a:p>
        </p:txBody>
      </p:sp>
      <p:sp>
        <p:nvSpPr>
          <p:cNvPr id="5" name="Text 2"/>
          <p:cNvSpPr/>
          <p:nvPr/>
        </p:nvSpPr>
        <p:spPr>
          <a:xfrm>
            <a:off x="1325880" y="822960"/>
            <a:ext cx="9875520" cy="292608"/>
          </a:xfrm>
          <a:prstGeom prst="rect">
            <a:avLst/>
          </a:prstGeom>
          <a:noFill/>
          <a:ln/>
        </p:spPr>
        <p:txBody>
          <a:bodyPr wrap="square" lIns="0" tIns="0" rIns="0" bIns="0" rtlCol="0" anchor="ctr"/>
          <a:lstStyle/>
          <a:p>
            <a:pPr marL="0" indent="0" algn="l">
              <a:buNone/>
            </a:pPr>
            <a:r>
              <a:rPr lang="en-US" sz="1200" i="1" dirty="0">
                <a:solidFill>
                  <a:srgbClr val="6B6F8A"/>
                </a:solidFill>
                <a:latin typeface="BM HANNA 11yrs old OTF" panose="020B0600000101010101" pitchFamily="34" charset="-127"/>
                <a:ea typeface="BM HANNA 11yrs old OTF" panose="020B0600000101010101" pitchFamily="34" charset="-127"/>
                <a:cs typeface="Calibri" pitchFamily="34" charset="-120"/>
              </a:rPr>
              <a:t>1.2  주요 기능 요건</a:t>
            </a:r>
            <a:endParaRPr lang="en-US" sz="1200" dirty="0">
              <a:latin typeface="BM HANNA 11yrs old OTF" panose="020B0600000101010101" pitchFamily="34" charset="-127"/>
              <a:ea typeface="BM HANNA 11yrs old OTF" panose="020B0600000101010101" pitchFamily="34" charset="-127"/>
            </a:endParaRPr>
          </a:p>
        </p:txBody>
      </p:sp>
      <p:sp>
        <p:nvSpPr>
          <p:cNvPr id="6" name="Shape 3"/>
          <p:cNvSpPr/>
          <p:nvPr/>
        </p:nvSpPr>
        <p:spPr>
          <a:xfrm>
            <a:off x="548640" y="1737360"/>
            <a:ext cx="3505200" cy="1828800"/>
          </a:xfrm>
          <a:prstGeom prst="roundRect">
            <a:avLst>
              <a:gd name="adj" fmla="val 4500"/>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7" name="Shape 4"/>
          <p:cNvSpPr/>
          <p:nvPr/>
        </p:nvSpPr>
        <p:spPr>
          <a:xfrm>
            <a:off x="804672" y="1993392"/>
            <a:ext cx="502920" cy="502920"/>
          </a:xfrm>
          <a:prstGeom prst="ellipse">
            <a:avLst/>
          </a:prstGeom>
          <a:solidFill>
            <a:srgbClr val="F96167"/>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8" name="Image 1" descr="/home/claude/ppt_project/icons/search.png"/>
          <p:cNvPicPr>
            <a:picLocks noChangeAspect="1"/>
          </p:cNvPicPr>
          <p:nvPr/>
        </p:nvPicPr>
        <p:blipFill>
          <a:blip r:embed="rId4"/>
          <a:stretch>
            <a:fillRect/>
          </a:stretch>
        </p:blipFill>
        <p:spPr>
          <a:xfrm>
            <a:off x="940460" y="2129180"/>
            <a:ext cx="231343" cy="231343"/>
          </a:xfrm>
          <a:prstGeom prst="rect">
            <a:avLst/>
          </a:prstGeom>
        </p:spPr>
      </p:pic>
      <p:sp>
        <p:nvSpPr>
          <p:cNvPr id="9" name="Text 5"/>
          <p:cNvSpPr/>
          <p:nvPr/>
        </p:nvSpPr>
        <p:spPr>
          <a:xfrm>
            <a:off x="804672" y="2633472"/>
            <a:ext cx="3002280" cy="457200"/>
          </a:xfrm>
          <a:prstGeom prst="rect">
            <a:avLst/>
          </a:prstGeom>
          <a:noFill/>
          <a:ln/>
        </p:spPr>
        <p:txBody>
          <a:bodyPr wrap="square" lIns="0" tIns="0" rIns="0" bIns="0" rtlCol="0" anchor="ctr"/>
          <a:lstStyle/>
          <a:p>
            <a:pPr marL="0" indent="0">
              <a:buNone/>
            </a:pPr>
            <a:r>
              <a:rPr lang="en-US" sz="135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조건 기반 유기동물 검색</a:t>
            </a:r>
            <a:endParaRPr lang="en-US" sz="1350" dirty="0">
              <a:latin typeface="BM HANNA 11yrs old OTF" panose="020B0600000101010101" pitchFamily="34" charset="-127"/>
              <a:ea typeface="BM HANNA 11yrs old OTF" panose="020B0600000101010101" pitchFamily="34" charset="-127"/>
            </a:endParaRPr>
          </a:p>
        </p:txBody>
      </p:sp>
      <p:sp>
        <p:nvSpPr>
          <p:cNvPr id="10" name="Text 6"/>
          <p:cNvSpPr/>
          <p:nvPr/>
        </p:nvSpPr>
        <p:spPr>
          <a:xfrm>
            <a:off x="804672" y="3035808"/>
            <a:ext cx="3002280" cy="502920"/>
          </a:xfrm>
          <a:prstGeom prst="rect">
            <a:avLst/>
          </a:prstGeom>
          <a:noFill/>
          <a:ln/>
        </p:spPr>
        <p:txBody>
          <a:bodyPr wrap="square" lIns="0" tIns="0" rIns="0" bIns="0" rtlCol="0" anchor="ctr"/>
          <a:lstStyle/>
          <a:p>
            <a:pPr marL="0" indent="0">
              <a:lnSpc>
                <a:spcPct val="115000"/>
              </a:lnSpc>
              <a:buNone/>
            </a:pPr>
            <a:r>
              <a:rPr lang="en-US" sz="10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지역·축종·품종·공고상태 검색 + 나이·체중 후처리 필터</a:t>
            </a:r>
            <a:endParaRPr lang="en-US" sz="1050" dirty="0">
              <a:latin typeface="BM HANNA 11yrs old OTF" panose="020B0600000101010101" pitchFamily="34" charset="-127"/>
              <a:ea typeface="BM HANNA 11yrs old OTF" panose="020B0600000101010101" pitchFamily="34" charset="-127"/>
            </a:endParaRPr>
          </a:p>
        </p:txBody>
      </p:sp>
      <p:sp>
        <p:nvSpPr>
          <p:cNvPr id="11" name="Shape 7"/>
          <p:cNvSpPr/>
          <p:nvPr/>
        </p:nvSpPr>
        <p:spPr>
          <a:xfrm>
            <a:off x="4328160" y="1737360"/>
            <a:ext cx="3505200" cy="1828800"/>
          </a:xfrm>
          <a:prstGeom prst="roundRect">
            <a:avLst>
              <a:gd name="adj" fmla="val 4500"/>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2" name="Shape 8"/>
          <p:cNvSpPr/>
          <p:nvPr/>
        </p:nvSpPr>
        <p:spPr>
          <a:xfrm>
            <a:off x="4584192" y="1993392"/>
            <a:ext cx="502920" cy="502920"/>
          </a:xfrm>
          <a:prstGeom prst="ellipse">
            <a:avLst/>
          </a:prstGeom>
          <a:solidFill>
            <a:srgbClr val="3AA6A0"/>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13" name="Image 2" descr="/home/claude/ppt_project/icons/infoCircle.png"/>
          <p:cNvPicPr>
            <a:picLocks noChangeAspect="1"/>
          </p:cNvPicPr>
          <p:nvPr/>
        </p:nvPicPr>
        <p:blipFill>
          <a:blip r:embed="rId5"/>
          <a:stretch>
            <a:fillRect/>
          </a:stretch>
        </p:blipFill>
        <p:spPr>
          <a:xfrm>
            <a:off x="4719980" y="2129180"/>
            <a:ext cx="231343" cy="231343"/>
          </a:xfrm>
          <a:prstGeom prst="rect">
            <a:avLst/>
          </a:prstGeom>
        </p:spPr>
      </p:pic>
      <p:sp>
        <p:nvSpPr>
          <p:cNvPr id="14" name="Text 9"/>
          <p:cNvSpPr/>
          <p:nvPr/>
        </p:nvSpPr>
        <p:spPr>
          <a:xfrm>
            <a:off x="4584192" y="2633472"/>
            <a:ext cx="3002280" cy="457200"/>
          </a:xfrm>
          <a:prstGeom prst="rect">
            <a:avLst/>
          </a:prstGeom>
          <a:noFill/>
          <a:ln/>
        </p:spPr>
        <p:txBody>
          <a:bodyPr wrap="square" lIns="0" tIns="0" rIns="0" bIns="0" rtlCol="0" anchor="ctr"/>
          <a:lstStyle/>
          <a:p>
            <a:pPr marL="0" indent="0">
              <a:buNone/>
            </a:pPr>
            <a:r>
              <a:rPr lang="en-US" sz="135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관심 동물 상세 안내</a:t>
            </a:r>
            <a:endParaRPr lang="en-US" sz="1350" dirty="0">
              <a:latin typeface="BM HANNA 11yrs old OTF" panose="020B0600000101010101" pitchFamily="34" charset="-127"/>
              <a:ea typeface="BM HANNA 11yrs old OTF" panose="020B0600000101010101" pitchFamily="34" charset="-127"/>
            </a:endParaRPr>
          </a:p>
        </p:txBody>
      </p:sp>
      <p:sp>
        <p:nvSpPr>
          <p:cNvPr id="15" name="Text 10"/>
          <p:cNvSpPr/>
          <p:nvPr/>
        </p:nvSpPr>
        <p:spPr>
          <a:xfrm>
            <a:off x="4584192" y="3035808"/>
            <a:ext cx="3002280" cy="502920"/>
          </a:xfrm>
          <a:prstGeom prst="rect">
            <a:avLst/>
          </a:prstGeom>
          <a:noFill/>
          <a:ln/>
        </p:spPr>
        <p:txBody>
          <a:bodyPr wrap="square" lIns="0" tIns="0" rIns="0" bIns="0" rtlCol="0" anchor="ctr"/>
          <a:lstStyle/>
          <a:p>
            <a:pPr marL="0" indent="0">
              <a:lnSpc>
                <a:spcPct val="115000"/>
              </a:lnSpc>
              <a:buNone/>
            </a:pPr>
            <a:r>
              <a:rPr lang="en-US" sz="10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보호소 연락처 · 공고 마감일 · 입양 절차 안내</a:t>
            </a:r>
            <a:endParaRPr lang="en-US" sz="1050" dirty="0">
              <a:latin typeface="BM HANNA 11yrs old OTF" panose="020B0600000101010101" pitchFamily="34" charset="-127"/>
              <a:ea typeface="BM HANNA 11yrs old OTF" panose="020B0600000101010101" pitchFamily="34" charset="-127"/>
            </a:endParaRPr>
          </a:p>
        </p:txBody>
      </p:sp>
      <p:sp>
        <p:nvSpPr>
          <p:cNvPr id="16" name="Shape 11"/>
          <p:cNvSpPr/>
          <p:nvPr/>
        </p:nvSpPr>
        <p:spPr>
          <a:xfrm>
            <a:off x="8107680" y="1737360"/>
            <a:ext cx="3505200" cy="1828800"/>
          </a:xfrm>
          <a:prstGeom prst="roundRect">
            <a:avLst>
              <a:gd name="adj" fmla="val 4500"/>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7" name="Shape 12"/>
          <p:cNvSpPr/>
          <p:nvPr/>
        </p:nvSpPr>
        <p:spPr>
          <a:xfrm>
            <a:off x="8363712" y="1993392"/>
            <a:ext cx="502920" cy="502920"/>
          </a:xfrm>
          <a:prstGeom prst="ellipse">
            <a:avLst/>
          </a:prstGeom>
          <a:solidFill>
            <a:srgbClr val="F5A623"/>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18" name="Image 3" descr="/home/claude/ppt_project/icons/mapmarked.png"/>
          <p:cNvPicPr>
            <a:picLocks noChangeAspect="1"/>
          </p:cNvPicPr>
          <p:nvPr/>
        </p:nvPicPr>
        <p:blipFill>
          <a:blip r:embed="rId6"/>
          <a:stretch>
            <a:fillRect/>
          </a:stretch>
        </p:blipFill>
        <p:spPr>
          <a:xfrm>
            <a:off x="8499500" y="2129180"/>
            <a:ext cx="231343" cy="231343"/>
          </a:xfrm>
          <a:prstGeom prst="rect">
            <a:avLst/>
          </a:prstGeom>
        </p:spPr>
      </p:pic>
      <p:sp>
        <p:nvSpPr>
          <p:cNvPr id="19" name="Text 13"/>
          <p:cNvSpPr/>
          <p:nvPr/>
        </p:nvSpPr>
        <p:spPr>
          <a:xfrm>
            <a:off x="8363712" y="2633472"/>
            <a:ext cx="3002280" cy="457200"/>
          </a:xfrm>
          <a:prstGeom prst="rect">
            <a:avLst/>
          </a:prstGeom>
          <a:noFill/>
          <a:ln/>
        </p:spPr>
        <p:txBody>
          <a:bodyPr wrap="square" lIns="0" tIns="0" rIns="0" bIns="0" rtlCol="0" anchor="ctr"/>
          <a:lstStyle/>
          <a:p>
            <a:pPr marL="0" indent="0">
              <a:buNone/>
            </a:pPr>
            <a:r>
              <a:rPr lang="en-US" sz="135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동반여행지 검색·추천</a:t>
            </a:r>
            <a:endParaRPr lang="en-US" sz="1350" dirty="0">
              <a:latin typeface="BM HANNA 11yrs old OTF" panose="020B0600000101010101" pitchFamily="34" charset="-127"/>
              <a:ea typeface="BM HANNA 11yrs old OTF" panose="020B0600000101010101" pitchFamily="34" charset="-127"/>
            </a:endParaRPr>
          </a:p>
        </p:txBody>
      </p:sp>
      <p:sp>
        <p:nvSpPr>
          <p:cNvPr id="20" name="Text 14"/>
          <p:cNvSpPr/>
          <p:nvPr/>
        </p:nvSpPr>
        <p:spPr>
          <a:xfrm>
            <a:off x="8363712" y="3035808"/>
            <a:ext cx="3002280" cy="502920"/>
          </a:xfrm>
          <a:prstGeom prst="rect">
            <a:avLst/>
          </a:prstGeom>
          <a:noFill/>
          <a:ln/>
        </p:spPr>
        <p:txBody>
          <a:bodyPr wrap="square" lIns="0" tIns="0" rIns="0" bIns="0" rtlCol="0" anchor="ctr"/>
          <a:lstStyle/>
          <a:p>
            <a:pPr>
              <a:lnSpc>
                <a:spcPct val="115000"/>
              </a:lnSpc>
            </a:pPr>
            <a:r>
              <a:rPr lang="en-US" sz="10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지역·카테고리(</a:t>
            </a:r>
            <a:r>
              <a:rPr lang="en-US" sz="105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관광지</a:t>
            </a:r>
            <a:r>
              <a:rPr lang="en-US" altLang="ko-KR" sz="10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a:t>
            </a:r>
            <a:r>
              <a:rPr lang="ko-KR" altLang="en-US" sz="10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문화시설</a:t>
            </a:r>
            <a:r>
              <a:rPr lang="en-US" altLang="ko-KR" sz="10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a:t>
            </a:r>
            <a:r>
              <a:rPr lang="en-US" altLang="ko-KR" sz="105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레포츠</a:t>
            </a:r>
            <a:r>
              <a:rPr lang="en-US" sz="10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a:t>
            </a:r>
            <a:r>
              <a:rPr lang="en-US" sz="105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숙박</a:t>
            </a:r>
            <a:r>
              <a:rPr lang="en-US" sz="10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a:t>
            </a:r>
            <a:r>
              <a:rPr lang="en-US" sz="105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쇼핑</a:t>
            </a:r>
            <a:r>
              <a:rPr lang="en-US" altLang="ko-KR" sz="10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a:t>
            </a:r>
            <a:r>
              <a:rPr lang="en-US" sz="105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음식점</a:t>
            </a:r>
            <a:r>
              <a:rPr lang="en-US" sz="10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 기반 추천</a:t>
            </a:r>
            <a:endParaRPr lang="en-US" sz="1050" dirty="0">
              <a:latin typeface="BM HANNA 11yrs old OTF" panose="020B0600000101010101" pitchFamily="34" charset="-127"/>
              <a:ea typeface="BM HANNA 11yrs old OTF" panose="020B0600000101010101" pitchFamily="34" charset="-127"/>
            </a:endParaRPr>
          </a:p>
        </p:txBody>
      </p:sp>
      <p:sp>
        <p:nvSpPr>
          <p:cNvPr id="21" name="Shape 15"/>
          <p:cNvSpPr/>
          <p:nvPr/>
        </p:nvSpPr>
        <p:spPr>
          <a:xfrm>
            <a:off x="548640" y="3886200"/>
            <a:ext cx="3505200" cy="1828800"/>
          </a:xfrm>
          <a:prstGeom prst="roundRect">
            <a:avLst>
              <a:gd name="adj" fmla="val 4500"/>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22" name="Shape 16"/>
          <p:cNvSpPr/>
          <p:nvPr/>
        </p:nvSpPr>
        <p:spPr>
          <a:xfrm>
            <a:off x="804672" y="4142232"/>
            <a:ext cx="502920" cy="502920"/>
          </a:xfrm>
          <a:prstGeom prst="ellipse">
            <a:avLst/>
          </a:prstGeom>
          <a:solidFill>
            <a:srgbClr val="2F3C7E"/>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23" name="Image 4" descr="/home/claude/ppt_project/icons/route.png"/>
          <p:cNvPicPr>
            <a:picLocks noChangeAspect="1"/>
          </p:cNvPicPr>
          <p:nvPr/>
        </p:nvPicPr>
        <p:blipFill>
          <a:blip r:embed="rId7"/>
          <a:stretch>
            <a:fillRect/>
          </a:stretch>
        </p:blipFill>
        <p:spPr>
          <a:xfrm>
            <a:off x="940460" y="4278020"/>
            <a:ext cx="231343" cy="231343"/>
          </a:xfrm>
          <a:prstGeom prst="rect">
            <a:avLst/>
          </a:prstGeom>
        </p:spPr>
      </p:pic>
      <p:sp>
        <p:nvSpPr>
          <p:cNvPr id="24" name="Text 17"/>
          <p:cNvSpPr/>
          <p:nvPr/>
        </p:nvSpPr>
        <p:spPr>
          <a:xfrm>
            <a:off x="804672" y="4782312"/>
            <a:ext cx="3002280" cy="457200"/>
          </a:xfrm>
          <a:prstGeom prst="rect">
            <a:avLst/>
          </a:prstGeom>
          <a:noFill/>
          <a:ln/>
        </p:spPr>
        <p:txBody>
          <a:bodyPr wrap="square" lIns="0" tIns="0" rIns="0" bIns="0" rtlCol="0" anchor="ctr"/>
          <a:lstStyle/>
          <a:p>
            <a:pPr marL="0" indent="0">
              <a:buNone/>
            </a:pPr>
            <a:r>
              <a:rPr lang="en-US" sz="135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입양-여행 연계 추천</a:t>
            </a:r>
            <a:endParaRPr lang="en-US" sz="1350" dirty="0">
              <a:latin typeface="BM HANNA 11yrs old OTF" panose="020B0600000101010101" pitchFamily="34" charset="-127"/>
              <a:ea typeface="BM HANNA 11yrs old OTF" panose="020B0600000101010101" pitchFamily="34" charset="-127"/>
            </a:endParaRPr>
          </a:p>
        </p:txBody>
      </p:sp>
      <p:sp>
        <p:nvSpPr>
          <p:cNvPr id="25" name="Text 18"/>
          <p:cNvSpPr/>
          <p:nvPr/>
        </p:nvSpPr>
        <p:spPr>
          <a:xfrm>
            <a:off x="804672" y="5184648"/>
            <a:ext cx="3002280" cy="502920"/>
          </a:xfrm>
          <a:prstGeom prst="rect">
            <a:avLst/>
          </a:prstGeom>
          <a:noFill/>
          <a:ln/>
        </p:spPr>
        <p:txBody>
          <a:bodyPr wrap="square" lIns="0" tIns="0" rIns="0" bIns="0" rtlCol="0" anchor="ctr"/>
          <a:lstStyle/>
          <a:p>
            <a:pPr marL="0" indent="0">
              <a:lnSpc>
                <a:spcPct val="115000"/>
              </a:lnSpc>
              <a:buNone/>
            </a:pPr>
            <a:r>
              <a:rPr lang="en-US" sz="10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동물 보호 지역을 여행 지역코드로 역매핑해 근처 여행지 제안</a:t>
            </a:r>
            <a:endParaRPr lang="en-US" sz="1050" dirty="0">
              <a:latin typeface="BM HANNA 11yrs old OTF" panose="020B0600000101010101" pitchFamily="34" charset="-127"/>
              <a:ea typeface="BM HANNA 11yrs old OTF" panose="020B0600000101010101" pitchFamily="34" charset="-127"/>
            </a:endParaRPr>
          </a:p>
        </p:txBody>
      </p:sp>
      <p:sp>
        <p:nvSpPr>
          <p:cNvPr id="26" name="Shape 19"/>
          <p:cNvSpPr/>
          <p:nvPr/>
        </p:nvSpPr>
        <p:spPr>
          <a:xfrm>
            <a:off x="4328160" y="3886200"/>
            <a:ext cx="3505200" cy="1828800"/>
          </a:xfrm>
          <a:prstGeom prst="roundRect">
            <a:avLst>
              <a:gd name="adj" fmla="val 4500"/>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27" name="Shape 20"/>
          <p:cNvSpPr/>
          <p:nvPr/>
        </p:nvSpPr>
        <p:spPr>
          <a:xfrm>
            <a:off x="4584192" y="4142232"/>
            <a:ext cx="502920" cy="502920"/>
          </a:xfrm>
          <a:prstGeom prst="ellipse">
            <a:avLst/>
          </a:prstGeom>
          <a:solidFill>
            <a:srgbClr val="F96167"/>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28" name="Image 5" descr="/home/claude/ppt_project/icons/comments.png"/>
          <p:cNvPicPr>
            <a:picLocks noChangeAspect="1"/>
          </p:cNvPicPr>
          <p:nvPr/>
        </p:nvPicPr>
        <p:blipFill>
          <a:blip r:embed="rId8"/>
          <a:stretch>
            <a:fillRect/>
          </a:stretch>
        </p:blipFill>
        <p:spPr>
          <a:xfrm>
            <a:off x="4719980" y="4278020"/>
            <a:ext cx="231343" cy="231343"/>
          </a:xfrm>
          <a:prstGeom prst="rect">
            <a:avLst/>
          </a:prstGeom>
        </p:spPr>
      </p:pic>
      <p:sp>
        <p:nvSpPr>
          <p:cNvPr id="29" name="Text 21"/>
          <p:cNvSpPr/>
          <p:nvPr/>
        </p:nvSpPr>
        <p:spPr>
          <a:xfrm>
            <a:off x="4584192" y="4782312"/>
            <a:ext cx="3002280" cy="457200"/>
          </a:xfrm>
          <a:prstGeom prst="rect">
            <a:avLst/>
          </a:prstGeom>
          <a:noFill/>
          <a:ln/>
        </p:spPr>
        <p:txBody>
          <a:bodyPr wrap="square" lIns="0" tIns="0" rIns="0" bIns="0" rtlCol="0" anchor="ctr"/>
          <a:lstStyle/>
          <a:p>
            <a:pPr marL="0" indent="0">
              <a:buNone/>
            </a:pPr>
            <a:r>
              <a:rPr lang="en-US" sz="135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멀티턴 지시어 해석</a:t>
            </a:r>
            <a:endParaRPr lang="en-US" sz="1350" dirty="0">
              <a:latin typeface="BM HANNA 11yrs old OTF" panose="020B0600000101010101" pitchFamily="34" charset="-127"/>
              <a:ea typeface="BM HANNA 11yrs old OTF" panose="020B0600000101010101" pitchFamily="34" charset="-127"/>
            </a:endParaRPr>
          </a:p>
        </p:txBody>
      </p:sp>
      <p:sp>
        <p:nvSpPr>
          <p:cNvPr id="30" name="Text 22"/>
          <p:cNvSpPr/>
          <p:nvPr/>
        </p:nvSpPr>
        <p:spPr>
          <a:xfrm>
            <a:off x="4584192" y="5184648"/>
            <a:ext cx="3002280" cy="502920"/>
          </a:xfrm>
          <a:prstGeom prst="rect">
            <a:avLst/>
          </a:prstGeom>
          <a:noFill/>
          <a:ln/>
        </p:spPr>
        <p:txBody>
          <a:bodyPr wrap="square" lIns="0" tIns="0" rIns="0" bIns="0" rtlCol="0" anchor="ctr"/>
          <a:lstStyle/>
          <a:p>
            <a:pPr marL="0" indent="0">
              <a:lnSpc>
                <a:spcPct val="115000"/>
              </a:lnSpc>
              <a:buNone/>
            </a:pPr>
            <a:r>
              <a:rPr lang="en-US" sz="10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"그 강아지", "거기 근처" 등 이전 turn 맥락 정확히 참조</a:t>
            </a:r>
            <a:endParaRPr lang="en-US" sz="1050" dirty="0">
              <a:latin typeface="BM HANNA 11yrs old OTF" panose="020B0600000101010101" pitchFamily="34" charset="-127"/>
              <a:ea typeface="BM HANNA 11yrs old OTF" panose="020B0600000101010101" pitchFamily="34" charset="-127"/>
            </a:endParaRPr>
          </a:p>
        </p:txBody>
      </p:sp>
      <p:sp>
        <p:nvSpPr>
          <p:cNvPr id="31" name="Shape 23"/>
          <p:cNvSpPr/>
          <p:nvPr/>
        </p:nvSpPr>
        <p:spPr>
          <a:xfrm>
            <a:off x="8107680" y="3886200"/>
            <a:ext cx="3505200" cy="1828800"/>
          </a:xfrm>
          <a:prstGeom prst="roundRect">
            <a:avLst>
              <a:gd name="adj" fmla="val 4500"/>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32" name="Shape 24"/>
          <p:cNvSpPr/>
          <p:nvPr/>
        </p:nvSpPr>
        <p:spPr>
          <a:xfrm>
            <a:off x="8363712" y="4142232"/>
            <a:ext cx="502920" cy="502920"/>
          </a:xfrm>
          <a:prstGeom prst="ellipse">
            <a:avLst/>
          </a:prstGeom>
          <a:solidFill>
            <a:srgbClr val="3AA6A0"/>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33" name="Image 6" descr="/home/claude/ppt_project/icons/heart.png"/>
          <p:cNvPicPr>
            <a:picLocks noChangeAspect="1"/>
          </p:cNvPicPr>
          <p:nvPr/>
        </p:nvPicPr>
        <p:blipFill>
          <a:blip r:embed="rId9"/>
          <a:stretch>
            <a:fillRect/>
          </a:stretch>
        </p:blipFill>
        <p:spPr>
          <a:xfrm>
            <a:off x="8499500" y="4278020"/>
            <a:ext cx="231343" cy="231343"/>
          </a:xfrm>
          <a:prstGeom prst="rect">
            <a:avLst/>
          </a:prstGeom>
        </p:spPr>
      </p:pic>
      <p:sp>
        <p:nvSpPr>
          <p:cNvPr id="34" name="Text 25"/>
          <p:cNvSpPr/>
          <p:nvPr/>
        </p:nvSpPr>
        <p:spPr>
          <a:xfrm>
            <a:off x="8363712" y="4782312"/>
            <a:ext cx="3002280" cy="457200"/>
          </a:xfrm>
          <a:prstGeom prst="rect">
            <a:avLst/>
          </a:prstGeom>
          <a:noFill/>
          <a:ln/>
        </p:spPr>
        <p:txBody>
          <a:bodyPr wrap="square" lIns="0" tIns="0" rIns="0" bIns="0" rtlCol="0" anchor="ctr"/>
          <a:lstStyle/>
          <a:p>
            <a:pPr marL="0" indent="0">
              <a:buNone/>
            </a:pPr>
            <a:r>
              <a:rPr lang="en-US" sz="135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세션 간 선호 기억</a:t>
            </a:r>
            <a:endParaRPr lang="en-US" sz="1350" dirty="0">
              <a:latin typeface="BM HANNA 11yrs old OTF" panose="020B0600000101010101" pitchFamily="34" charset="-127"/>
              <a:ea typeface="BM HANNA 11yrs old OTF" panose="020B0600000101010101" pitchFamily="34" charset="-127"/>
            </a:endParaRPr>
          </a:p>
        </p:txBody>
      </p:sp>
      <p:sp>
        <p:nvSpPr>
          <p:cNvPr id="35" name="Text 26"/>
          <p:cNvSpPr/>
          <p:nvPr/>
        </p:nvSpPr>
        <p:spPr>
          <a:xfrm>
            <a:off x="8363712" y="5184648"/>
            <a:ext cx="3002280" cy="502920"/>
          </a:xfrm>
          <a:prstGeom prst="rect">
            <a:avLst/>
          </a:prstGeom>
          <a:noFill/>
          <a:ln/>
        </p:spPr>
        <p:txBody>
          <a:bodyPr wrap="square" lIns="0" tIns="0" rIns="0" bIns="0" rtlCol="0" anchor="ctr"/>
          <a:lstStyle/>
          <a:p>
            <a:pPr marL="0" indent="0">
              <a:lnSpc>
                <a:spcPct val="115000"/>
              </a:lnSpc>
              <a:buNone/>
            </a:pPr>
            <a:r>
              <a:rPr lang="en-US" sz="10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선호 </a:t>
            </a:r>
            <a:r>
              <a:rPr lang="en-US" sz="105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지역·축종·반려동물</a:t>
            </a:r>
            <a:r>
              <a:rPr lang="en-US" sz="10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 보유 여부로 개인화 추천</a:t>
            </a:r>
            <a:endParaRPr lang="en-US" sz="1050" dirty="0">
              <a:latin typeface="BM HANNA 11yrs old OTF" panose="020B0600000101010101" pitchFamily="34" charset="-127"/>
              <a:ea typeface="BM HANNA 11yrs old OTF" panose="020B0600000101010101" pitchFamily="34" charset="-127"/>
            </a:endParaRPr>
          </a:p>
        </p:txBody>
      </p:sp>
      <p:sp>
        <p:nvSpPr>
          <p:cNvPr id="36" name="Text 27"/>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05</a:t>
            </a:r>
            <a:endParaRPr lang="en-US" sz="1000" dirty="0">
              <a:latin typeface="BM HANNA 11yrs old OTF" panose="020B0600000101010101" pitchFamily="34" charset="-127"/>
              <a:ea typeface="BM HANNA 11yrs old OTF" panose="020B0600000101010101" pitchFamily="34" charset="-127"/>
            </a:endParaRPr>
          </a:p>
        </p:txBody>
      </p:sp>
      <p:sp>
        <p:nvSpPr>
          <p:cNvPr id="37" name="Text 28"/>
          <p:cNvSpPr/>
          <p:nvPr/>
        </p:nvSpPr>
        <p:spPr>
          <a:xfrm>
            <a:off x="457200" y="6446520"/>
            <a:ext cx="3657600" cy="274320"/>
          </a:xfrm>
          <a:prstGeom prst="rect">
            <a:avLst/>
          </a:prstGeom>
          <a:noFill/>
          <a:ln/>
        </p:spPr>
        <p:txBody>
          <a:bodyPr wrap="square" lIns="0" tIns="0" rIns="0" bIns="0" rtlCol="0" anchor="ctr"/>
          <a:lstStyle/>
          <a:p>
            <a:pPr marL="0" indent="0" algn="l">
              <a:buNone/>
            </a:pPr>
            <a:r>
              <a:rPr lang="en-US" sz="9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함께갈개 · AI Agent 설계</a:t>
            </a:r>
            <a:endParaRPr lang="en-US" sz="900" dirty="0">
              <a:latin typeface="BM HANNA 11yrs old OTF" panose="020B0600000101010101" pitchFamily="34" charset="-127"/>
              <a:ea typeface="BM HANNA 11yrs old OTF" panose="020B0600000101010101" pitchFamily="34" charset="-127"/>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658368" cy="658368"/>
          </a:xfrm>
          <a:prstGeom prst="ellipse">
            <a:avLst/>
          </a:prstGeom>
          <a:solidFill>
            <a:srgbClr val="F96167"/>
          </a:solidFill>
          <a:ln/>
          <a:effectLst>
            <a:outerShdw blurRad="76200" dist="25400" dir="5400000" algn="bl" rotWithShape="0">
              <a:srgbClr val="888888">
                <a:alpha val="25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3" name="Image 0" descr="/home/claude/ppt_project/icons/comments.png"/>
          <p:cNvPicPr>
            <a:picLocks noChangeAspect="1"/>
          </p:cNvPicPr>
          <p:nvPr/>
        </p:nvPicPr>
        <p:blipFill>
          <a:blip r:embed="rId3"/>
          <a:stretch>
            <a:fillRect/>
          </a:stretch>
        </p:blipFill>
        <p:spPr>
          <a:xfrm>
            <a:off x="713232" y="594360"/>
            <a:ext cx="237744" cy="237744"/>
          </a:xfrm>
          <a:prstGeom prst="rect">
            <a:avLst/>
          </a:prstGeom>
        </p:spPr>
      </p:pic>
      <p:sp>
        <p:nvSpPr>
          <p:cNvPr id="4" name="Text 1"/>
          <p:cNvSpPr/>
          <p:nvPr/>
        </p:nvSpPr>
        <p:spPr>
          <a:xfrm>
            <a:off x="1325880" y="329184"/>
            <a:ext cx="9875520" cy="502920"/>
          </a:xfrm>
          <a:prstGeom prst="rect">
            <a:avLst/>
          </a:prstGeom>
          <a:noFill/>
          <a:ln/>
        </p:spPr>
        <p:txBody>
          <a:bodyPr wrap="square" lIns="0" tIns="0" rIns="0" bIns="0" rtlCol="0" anchor="ctr"/>
          <a:lstStyle/>
          <a:p>
            <a:pPr marL="0" indent="0" algn="l">
              <a:buNone/>
            </a:pPr>
            <a:r>
              <a:rPr lang="en-US" sz="27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사용자 시나리오</a:t>
            </a:r>
            <a:endParaRPr lang="en-US" sz="2700" dirty="0">
              <a:latin typeface="BM HANNA 11yrs old OTF" panose="020B0600000101010101" pitchFamily="34" charset="-127"/>
              <a:ea typeface="BM HANNA 11yrs old OTF" panose="020B0600000101010101" pitchFamily="34" charset="-127"/>
            </a:endParaRPr>
          </a:p>
        </p:txBody>
      </p:sp>
      <p:sp>
        <p:nvSpPr>
          <p:cNvPr id="5" name="Text 2"/>
          <p:cNvSpPr/>
          <p:nvPr/>
        </p:nvSpPr>
        <p:spPr>
          <a:xfrm>
            <a:off x="1325880" y="822960"/>
            <a:ext cx="9875520" cy="292608"/>
          </a:xfrm>
          <a:prstGeom prst="rect">
            <a:avLst/>
          </a:prstGeom>
          <a:noFill/>
          <a:ln/>
        </p:spPr>
        <p:txBody>
          <a:bodyPr wrap="square" lIns="0" tIns="0" rIns="0" bIns="0" rtlCol="0" anchor="ctr"/>
          <a:lstStyle/>
          <a:p>
            <a:pPr marL="0" indent="0" algn="l">
              <a:buNone/>
            </a:pPr>
            <a:r>
              <a:rPr lang="en-US" sz="1200" i="1" dirty="0">
                <a:solidFill>
                  <a:srgbClr val="6B6F8A"/>
                </a:solidFill>
                <a:latin typeface="BM HANNA 11yrs old OTF" panose="020B0600000101010101" pitchFamily="34" charset="-127"/>
                <a:ea typeface="BM HANNA 11yrs old OTF" panose="020B0600000101010101" pitchFamily="34" charset="-127"/>
                <a:cs typeface="Calibri" pitchFamily="34" charset="-120"/>
              </a:rPr>
              <a:t>1.3  대화 예시로 보는 사용 흐름</a:t>
            </a:r>
            <a:endParaRPr lang="en-US" sz="1200" dirty="0">
              <a:latin typeface="BM HANNA 11yrs old OTF" panose="020B0600000101010101" pitchFamily="34" charset="-127"/>
              <a:ea typeface="BM HANNA 11yrs old OTF" panose="020B0600000101010101" pitchFamily="34" charset="-127"/>
            </a:endParaRPr>
          </a:p>
        </p:txBody>
      </p:sp>
      <p:sp>
        <p:nvSpPr>
          <p:cNvPr id="6" name="Shape 3"/>
          <p:cNvSpPr/>
          <p:nvPr/>
        </p:nvSpPr>
        <p:spPr>
          <a:xfrm>
            <a:off x="548640" y="1737360"/>
            <a:ext cx="11064240" cy="1417320"/>
          </a:xfrm>
          <a:prstGeom prst="roundRect">
            <a:avLst>
              <a:gd name="adj" fmla="val 5806"/>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7" name="Shape 4"/>
          <p:cNvSpPr/>
          <p:nvPr/>
        </p:nvSpPr>
        <p:spPr>
          <a:xfrm>
            <a:off x="822960" y="2194560"/>
            <a:ext cx="1554480" cy="502920"/>
          </a:xfrm>
          <a:prstGeom prst="roundRect">
            <a:avLst>
              <a:gd name="adj" fmla="val 50909"/>
            </a:avLst>
          </a:prstGeom>
          <a:solidFill>
            <a:srgbClr val="F96167"/>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8" name="Text 5"/>
          <p:cNvSpPr/>
          <p:nvPr/>
        </p:nvSpPr>
        <p:spPr>
          <a:xfrm>
            <a:off x="822960" y="2194560"/>
            <a:ext cx="1554480"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BM HANNA 11yrs old OTF" panose="020B0600000101010101" pitchFamily="34" charset="-127"/>
                <a:ea typeface="BM HANNA 11yrs old OTF" panose="020B0600000101010101" pitchFamily="34" charset="-127"/>
                <a:cs typeface="Cambria" pitchFamily="34" charset="-120"/>
              </a:rPr>
              <a:t>시나리오 1</a:t>
            </a:r>
            <a:endParaRPr lang="en-US" sz="1250" dirty="0">
              <a:latin typeface="BM HANNA 11yrs old OTF" panose="020B0600000101010101" pitchFamily="34" charset="-127"/>
              <a:ea typeface="BM HANNA 11yrs old OTF" panose="020B0600000101010101" pitchFamily="34" charset="-127"/>
            </a:endParaRPr>
          </a:p>
        </p:txBody>
      </p:sp>
      <p:sp>
        <p:nvSpPr>
          <p:cNvPr id="9" name="Text 6"/>
          <p:cNvSpPr/>
          <p:nvPr/>
        </p:nvSpPr>
        <p:spPr>
          <a:xfrm>
            <a:off x="2606040" y="1874520"/>
            <a:ext cx="3108960" cy="1143000"/>
          </a:xfrm>
          <a:prstGeom prst="rect">
            <a:avLst/>
          </a:prstGeom>
          <a:noFill/>
          <a:ln/>
        </p:spPr>
        <p:txBody>
          <a:bodyPr wrap="square" lIns="0" tIns="0" rIns="0" bIns="0" rtlCol="0" anchor="ctr"/>
          <a:lstStyle/>
          <a:p>
            <a:pPr marL="0" indent="0">
              <a:lnSpc>
                <a:spcPct val="110000"/>
              </a:lnSpc>
              <a:buNone/>
            </a:pPr>
            <a:r>
              <a:rPr lang="en-US" sz="14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조건 맞춤</a:t>
            </a:r>
            <a:endParaRPr lang="en-US" sz="1400" dirty="0">
              <a:latin typeface="BM HANNA 11yrs old OTF" panose="020B0600000101010101" pitchFamily="34" charset="-127"/>
              <a:ea typeface="BM HANNA 11yrs old OTF" panose="020B0600000101010101" pitchFamily="34" charset="-127"/>
            </a:endParaRPr>
          </a:p>
          <a:p>
            <a:pPr marL="0" indent="0">
              <a:lnSpc>
                <a:spcPct val="110000"/>
              </a:lnSpc>
              <a:buNone/>
            </a:pPr>
            <a:r>
              <a:rPr lang="en-US" sz="14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유기동물 추천</a:t>
            </a:r>
            <a:endParaRPr lang="en-US" sz="1400" dirty="0">
              <a:latin typeface="BM HANNA 11yrs old OTF" panose="020B0600000101010101" pitchFamily="34" charset="-127"/>
              <a:ea typeface="BM HANNA 11yrs old OTF" panose="020B0600000101010101" pitchFamily="34" charset="-127"/>
            </a:endParaRPr>
          </a:p>
        </p:txBody>
      </p:sp>
      <p:sp>
        <p:nvSpPr>
          <p:cNvPr id="10" name="Text 7"/>
          <p:cNvSpPr/>
          <p:nvPr/>
        </p:nvSpPr>
        <p:spPr>
          <a:xfrm>
            <a:off x="5897880" y="1874520"/>
            <a:ext cx="5486400" cy="1143000"/>
          </a:xfrm>
          <a:prstGeom prst="rect">
            <a:avLst/>
          </a:prstGeom>
          <a:noFill/>
          <a:ln/>
        </p:spPr>
        <p:txBody>
          <a:bodyPr wrap="square" lIns="0" tIns="0" rIns="0" bIns="0" rtlCol="0" anchor="ctr"/>
          <a:lstStyle/>
          <a:p>
            <a:pPr marL="0" indent="0">
              <a:lnSpc>
                <a:spcPct val="120000"/>
              </a:lnSpc>
              <a:buNone/>
            </a:pPr>
            <a:r>
              <a:rPr lang="en-US" sz="1250" i="1" dirty="0">
                <a:solidFill>
                  <a:srgbClr val="22264A"/>
                </a:solidFill>
                <a:latin typeface="BM HANNA 11yrs old OTF" panose="020B0600000101010101" pitchFamily="34" charset="-127"/>
                <a:ea typeface="BM HANNA 11yrs old OTF" panose="020B0600000101010101" pitchFamily="34" charset="-127"/>
                <a:cs typeface="Calibri" pitchFamily="34" charset="-120"/>
              </a:rPr>
              <a:t>"마포구 아파트에 살고 활동량이 적은 편이야. 키우기 좋은 순한 소형견 공고 찾아줘."</a:t>
            </a:r>
            <a:endParaRPr lang="en-US" sz="1250" dirty="0">
              <a:latin typeface="BM HANNA 11yrs old OTF" panose="020B0600000101010101" pitchFamily="34" charset="-127"/>
              <a:ea typeface="BM HANNA 11yrs old OTF" panose="020B0600000101010101" pitchFamily="34" charset="-127"/>
            </a:endParaRPr>
          </a:p>
        </p:txBody>
      </p:sp>
      <p:sp>
        <p:nvSpPr>
          <p:cNvPr id="11" name="Shape 8"/>
          <p:cNvSpPr/>
          <p:nvPr/>
        </p:nvSpPr>
        <p:spPr>
          <a:xfrm>
            <a:off x="548640" y="3355848"/>
            <a:ext cx="11064240" cy="1417320"/>
          </a:xfrm>
          <a:prstGeom prst="roundRect">
            <a:avLst>
              <a:gd name="adj" fmla="val 5806"/>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2" name="Shape 9"/>
          <p:cNvSpPr/>
          <p:nvPr/>
        </p:nvSpPr>
        <p:spPr>
          <a:xfrm>
            <a:off x="822960" y="3813048"/>
            <a:ext cx="1554480" cy="502920"/>
          </a:xfrm>
          <a:prstGeom prst="roundRect">
            <a:avLst>
              <a:gd name="adj" fmla="val 50909"/>
            </a:avLst>
          </a:prstGeom>
          <a:solidFill>
            <a:srgbClr val="3AA6A0"/>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3" name="Text 10"/>
          <p:cNvSpPr/>
          <p:nvPr/>
        </p:nvSpPr>
        <p:spPr>
          <a:xfrm>
            <a:off x="822960" y="3813048"/>
            <a:ext cx="1554480"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BM HANNA 11yrs old OTF" panose="020B0600000101010101" pitchFamily="34" charset="-127"/>
                <a:ea typeface="BM HANNA 11yrs old OTF" panose="020B0600000101010101" pitchFamily="34" charset="-127"/>
                <a:cs typeface="Cambria" pitchFamily="34" charset="-120"/>
              </a:rPr>
              <a:t>시나리오 2</a:t>
            </a:r>
            <a:endParaRPr lang="en-US" sz="1250" dirty="0">
              <a:latin typeface="BM HANNA 11yrs old OTF" panose="020B0600000101010101" pitchFamily="34" charset="-127"/>
              <a:ea typeface="BM HANNA 11yrs old OTF" panose="020B0600000101010101" pitchFamily="34" charset="-127"/>
            </a:endParaRPr>
          </a:p>
        </p:txBody>
      </p:sp>
      <p:sp>
        <p:nvSpPr>
          <p:cNvPr id="14" name="Text 11"/>
          <p:cNvSpPr/>
          <p:nvPr/>
        </p:nvSpPr>
        <p:spPr>
          <a:xfrm>
            <a:off x="2606040" y="3493008"/>
            <a:ext cx="3108960" cy="1143000"/>
          </a:xfrm>
          <a:prstGeom prst="rect">
            <a:avLst/>
          </a:prstGeom>
          <a:noFill/>
          <a:ln/>
        </p:spPr>
        <p:txBody>
          <a:bodyPr wrap="square" lIns="0" tIns="0" rIns="0" bIns="0" rtlCol="0" anchor="ctr"/>
          <a:lstStyle/>
          <a:p>
            <a:pPr marL="0" indent="0">
              <a:lnSpc>
                <a:spcPct val="110000"/>
              </a:lnSpc>
              <a:buNone/>
            </a:pPr>
            <a:r>
              <a:rPr lang="en-US" sz="14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입양 후 첫</a:t>
            </a:r>
            <a:endParaRPr lang="en-US" sz="1400" dirty="0">
              <a:latin typeface="BM HANNA 11yrs old OTF" panose="020B0600000101010101" pitchFamily="34" charset="-127"/>
              <a:ea typeface="BM HANNA 11yrs old OTF" panose="020B0600000101010101" pitchFamily="34" charset="-127"/>
            </a:endParaRPr>
          </a:p>
          <a:p>
            <a:pPr marL="0" indent="0">
              <a:lnSpc>
                <a:spcPct val="110000"/>
              </a:lnSpc>
              <a:buNone/>
            </a:pPr>
            <a:r>
              <a:rPr lang="en-US" sz="1400" b="1" dirty="0" err="1">
                <a:solidFill>
                  <a:srgbClr val="1E2761"/>
                </a:solidFill>
                <a:latin typeface="BM HANNA 11yrs old OTF" panose="020B0600000101010101" pitchFamily="34" charset="-127"/>
                <a:ea typeface="BM HANNA 11yrs old OTF" panose="020B0600000101010101" pitchFamily="34" charset="-127"/>
                <a:cs typeface="Cambria" pitchFamily="34" charset="-120"/>
              </a:rPr>
              <a:t>동반</a:t>
            </a:r>
            <a:r>
              <a:rPr lang="en-US" sz="14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 </a:t>
            </a:r>
            <a:r>
              <a:rPr lang="en-US" sz="1400" b="1" dirty="0" err="1">
                <a:solidFill>
                  <a:srgbClr val="1E2761"/>
                </a:solidFill>
                <a:latin typeface="BM HANNA 11yrs old OTF" panose="020B0600000101010101" pitchFamily="34" charset="-127"/>
                <a:ea typeface="BM HANNA 11yrs old OTF" panose="020B0600000101010101" pitchFamily="34" charset="-127"/>
                <a:cs typeface="Cambria" pitchFamily="34" charset="-120"/>
              </a:rPr>
              <a:t>여행지</a:t>
            </a:r>
            <a:r>
              <a:rPr lang="en-US" sz="14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 </a:t>
            </a:r>
            <a:r>
              <a:rPr lang="en-US" sz="1400" b="1" dirty="0" err="1">
                <a:solidFill>
                  <a:srgbClr val="1E2761"/>
                </a:solidFill>
                <a:latin typeface="BM HANNA 11yrs old OTF" panose="020B0600000101010101" pitchFamily="34" charset="-127"/>
                <a:ea typeface="BM HANNA 11yrs old OTF" panose="020B0600000101010101" pitchFamily="34" charset="-127"/>
                <a:cs typeface="Cambria" pitchFamily="34" charset="-120"/>
              </a:rPr>
              <a:t>추천</a:t>
            </a:r>
            <a:endParaRPr lang="en-US" sz="1400" dirty="0">
              <a:latin typeface="BM HANNA 11yrs old OTF" panose="020B0600000101010101" pitchFamily="34" charset="-127"/>
              <a:ea typeface="BM HANNA 11yrs old OTF" panose="020B0600000101010101" pitchFamily="34" charset="-127"/>
            </a:endParaRPr>
          </a:p>
        </p:txBody>
      </p:sp>
      <p:sp>
        <p:nvSpPr>
          <p:cNvPr id="15" name="Text 12"/>
          <p:cNvSpPr/>
          <p:nvPr/>
        </p:nvSpPr>
        <p:spPr>
          <a:xfrm>
            <a:off x="5897880" y="3493008"/>
            <a:ext cx="5486400" cy="1143000"/>
          </a:xfrm>
          <a:prstGeom prst="rect">
            <a:avLst/>
          </a:prstGeom>
          <a:noFill/>
          <a:ln/>
        </p:spPr>
        <p:txBody>
          <a:bodyPr wrap="square" lIns="0" tIns="0" rIns="0" bIns="0" rtlCol="0" anchor="ctr"/>
          <a:lstStyle/>
          <a:p>
            <a:pPr marL="0" indent="0">
              <a:lnSpc>
                <a:spcPct val="120000"/>
              </a:lnSpc>
              <a:buNone/>
            </a:pPr>
            <a:r>
              <a:rPr lang="en-US" sz="1250" i="1" dirty="0">
                <a:solidFill>
                  <a:srgbClr val="22264A"/>
                </a:solidFill>
                <a:latin typeface="BM HANNA 11yrs old OTF" panose="020B0600000101010101" pitchFamily="34" charset="-127"/>
                <a:ea typeface="BM HANNA 11yrs old OTF" panose="020B0600000101010101" pitchFamily="34" charset="-127"/>
                <a:cs typeface="Calibri" pitchFamily="34" charset="-120"/>
              </a:rPr>
              <a:t>"방금 그 강아지 입양하고 강릉으로 1박 2일 여행 가려는데, 동반 가능한 숙소·식당 </a:t>
            </a:r>
            <a:r>
              <a:rPr lang="en-US" sz="1250" i="1"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포함</a:t>
            </a:r>
            <a:r>
              <a:rPr lang="en-US" sz="1250" i="1" dirty="0">
                <a:solidFill>
                  <a:srgbClr val="22264A"/>
                </a:solidFill>
                <a:latin typeface="BM HANNA 11yrs old OTF" panose="020B0600000101010101" pitchFamily="34" charset="-127"/>
                <a:ea typeface="BM HANNA 11yrs old OTF" panose="020B0600000101010101" pitchFamily="34" charset="-127"/>
                <a:cs typeface="Calibri" pitchFamily="34" charset="-120"/>
              </a:rPr>
              <a:t> </a:t>
            </a:r>
            <a:r>
              <a:rPr lang="en-US" sz="1250" i="1"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여행지</a:t>
            </a:r>
            <a:r>
              <a:rPr lang="en-US" sz="1250" i="1" dirty="0">
                <a:solidFill>
                  <a:srgbClr val="22264A"/>
                </a:solidFill>
                <a:latin typeface="BM HANNA 11yrs old OTF" panose="020B0600000101010101" pitchFamily="34" charset="-127"/>
                <a:ea typeface="BM HANNA 11yrs old OTF" panose="020B0600000101010101" pitchFamily="34" charset="-127"/>
                <a:cs typeface="Calibri" pitchFamily="34" charset="-120"/>
              </a:rPr>
              <a:t> </a:t>
            </a:r>
            <a:r>
              <a:rPr lang="en-US" sz="1250" i="1"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추천해줘</a:t>
            </a:r>
            <a:r>
              <a:rPr lang="en-US" altLang="ko-KR" sz="1250" i="1" dirty="0">
                <a:solidFill>
                  <a:srgbClr val="22264A"/>
                </a:solidFill>
                <a:latin typeface="BM HANNA 11yrs old OTF" panose="020B0600000101010101" pitchFamily="34" charset="-127"/>
                <a:ea typeface="BM HANNA 11yrs old OTF" panose="020B0600000101010101" pitchFamily="34" charset="-127"/>
                <a:cs typeface="Calibri" pitchFamily="34" charset="-120"/>
              </a:rPr>
              <a:t>.</a:t>
            </a:r>
            <a:r>
              <a:rPr lang="en-US" sz="1250" i="1" dirty="0">
                <a:solidFill>
                  <a:srgbClr val="22264A"/>
                </a:solidFill>
                <a:latin typeface="BM HANNA 11yrs old OTF" panose="020B0600000101010101" pitchFamily="34" charset="-127"/>
                <a:ea typeface="BM HANNA 11yrs old OTF" panose="020B0600000101010101" pitchFamily="34" charset="-127"/>
                <a:cs typeface="Calibri" pitchFamily="34" charset="-120"/>
              </a:rPr>
              <a:t>"</a:t>
            </a:r>
            <a:endParaRPr lang="en-US" sz="1250" dirty="0">
              <a:latin typeface="BM HANNA 11yrs old OTF" panose="020B0600000101010101" pitchFamily="34" charset="-127"/>
              <a:ea typeface="BM HANNA 11yrs old OTF" panose="020B0600000101010101" pitchFamily="34" charset="-127"/>
            </a:endParaRPr>
          </a:p>
        </p:txBody>
      </p:sp>
      <p:sp>
        <p:nvSpPr>
          <p:cNvPr id="16" name="Shape 13"/>
          <p:cNvSpPr/>
          <p:nvPr/>
        </p:nvSpPr>
        <p:spPr>
          <a:xfrm>
            <a:off x="548640" y="4974336"/>
            <a:ext cx="11064240" cy="1417320"/>
          </a:xfrm>
          <a:prstGeom prst="roundRect">
            <a:avLst>
              <a:gd name="adj" fmla="val 5806"/>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7" name="Shape 14"/>
          <p:cNvSpPr/>
          <p:nvPr/>
        </p:nvSpPr>
        <p:spPr>
          <a:xfrm>
            <a:off x="822960" y="5431536"/>
            <a:ext cx="1554480" cy="502920"/>
          </a:xfrm>
          <a:prstGeom prst="roundRect">
            <a:avLst>
              <a:gd name="adj" fmla="val 50909"/>
            </a:avLst>
          </a:prstGeom>
          <a:solidFill>
            <a:srgbClr val="F5A623"/>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8" name="Text 15"/>
          <p:cNvSpPr/>
          <p:nvPr/>
        </p:nvSpPr>
        <p:spPr>
          <a:xfrm>
            <a:off x="822960" y="5431536"/>
            <a:ext cx="1554480"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BM HANNA 11yrs old OTF" panose="020B0600000101010101" pitchFamily="34" charset="-127"/>
                <a:ea typeface="BM HANNA 11yrs old OTF" panose="020B0600000101010101" pitchFamily="34" charset="-127"/>
                <a:cs typeface="Cambria" pitchFamily="34" charset="-120"/>
              </a:rPr>
              <a:t>시나리오 3</a:t>
            </a:r>
            <a:endParaRPr lang="en-US" sz="1250" dirty="0">
              <a:latin typeface="BM HANNA 11yrs old OTF" panose="020B0600000101010101" pitchFamily="34" charset="-127"/>
              <a:ea typeface="BM HANNA 11yrs old OTF" panose="020B0600000101010101" pitchFamily="34" charset="-127"/>
            </a:endParaRPr>
          </a:p>
        </p:txBody>
      </p:sp>
      <p:sp>
        <p:nvSpPr>
          <p:cNvPr id="19" name="Text 16"/>
          <p:cNvSpPr/>
          <p:nvPr/>
        </p:nvSpPr>
        <p:spPr>
          <a:xfrm>
            <a:off x="2606040" y="5111496"/>
            <a:ext cx="3108960" cy="1143000"/>
          </a:xfrm>
          <a:prstGeom prst="rect">
            <a:avLst/>
          </a:prstGeom>
          <a:noFill/>
          <a:ln/>
        </p:spPr>
        <p:txBody>
          <a:bodyPr wrap="square" lIns="0" tIns="0" rIns="0" bIns="0" rtlCol="0" anchor="ctr"/>
          <a:lstStyle/>
          <a:p>
            <a:pPr marL="0" indent="0">
              <a:lnSpc>
                <a:spcPct val="110000"/>
              </a:lnSpc>
              <a:buNone/>
            </a:pPr>
            <a:r>
              <a:rPr lang="en-US" sz="14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동반여행지</a:t>
            </a:r>
            <a:endParaRPr lang="en-US" sz="1400" dirty="0">
              <a:latin typeface="BM HANNA 11yrs old OTF" panose="020B0600000101010101" pitchFamily="34" charset="-127"/>
              <a:ea typeface="BM HANNA 11yrs old OTF" panose="020B0600000101010101" pitchFamily="34" charset="-127"/>
            </a:endParaRPr>
          </a:p>
          <a:p>
            <a:pPr marL="0" indent="0">
              <a:lnSpc>
                <a:spcPct val="110000"/>
              </a:lnSpc>
              <a:buNone/>
            </a:pPr>
            <a:r>
              <a:rPr lang="en-US" sz="14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조건 조회</a:t>
            </a:r>
            <a:endParaRPr lang="en-US" sz="1400" dirty="0">
              <a:latin typeface="BM HANNA 11yrs old OTF" panose="020B0600000101010101" pitchFamily="34" charset="-127"/>
              <a:ea typeface="BM HANNA 11yrs old OTF" panose="020B0600000101010101" pitchFamily="34" charset="-127"/>
            </a:endParaRPr>
          </a:p>
        </p:txBody>
      </p:sp>
      <p:sp>
        <p:nvSpPr>
          <p:cNvPr id="20" name="Text 17"/>
          <p:cNvSpPr/>
          <p:nvPr/>
        </p:nvSpPr>
        <p:spPr>
          <a:xfrm>
            <a:off x="5897880" y="5111496"/>
            <a:ext cx="5486400" cy="1143000"/>
          </a:xfrm>
          <a:prstGeom prst="rect">
            <a:avLst/>
          </a:prstGeom>
          <a:noFill/>
          <a:ln/>
        </p:spPr>
        <p:txBody>
          <a:bodyPr wrap="square" lIns="0" tIns="0" rIns="0" bIns="0" rtlCol="0" anchor="ctr"/>
          <a:lstStyle/>
          <a:p>
            <a:pPr marL="0" indent="0">
              <a:lnSpc>
                <a:spcPct val="120000"/>
              </a:lnSpc>
              <a:buNone/>
            </a:pPr>
            <a:r>
              <a:rPr lang="en-US" sz="1250" i="1" dirty="0">
                <a:solidFill>
                  <a:srgbClr val="22264A"/>
                </a:solidFill>
                <a:latin typeface="BM HANNA 11yrs old OTF" panose="020B0600000101010101" pitchFamily="34" charset="-127"/>
                <a:ea typeface="BM HANNA 11yrs old OTF" panose="020B0600000101010101" pitchFamily="34" charset="-127"/>
                <a:cs typeface="Calibri" pitchFamily="34" charset="-120"/>
              </a:rPr>
              <a:t>"성수동 근처에 반려견 동반 가능한 카페랑 숙소 어디 있어?"</a:t>
            </a:r>
            <a:endParaRPr lang="en-US" sz="1250" dirty="0">
              <a:latin typeface="BM HANNA 11yrs old OTF" panose="020B0600000101010101" pitchFamily="34" charset="-127"/>
              <a:ea typeface="BM HANNA 11yrs old OTF" panose="020B0600000101010101" pitchFamily="34" charset="-127"/>
            </a:endParaRPr>
          </a:p>
        </p:txBody>
      </p:sp>
      <p:sp>
        <p:nvSpPr>
          <p:cNvPr id="21" name="Text 18"/>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06</a:t>
            </a:r>
            <a:endParaRPr lang="en-US" sz="1000" dirty="0">
              <a:latin typeface="BM HANNA 11yrs old OTF" panose="020B0600000101010101" pitchFamily="34" charset="-127"/>
              <a:ea typeface="BM HANNA 11yrs old OTF" panose="020B0600000101010101" pitchFamily="34" charset="-127"/>
            </a:endParaRPr>
          </a:p>
        </p:txBody>
      </p:sp>
      <p:sp>
        <p:nvSpPr>
          <p:cNvPr id="22" name="Text 19"/>
          <p:cNvSpPr/>
          <p:nvPr/>
        </p:nvSpPr>
        <p:spPr>
          <a:xfrm>
            <a:off x="457200" y="6446520"/>
            <a:ext cx="3657600" cy="274320"/>
          </a:xfrm>
          <a:prstGeom prst="rect">
            <a:avLst/>
          </a:prstGeom>
          <a:noFill/>
          <a:ln/>
        </p:spPr>
        <p:txBody>
          <a:bodyPr wrap="square" lIns="0" tIns="0" rIns="0" bIns="0" rtlCol="0" anchor="ctr"/>
          <a:lstStyle/>
          <a:p>
            <a:pPr marL="0" indent="0" algn="l">
              <a:buNone/>
            </a:pPr>
            <a:r>
              <a:rPr lang="en-US" sz="9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함께갈개 · AI Agent 설계</a:t>
            </a:r>
            <a:endParaRPr lang="en-US" sz="900" dirty="0">
              <a:latin typeface="BM HANNA 11yrs old OTF" panose="020B0600000101010101" pitchFamily="34" charset="-127"/>
              <a:ea typeface="BM HANNA 11yrs old OTF" panose="020B0600000101010101" pitchFamily="34" charset="-127"/>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658368" cy="658368"/>
          </a:xfrm>
          <a:prstGeom prst="ellipse">
            <a:avLst/>
          </a:prstGeom>
          <a:solidFill>
            <a:srgbClr val="F96167"/>
          </a:solidFill>
          <a:ln/>
          <a:effectLst>
            <a:outerShdw blurRad="76200" dist="25400" dir="5400000" algn="bl" rotWithShape="0">
              <a:srgbClr val="888888">
                <a:alpha val="25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3" name="Image 0" descr="/home/claude/ppt_project/icons/bullseye.png"/>
          <p:cNvPicPr>
            <a:picLocks noChangeAspect="1"/>
          </p:cNvPicPr>
          <p:nvPr/>
        </p:nvPicPr>
        <p:blipFill>
          <a:blip r:embed="rId3"/>
          <a:stretch>
            <a:fillRect/>
          </a:stretch>
        </p:blipFill>
        <p:spPr>
          <a:xfrm>
            <a:off x="713232" y="594360"/>
            <a:ext cx="237744" cy="237744"/>
          </a:xfrm>
          <a:prstGeom prst="rect">
            <a:avLst/>
          </a:prstGeom>
        </p:spPr>
      </p:pic>
      <p:sp>
        <p:nvSpPr>
          <p:cNvPr id="4" name="Text 1"/>
          <p:cNvSpPr/>
          <p:nvPr/>
        </p:nvSpPr>
        <p:spPr>
          <a:xfrm>
            <a:off x="1325880" y="329184"/>
            <a:ext cx="9875520" cy="502920"/>
          </a:xfrm>
          <a:prstGeom prst="rect">
            <a:avLst/>
          </a:prstGeom>
          <a:noFill/>
          <a:ln/>
        </p:spPr>
        <p:txBody>
          <a:bodyPr wrap="square" lIns="0" tIns="0" rIns="0" bIns="0" rtlCol="0" anchor="ctr"/>
          <a:lstStyle/>
          <a:p>
            <a:pPr marL="0" indent="0" algn="l">
              <a:buNone/>
            </a:pPr>
            <a:r>
              <a:rPr lang="en-US" sz="27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성공 기준 (Definition of Done)</a:t>
            </a:r>
            <a:endParaRPr lang="en-US" sz="2700" dirty="0">
              <a:latin typeface="BM HANNA 11yrs old OTF" panose="020B0600000101010101" pitchFamily="34" charset="-127"/>
              <a:ea typeface="BM HANNA 11yrs old OTF" panose="020B0600000101010101" pitchFamily="34" charset="-127"/>
            </a:endParaRPr>
          </a:p>
        </p:txBody>
      </p:sp>
      <p:sp>
        <p:nvSpPr>
          <p:cNvPr id="5" name="Text 2"/>
          <p:cNvSpPr/>
          <p:nvPr/>
        </p:nvSpPr>
        <p:spPr>
          <a:xfrm>
            <a:off x="1325880" y="822960"/>
            <a:ext cx="9875520" cy="292608"/>
          </a:xfrm>
          <a:prstGeom prst="rect">
            <a:avLst/>
          </a:prstGeom>
          <a:noFill/>
          <a:ln/>
        </p:spPr>
        <p:txBody>
          <a:bodyPr wrap="square" lIns="0" tIns="0" rIns="0" bIns="0" rtlCol="0" anchor="ctr"/>
          <a:lstStyle/>
          <a:p>
            <a:pPr marL="0" indent="0" algn="l">
              <a:buNone/>
            </a:pPr>
            <a:r>
              <a:rPr lang="en-US" sz="1200" i="1" dirty="0">
                <a:solidFill>
                  <a:srgbClr val="6B6F8A"/>
                </a:solidFill>
                <a:latin typeface="BM HANNA 11yrs old OTF" panose="020B0600000101010101" pitchFamily="34" charset="-127"/>
                <a:ea typeface="BM HANNA 11yrs old OTF" panose="020B0600000101010101" pitchFamily="34" charset="-127"/>
                <a:cs typeface="Calibri" pitchFamily="34" charset="-120"/>
              </a:rPr>
              <a:t>1.4  "잘 동작한다"의 구체적 기준</a:t>
            </a:r>
            <a:endParaRPr lang="en-US" sz="1200" dirty="0">
              <a:latin typeface="BM HANNA 11yrs old OTF" panose="020B0600000101010101" pitchFamily="34" charset="-127"/>
              <a:ea typeface="BM HANNA 11yrs old OTF" panose="020B0600000101010101" pitchFamily="34" charset="-127"/>
            </a:endParaRPr>
          </a:p>
        </p:txBody>
      </p:sp>
      <p:sp>
        <p:nvSpPr>
          <p:cNvPr id="6" name="Shape 3"/>
          <p:cNvSpPr/>
          <p:nvPr/>
        </p:nvSpPr>
        <p:spPr>
          <a:xfrm>
            <a:off x="548640" y="1874520"/>
            <a:ext cx="2574036" cy="2788920"/>
          </a:xfrm>
          <a:prstGeom prst="roundRect">
            <a:avLst>
              <a:gd name="adj" fmla="val 3197"/>
            </a:avLst>
          </a:prstGeom>
          <a:solidFill>
            <a:srgbClr val="FFFFFF"/>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7" name="Shape 4"/>
          <p:cNvSpPr/>
          <p:nvPr/>
        </p:nvSpPr>
        <p:spPr>
          <a:xfrm>
            <a:off x="875538" y="2148840"/>
            <a:ext cx="1920240" cy="777240"/>
          </a:xfrm>
          <a:prstGeom prst="roundRect">
            <a:avLst>
              <a:gd name="adj" fmla="val 11765"/>
            </a:avLst>
          </a:prstGeom>
          <a:solidFill>
            <a:srgbClr val="F96167"/>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8" name="Text 5"/>
          <p:cNvSpPr/>
          <p:nvPr/>
        </p:nvSpPr>
        <p:spPr>
          <a:xfrm>
            <a:off x="875538" y="2148840"/>
            <a:ext cx="1920240" cy="777240"/>
          </a:xfrm>
          <a:prstGeom prst="rect">
            <a:avLst/>
          </a:prstGeom>
          <a:noFill/>
          <a:ln/>
        </p:spPr>
        <p:txBody>
          <a:bodyPr wrap="square" lIns="0" tIns="0" rIns="0" bIns="0" rtlCol="0" anchor="ctr"/>
          <a:lstStyle/>
          <a:p>
            <a:pPr marL="0" indent="0" algn="ctr">
              <a:buNone/>
            </a:pPr>
            <a:r>
              <a:rPr lang="en-US" sz="2000" b="1" dirty="0">
                <a:solidFill>
                  <a:srgbClr val="FFFFFF"/>
                </a:solidFill>
                <a:latin typeface="BM HANNA 11yrs old OTF" panose="020B0600000101010101" pitchFamily="34" charset="-127"/>
                <a:ea typeface="BM HANNA 11yrs old OTF" panose="020B0600000101010101" pitchFamily="34" charset="-127"/>
                <a:cs typeface="Cambria" pitchFamily="34" charset="-120"/>
              </a:rPr>
              <a:t>0건</a:t>
            </a:r>
            <a:endParaRPr lang="en-US" sz="2000" dirty="0">
              <a:latin typeface="BM HANNA 11yrs old OTF" panose="020B0600000101010101" pitchFamily="34" charset="-127"/>
              <a:ea typeface="BM HANNA 11yrs old OTF" panose="020B0600000101010101" pitchFamily="34" charset="-127"/>
            </a:endParaRPr>
          </a:p>
        </p:txBody>
      </p:sp>
      <p:sp>
        <p:nvSpPr>
          <p:cNvPr id="9" name="Text 6"/>
          <p:cNvSpPr/>
          <p:nvPr/>
        </p:nvSpPr>
        <p:spPr>
          <a:xfrm>
            <a:off x="685800" y="3063240"/>
            <a:ext cx="2299716" cy="384048"/>
          </a:xfrm>
          <a:prstGeom prst="rect">
            <a:avLst/>
          </a:prstGeom>
          <a:noFill/>
          <a:ln/>
        </p:spPr>
        <p:txBody>
          <a:bodyPr wrap="square" lIns="0" tIns="0" rIns="0" bIns="0" rtlCol="0" anchor="ctr"/>
          <a:lstStyle/>
          <a:p>
            <a:pPr marL="0" indent="0" algn="ctr">
              <a:buNone/>
            </a:pPr>
            <a:r>
              <a:rPr lang="en-US" sz="135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할루시네이션</a:t>
            </a:r>
            <a:endParaRPr lang="en-US" sz="1350" dirty="0">
              <a:latin typeface="BM HANNA 11yrs old OTF" panose="020B0600000101010101" pitchFamily="34" charset="-127"/>
              <a:ea typeface="BM HANNA 11yrs old OTF" panose="020B0600000101010101" pitchFamily="34" charset="-127"/>
            </a:endParaRPr>
          </a:p>
        </p:txBody>
      </p:sp>
      <p:sp>
        <p:nvSpPr>
          <p:cNvPr id="10" name="Text 7"/>
          <p:cNvSpPr/>
          <p:nvPr/>
        </p:nvSpPr>
        <p:spPr>
          <a:xfrm>
            <a:off x="713232" y="3502152"/>
            <a:ext cx="2244852" cy="1051560"/>
          </a:xfrm>
          <a:prstGeom prst="rect">
            <a:avLst/>
          </a:prstGeom>
          <a:noFill/>
          <a:ln/>
        </p:spPr>
        <p:txBody>
          <a:bodyPr wrap="square" lIns="0" tIns="0" rIns="0" bIns="0" rtlCol="0" anchor="ctr"/>
          <a:lstStyle/>
          <a:p>
            <a:pPr marL="0" indent="0" algn="ctr">
              <a:lnSpc>
                <a:spcPct val="120000"/>
              </a:lnSpc>
              <a:buNone/>
            </a:pPr>
            <a:r>
              <a:rPr lang="en-US" sz="10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Tool 응답에 없는 이름·연락처·위치 생성 0건</a:t>
            </a:r>
            <a:endParaRPr lang="en-US" sz="1050" dirty="0">
              <a:latin typeface="BM HANNA 11yrs old OTF" panose="020B0600000101010101" pitchFamily="34" charset="-127"/>
              <a:ea typeface="BM HANNA 11yrs old OTF" panose="020B0600000101010101" pitchFamily="34" charset="-127"/>
            </a:endParaRPr>
          </a:p>
        </p:txBody>
      </p:sp>
      <p:sp>
        <p:nvSpPr>
          <p:cNvPr id="11" name="Shape 8"/>
          <p:cNvSpPr/>
          <p:nvPr/>
        </p:nvSpPr>
        <p:spPr>
          <a:xfrm>
            <a:off x="3378708" y="1874520"/>
            <a:ext cx="2574036" cy="2788920"/>
          </a:xfrm>
          <a:prstGeom prst="roundRect">
            <a:avLst>
              <a:gd name="adj" fmla="val 3197"/>
            </a:avLst>
          </a:prstGeom>
          <a:solidFill>
            <a:srgbClr val="FFFFFF"/>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2" name="Shape 9"/>
          <p:cNvSpPr/>
          <p:nvPr/>
        </p:nvSpPr>
        <p:spPr>
          <a:xfrm>
            <a:off x="3705606" y="2148840"/>
            <a:ext cx="1920240" cy="777240"/>
          </a:xfrm>
          <a:prstGeom prst="roundRect">
            <a:avLst>
              <a:gd name="adj" fmla="val 11765"/>
            </a:avLst>
          </a:prstGeom>
          <a:solidFill>
            <a:srgbClr val="3AA6A0"/>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3" name="Text 10"/>
          <p:cNvSpPr/>
          <p:nvPr/>
        </p:nvSpPr>
        <p:spPr>
          <a:xfrm>
            <a:off x="3705606" y="2148840"/>
            <a:ext cx="1920240" cy="777240"/>
          </a:xfrm>
          <a:prstGeom prst="rect">
            <a:avLst/>
          </a:prstGeom>
          <a:noFill/>
          <a:ln/>
        </p:spPr>
        <p:txBody>
          <a:bodyPr wrap="square" lIns="0" tIns="0" rIns="0" bIns="0" rtlCol="0" anchor="ctr"/>
          <a:lstStyle/>
          <a:p>
            <a:pPr marL="0" indent="0" algn="ctr">
              <a:buNone/>
            </a:pPr>
            <a:r>
              <a:rPr lang="en-US" sz="2000" b="1" dirty="0">
                <a:solidFill>
                  <a:srgbClr val="FFFFFF"/>
                </a:solidFill>
                <a:latin typeface="BM HANNA 11yrs old OTF" panose="020B0600000101010101" pitchFamily="34" charset="-127"/>
                <a:ea typeface="BM HANNA 11yrs old OTF" panose="020B0600000101010101" pitchFamily="34" charset="-127"/>
                <a:cs typeface="Cambria" pitchFamily="34" charset="-120"/>
              </a:rPr>
              <a:t>8s/15s</a:t>
            </a:r>
            <a:endParaRPr lang="en-US" sz="2000" dirty="0">
              <a:latin typeface="BM HANNA 11yrs old OTF" panose="020B0600000101010101" pitchFamily="34" charset="-127"/>
              <a:ea typeface="BM HANNA 11yrs old OTF" panose="020B0600000101010101" pitchFamily="34" charset="-127"/>
            </a:endParaRPr>
          </a:p>
        </p:txBody>
      </p:sp>
      <p:sp>
        <p:nvSpPr>
          <p:cNvPr id="14" name="Text 11"/>
          <p:cNvSpPr/>
          <p:nvPr/>
        </p:nvSpPr>
        <p:spPr>
          <a:xfrm>
            <a:off x="3515868" y="3063240"/>
            <a:ext cx="2299716" cy="384048"/>
          </a:xfrm>
          <a:prstGeom prst="rect">
            <a:avLst/>
          </a:prstGeom>
          <a:noFill/>
          <a:ln/>
        </p:spPr>
        <p:txBody>
          <a:bodyPr wrap="square" lIns="0" tIns="0" rIns="0" bIns="0" rtlCol="0" anchor="ctr"/>
          <a:lstStyle/>
          <a:p>
            <a:pPr marL="0" indent="0" algn="ctr">
              <a:buNone/>
            </a:pPr>
            <a:r>
              <a:rPr lang="en-US" sz="135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응답 시간(p95)</a:t>
            </a:r>
            <a:endParaRPr lang="en-US" sz="1350" dirty="0">
              <a:latin typeface="BM HANNA 11yrs old OTF" panose="020B0600000101010101" pitchFamily="34" charset="-127"/>
              <a:ea typeface="BM HANNA 11yrs old OTF" panose="020B0600000101010101" pitchFamily="34" charset="-127"/>
            </a:endParaRPr>
          </a:p>
        </p:txBody>
      </p:sp>
      <p:sp>
        <p:nvSpPr>
          <p:cNvPr id="15" name="Text 12"/>
          <p:cNvSpPr/>
          <p:nvPr/>
        </p:nvSpPr>
        <p:spPr>
          <a:xfrm>
            <a:off x="3543300" y="3502152"/>
            <a:ext cx="2244852" cy="1051560"/>
          </a:xfrm>
          <a:prstGeom prst="rect">
            <a:avLst/>
          </a:prstGeom>
          <a:noFill/>
          <a:ln/>
        </p:spPr>
        <p:txBody>
          <a:bodyPr wrap="square" lIns="0" tIns="0" rIns="0" bIns="0" rtlCol="0" anchor="ctr"/>
          <a:lstStyle/>
          <a:p>
            <a:pPr marL="0" indent="0" algn="ctr">
              <a:lnSpc>
                <a:spcPct val="120000"/>
              </a:lnSpc>
              <a:buNone/>
            </a:pPr>
            <a:r>
              <a:rPr lang="en-US" sz="10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단일 검색 8초 · 종합 연동(fan-out) 15초</a:t>
            </a:r>
            <a:endParaRPr lang="en-US" sz="1050" dirty="0">
              <a:latin typeface="BM HANNA 11yrs old OTF" panose="020B0600000101010101" pitchFamily="34" charset="-127"/>
              <a:ea typeface="BM HANNA 11yrs old OTF" panose="020B0600000101010101" pitchFamily="34" charset="-127"/>
            </a:endParaRPr>
          </a:p>
        </p:txBody>
      </p:sp>
      <p:sp>
        <p:nvSpPr>
          <p:cNvPr id="16" name="Shape 13"/>
          <p:cNvSpPr/>
          <p:nvPr/>
        </p:nvSpPr>
        <p:spPr>
          <a:xfrm>
            <a:off x="6208776" y="1874520"/>
            <a:ext cx="2574036" cy="2788920"/>
          </a:xfrm>
          <a:prstGeom prst="roundRect">
            <a:avLst>
              <a:gd name="adj" fmla="val 3197"/>
            </a:avLst>
          </a:prstGeom>
          <a:solidFill>
            <a:srgbClr val="FFFFFF"/>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7" name="Shape 14"/>
          <p:cNvSpPr/>
          <p:nvPr/>
        </p:nvSpPr>
        <p:spPr>
          <a:xfrm>
            <a:off x="6535674" y="2148840"/>
            <a:ext cx="1920240" cy="777240"/>
          </a:xfrm>
          <a:prstGeom prst="roundRect">
            <a:avLst>
              <a:gd name="adj" fmla="val 11765"/>
            </a:avLst>
          </a:prstGeom>
          <a:solidFill>
            <a:srgbClr val="F5A623"/>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8" name="Text 15"/>
          <p:cNvSpPr/>
          <p:nvPr/>
        </p:nvSpPr>
        <p:spPr>
          <a:xfrm>
            <a:off x="6535674" y="2148840"/>
            <a:ext cx="1920240" cy="777240"/>
          </a:xfrm>
          <a:prstGeom prst="rect">
            <a:avLst/>
          </a:prstGeom>
          <a:noFill/>
          <a:ln/>
        </p:spPr>
        <p:txBody>
          <a:bodyPr wrap="square" lIns="0" tIns="0" rIns="0" bIns="0" rtlCol="0" anchor="ctr"/>
          <a:lstStyle/>
          <a:p>
            <a:pPr marL="0" indent="0" algn="ctr">
              <a:buNone/>
            </a:pPr>
            <a:r>
              <a:rPr lang="en-US" sz="2000" b="1" dirty="0">
                <a:solidFill>
                  <a:srgbClr val="FFFFFF"/>
                </a:solidFill>
                <a:latin typeface="BM HANNA 11yrs old OTF" panose="020B0600000101010101" pitchFamily="34" charset="-127"/>
                <a:ea typeface="BM HANNA 11yrs old OTF" panose="020B0600000101010101" pitchFamily="34" charset="-127"/>
                <a:cs typeface="Cambria" pitchFamily="34" charset="-120"/>
              </a:rPr>
              <a:t>90%+</a:t>
            </a:r>
            <a:endParaRPr lang="en-US" sz="2000" dirty="0">
              <a:latin typeface="BM HANNA 11yrs old OTF" panose="020B0600000101010101" pitchFamily="34" charset="-127"/>
              <a:ea typeface="BM HANNA 11yrs old OTF" panose="020B0600000101010101" pitchFamily="34" charset="-127"/>
            </a:endParaRPr>
          </a:p>
        </p:txBody>
      </p:sp>
      <p:sp>
        <p:nvSpPr>
          <p:cNvPr id="19" name="Text 16"/>
          <p:cNvSpPr/>
          <p:nvPr/>
        </p:nvSpPr>
        <p:spPr>
          <a:xfrm>
            <a:off x="6345936" y="3063240"/>
            <a:ext cx="2299716" cy="384048"/>
          </a:xfrm>
          <a:prstGeom prst="rect">
            <a:avLst/>
          </a:prstGeom>
          <a:noFill/>
          <a:ln/>
        </p:spPr>
        <p:txBody>
          <a:bodyPr wrap="square" lIns="0" tIns="0" rIns="0" bIns="0" rtlCol="0" anchor="ctr"/>
          <a:lstStyle/>
          <a:p>
            <a:pPr marL="0" indent="0" algn="ctr">
              <a:buNone/>
            </a:pPr>
            <a:r>
              <a:rPr lang="en-US" sz="135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Tool 선택 정확도</a:t>
            </a:r>
            <a:endParaRPr lang="en-US" sz="1350" dirty="0">
              <a:latin typeface="BM HANNA 11yrs old OTF" panose="020B0600000101010101" pitchFamily="34" charset="-127"/>
              <a:ea typeface="BM HANNA 11yrs old OTF" panose="020B0600000101010101" pitchFamily="34" charset="-127"/>
            </a:endParaRPr>
          </a:p>
        </p:txBody>
      </p:sp>
      <p:sp>
        <p:nvSpPr>
          <p:cNvPr id="20" name="Text 17"/>
          <p:cNvSpPr/>
          <p:nvPr/>
        </p:nvSpPr>
        <p:spPr>
          <a:xfrm>
            <a:off x="6373368" y="3502152"/>
            <a:ext cx="2244852" cy="1051560"/>
          </a:xfrm>
          <a:prstGeom prst="rect">
            <a:avLst/>
          </a:prstGeom>
          <a:noFill/>
          <a:ln/>
        </p:spPr>
        <p:txBody>
          <a:bodyPr wrap="square" lIns="0" tIns="0" rIns="0" bIns="0" rtlCol="0" anchor="ctr"/>
          <a:lstStyle/>
          <a:p>
            <a:pPr marL="0" indent="0" algn="ctr">
              <a:lnSpc>
                <a:spcPct val="120000"/>
              </a:lnSpc>
              <a:buNone/>
            </a:pPr>
            <a:r>
              <a:rPr lang="en-US" sz="10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의도별 고정 입력 30개 세트 기준</a:t>
            </a:r>
            <a:endParaRPr lang="en-US" sz="1050" dirty="0">
              <a:latin typeface="BM HANNA 11yrs old OTF" panose="020B0600000101010101" pitchFamily="34" charset="-127"/>
              <a:ea typeface="BM HANNA 11yrs old OTF" panose="020B0600000101010101" pitchFamily="34" charset="-127"/>
            </a:endParaRPr>
          </a:p>
        </p:txBody>
      </p:sp>
      <p:sp>
        <p:nvSpPr>
          <p:cNvPr id="21" name="Shape 18"/>
          <p:cNvSpPr/>
          <p:nvPr/>
        </p:nvSpPr>
        <p:spPr>
          <a:xfrm>
            <a:off x="9038844" y="1874520"/>
            <a:ext cx="2574036" cy="2788920"/>
          </a:xfrm>
          <a:prstGeom prst="roundRect">
            <a:avLst>
              <a:gd name="adj" fmla="val 3197"/>
            </a:avLst>
          </a:prstGeom>
          <a:solidFill>
            <a:srgbClr val="FFFFFF"/>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22" name="Shape 19"/>
          <p:cNvSpPr/>
          <p:nvPr/>
        </p:nvSpPr>
        <p:spPr>
          <a:xfrm>
            <a:off x="9365742" y="2148840"/>
            <a:ext cx="1920240" cy="777240"/>
          </a:xfrm>
          <a:prstGeom prst="roundRect">
            <a:avLst>
              <a:gd name="adj" fmla="val 11765"/>
            </a:avLst>
          </a:prstGeom>
          <a:solidFill>
            <a:srgbClr val="2F3C7E"/>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23" name="Text 20"/>
          <p:cNvSpPr/>
          <p:nvPr/>
        </p:nvSpPr>
        <p:spPr>
          <a:xfrm>
            <a:off x="9365742" y="2148840"/>
            <a:ext cx="1920240" cy="777240"/>
          </a:xfrm>
          <a:prstGeom prst="rect">
            <a:avLst/>
          </a:prstGeom>
          <a:noFill/>
          <a:ln/>
        </p:spPr>
        <p:txBody>
          <a:bodyPr wrap="square" lIns="0" tIns="0" rIns="0" bIns="0" rtlCol="0" anchor="ctr"/>
          <a:lstStyle/>
          <a:p>
            <a:pPr marL="0" indent="0" algn="ctr">
              <a:buNone/>
            </a:pPr>
            <a:r>
              <a:rPr lang="en-US" sz="2000" b="1" dirty="0">
                <a:solidFill>
                  <a:srgbClr val="FFFFFF"/>
                </a:solidFill>
                <a:latin typeface="BM HANNA 11yrs old OTF" panose="020B0600000101010101" pitchFamily="34" charset="-127"/>
                <a:ea typeface="BM HANNA 11yrs old OTF" panose="020B0600000101010101" pitchFamily="34" charset="-127"/>
                <a:cs typeface="Cambria" pitchFamily="34" charset="-120"/>
              </a:rPr>
              <a:t>99%+</a:t>
            </a:r>
            <a:endParaRPr lang="en-US" sz="2000" dirty="0">
              <a:latin typeface="BM HANNA 11yrs old OTF" panose="020B0600000101010101" pitchFamily="34" charset="-127"/>
              <a:ea typeface="BM HANNA 11yrs old OTF" panose="020B0600000101010101" pitchFamily="34" charset="-127"/>
            </a:endParaRPr>
          </a:p>
        </p:txBody>
      </p:sp>
      <p:sp>
        <p:nvSpPr>
          <p:cNvPr id="24" name="Text 21"/>
          <p:cNvSpPr/>
          <p:nvPr/>
        </p:nvSpPr>
        <p:spPr>
          <a:xfrm>
            <a:off x="9176004" y="3063240"/>
            <a:ext cx="2299716" cy="384048"/>
          </a:xfrm>
          <a:prstGeom prst="rect">
            <a:avLst/>
          </a:prstGeom>
          <a:noFill/>
          <a:ln/>
        </p:spPr>
        <p:txBody>
          <a:bodyPr wrap="square" lIns="0" tIns="0" rIns="0" bIns="0" rtlCol="0" anchor="ctr"/>
          <a:lstStyle/>
          <a:p>
            <a:pPr marL="0" indent="0" algn="ctr">
              <a:buNone/>
            </a:pPr>
            <a:r>
              <a:rPr lang="en-US" sz="135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Guardrail 차단율</a:t>
            </a:r>
            <a:endParaRPr lang="en-US" sz="1350" dirty="0">
              <a:latin typeface="BM HANNA 11yrs old OTF" panose="020B0600000101010101" pitchFamily="34" charset="-127"/>
              <a:ea typeface="BM HANNA 11yrs old OTF" panose="020B0600000101010101" pitchFamily="34" charset="-127"/>
            </a:endParaRPr>
          </a:p>
        </p:txBody>
      </p:sp>
      <p:sp>
        <p:nvSpPr>
          <p:cNvPr id="25" name="Text 22"/>
          <p:cNvSpPr/>
          <p:nvPr/>
        </p:nvSpPr>
        <p:spPr>
          <a:xfrm>
            <a:off x="9203436" y="3502152"/>
            <a:ext cx="2244852" cy="1051560"/>
          </a:xfrm>
          <a:prstGeom prst="rect">
            <a:avLst/>
          </a:prstGeom>
          <a:noFill/>
          <a:ln/>
        </p:spPr>
        <p:txBody>
          <a:bodyPr wrap="square" lIns="0" tIns="0" rIns="0" bIns="0" rtlCol="0" anchor="ctr"/>
          <a:lstStyle/>
          <a:p>
            <a:pPr marL="0" indent="0" algn="ctr">
              <a:lnSpc>
                <a:spcPct val="120000"/>
              </a:lnSpc>
              <a:buNone/>
            </a:pPr>
            <a:r>
              <a:rPr lang="en-US" sz="10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정상 입력 오탐 1건 이하</a:t>
            </a:r>
            <a:endParaRPr lang="en-US" sz="1050" dirty="0">
              <a:latin typeface="BM HANNA 11yrs old OTF" panose="020B0600000101010101" pitchFamily="34" charset="-127"/>
              <a:ea typeface="BM HANNA 11yrs old OTF" panose="020B0600000101010101" pitchFamily="34" charset="-127"/>
            </a:endParaRPr>
          </a:p>
        </p:txBody>
      </p:sp>
      <p:sp>
        <p:nvSpPr>
          <p:cNvPr id="26" name="Shape 23"/>
          <p:cNvSpPr/>
          <p:nvPr/>
        </p:nvSpPr>
        <p:spPr>
          <a:xfrm>
            <a:off x="548640" y="4983480"/>
            <a:ext cx="11064240" cy="960120"/>
          </a:xfrm>
          <a:prstGeom prst="roundRect">
            <a:avLst>
              <a:gd name="adj" fmla="val 8571"/>
            </a:avLst>
          </a:prstGeom>
          <a:solidFill>
            <a:srgbClr val="FFF4DC"/>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27" name="Text 24"/>
          <p:cNvSpPr/>
          <p:nvPr/>
        </p:nvSpPr>
        <p:spPr>
          <a:xfrm>
            <a:off x="868680" y="4983480"/>
            <a:ext cx="10424160" cy="960120"/>
          </a:xfrm>
          <a:prstGeom prst="rect">
            <a:avLst/>
          </a:prstGeom>
          <a:noFill/>
          <a:ln/>
        </p:spPr>
        <p:txBody>
          <a:bodyPr wrap="square" lIns="0" tIns="0" rIns="0" bIns="0" rtlCol="0" anchor="ctr"/>
          <a:lstStyle/>
          <a:p>
            <a:pPr marL="0" indent="0">
              <a:buNone/>
            </a:pPr>
            <a:r>
              <a:rPr lang="en-US" sz="1300" b="1" dirty="0">
                <a:solidFill>
                  <a:srgbClr val="1E2761"/>
                </a:solidFill>
                <a:latin typeface="BM HANNA 11yrs old OTF" panose="020B0600000101010101" pitchFamily="34" charset="-127"/>
                <a:ea typeface="BM HANNA 11yrs old OTF" panose="020B0600000101010101" pitchFamily="34" charset="-127"/>
                <a:cs typeface="Calibri" pitchFamily="34" charset="-120"/>
              </a:rPr>
              <a:t>안정성 기준:  </a:t>
            </a:r>
            <a:r>
              <a:rPr lang="en-US" sz="13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종결 공고·폐업 시설 노출 0건 / 결과 0건일 때 대안(인접 시군구·카테고리 확대) 안내 비율 100%</a:t>
            </a:r>
            <a:endParaRPr lang="en-US" sz="1300" dirty="0">
              <a:latin typeface="BM HANNA 11yrs old OTF" panose="020B0600000101010101" pitchFamily="34" charset="-127"/>
              <a:ea typeface="BM HANNA 11yrs old OTF" panose="020B0600000101010101" pitchFamily="34" charset="-127"/>
            </a:endParaRPr>
          </a:p>
        </p:txBody>
      </p:sp>
      <p:sp>
        <p:nvSpPr>
          <p:cNvPr id="28" name="Text 25"/>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07</a:t>
            </a:r>
            <a:endParaRPr lang="en-US" sz="1000" dirty="0">
              <a:latin typeface="BM HANNA 11yrs old OTF" panose="020B0600000101010101" pitchFamily="34" charset="-127"/>
              <a:ea typeface="BM HANNA 11yrs old OTF" panose="020B0600000101010101" pitchFamily="34" charset="-127"/>
            </a:endParaRPr>
          </a:p>
        </p:txBody>
      </p:sp>
      <p:sp>
        <p:nvSpPr>
          <p:cNvPr id="29" name="Text 26"/>
          <p:cNvSpPr/>
          <p:nvPr/>
        </p:nvSpPr>
        <p:spPr>
          <a:xfrm>
            <a:off x="457200" y="6446520"/>
            <a:ext cx="3657600" cy="274320"/>
          </a:xfrm>
          <a:prstGeom prst="rect">
            <a:avLst/>
          </a:prstGeom>
          <a:noFill/>
          <a:ln/>
        </p:spPr>
        <p:txBody>
          <a:bodyPr wrap="square" lIns="0" tIns="0" rIns="0" bIns="0" rtlCol="0" anchor="ctr"/>
          <a:lstStyle/>
          <a:p>
            <a:pPr marL="0" indent="0" algn="l">
              <a:buNone/>
            </a:pPr>
            <a:r>
              <a:rPr lang="en-US" sz="9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함께갈개 · AI Agent 설계</a:t>
            </a:r>
            <a:endParaRPr lang="en-US" sz="900" dirty="0">
              <a:latin typeface="BM HANNA 11yrs old OTF" panose="020B0600000101010101" pitchFamily="34" charset="-127"/>
              <a:ea typeface="BM HANNA 11yrs old OTF" panose="020B0600000101010101" pitchFamily="34" charset="-127"/>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658368" cy="658368"/>
          </a:xfrm>
          <a:prstGeom prst="ellipse">
            <a:avLst/>
          </a:prstGeom>
          <a:solidFill>
            <a:srgbClr val="F96167"/>
          </a:solidFill>
          <a:ln/>
          <a:effectLst>
            <a:outerShdw blurRad="76200" dist="25400" dir="5400000" algn="bl" rotWithShape="0">
              <a:srgbClr val="888888">
                <a:alpha val="25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3" name="Image 0" descr="/home/claude/ppt_project/icons/lock.png"/>
          <p:cNvPicPr>
            <a:picLocks noChangeAspect="1"/>
          </p:cNvPicPr>
          <p:nvPr/>
        </p:nvPicPr>
        <p:blipFill>
          <a:blip r:embed="rId3"/>
          <a:stretch>
            <a:fillRect/>
          </a:stretch>
        </p:blipFill>
        <p:spPr>
          <a:xfrm>
            <a:off x="713232" y="594360"/>
            <a:ext cx="237744" cy="237744"/>
          </a:xfrm>
          <a:prstGeom prst="rect">
            <a:avLst/>
          </a:prstGeom>
        </p:spPr>
      </p:pic>
      <p:sp>
        <p:nvSpPr>
          <p:cNvPr id="4" name="Text 1"/>
          <p:cNvSpPr/>
          <p:nvPr/>
        </p:nvSpPr>
        <p:spPr>
          <a:xfrm>
            <a:off x="1325880" y="329184"/>
            <a:ext cx="9875520" cy="502920"/>
          </a:xfrm>
          <a:prstGeom prst="rect">
            <a:avLst/>
          </a:prstGeom>
          <a:noFill/>
          <a:ln/>
        </p:spPr>
        <p:txBody>
          <a:bodyPr wrap="square" lIns="0" tIns="0" rIns="0" bIns="0" rtlCol="0" anchor="ctr"/>
          <a:lstStyle/>
          <a:p>
            <a:pPr marL="0" indent="0" algn="l">
              <a:buNone/>
            </a:pPr>
            <a:r>
              <a:rPr lang="en-US" sz="27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설계 제약 및 고려사항</a:t>
            </a:r>
            <a:endParaRPr lang="en-US" sz="2700" dirty="0">
              <a:latin typeface="BM HANNA 11yrs old OTF" panose="020B0600000101010101" pitchFamily="34" charset="-127"/>
              <a:ea typeface="BM HANNA 11yrs old OTF" panose="020B0600000101010101" pitchFamily="34" charset="-127"/>
            </a:endParaRPr>
          </a:p>
        </p:txBody>
      </p:sp>
      <p:sp>
        <p:nvSpPr>
          <p:cNvPr id="5" name="Text 2"/>
          <p:cNvSpPr/>
          <p:nvPr/>
        </p:nvSpPr>
        <p:spPr>
          <a:xfrm>
            <a:off x="1325880" y="822960"/>
            <a:ext cx="9875520" cy="292608"/>
          </a:xfrm>
          <a:prstGeom prst="rect">
            <a:avLst/>
          </a:prstGeom>
          <a:noFill/>
          <a:ln/>
        </p:spPr>
        <p:txBody>
          <a:bodyPr wrap="square" lIns="0" tIns="0" rIns="0" bIns="0" rtlCol="0" anchor="ctr"/>
          <a:lstStyle/>
          <a:p>
            <a:pPr marL="0" indent="0" algn="l">
              <a:buNone/>
            </a:pPr>
            <a:r>
              <a:rPr lang="en-US" sz="1200" i="1" dirty="0">
                <a:solidFill>
                  <a:srgbClr val="6B6F8A"/>
                </a:solidFill>
                <a:latin typeface="BM HANNA 11yrs old OTF" panose="020B0600000101010101" pitchFamily="34" charset="-127"/>
                <a:ea typeface="BM HANNA 11yrs old OTF" panose="020B0600000101010101" pitchFamily="34" charset="-127"/>
                <a:cs typeface="Calibri" pitchFamily="34" charset="-120"/>
              </a:rPr>
              <a:t>1.5  기술 · 보안 · 성능 · 안정성</a:t>
            </a:r>
            <a:endParaRPr lang="en-US" sz="1200" dirty="0">
              <a:latin typeface="BM HANNA 11yrs old OTF" panose="020B0600000101010101" pitchFamily="34" charset="-127"/>
              <a:ea typeface="BM HANNA 11yrs old OTF" panose="020B0600000101010101" pitchFamily="34" charset="-127"/>
            </a:endParaRPr>
          </a:p>
        </p:txBody>
      </p:sp>
      <p:sp>
        <p:nvSpPr>
          <p:cNvPr id="6" name="Shape 3"/>
          <p:cNvSpPr/>
          <p:nvPr/>
        </p:nvSpPr>
        <p:spPr>
          <a:xfrm>
            <a:off x="548640" y="1737360"/>
            <a:ext cx="5372100" cy="1965960"/>
          </a:xfrm>
          <a:prstGeom prst="roundRect">
            <a:avLst>
              <a:gd name="adj" fmla="val 4186"/>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7" name="Shape 4"/>
          <p:cNvSpPr/>
          <p:nvPr/>
        </p:nvSpPr>
        <p:spPr>
          <a:xfrm>
            <a:off x="822960" y="1993392"/>
            <a:ext cx="502920" cy="502920"/>
          </a:xfrm>
          <a:prstGeom prst="ellipse">
            <a:avLst/>
          </a:prstGeom>
          <a:solidFill>
            <a:srgbClr val="2F3C7E"/>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8" name="Image 1" descr="/home/claude/ppt_project/icons/robot.png"/>
          <p:cNvPicPr>
            <a:picLocks noChangeAspect="1"/>
          </p:cNvPicPr>
          <p:nvPr/>
        </p:nvPicPr>
        <p:blipFill>
          <a:blip r:embed="rId4"/>
          <a:stretch>
            <a:fillRect/>
          </a:stretch>
        </p:blipFill>
        <p:spPr>
          <a:xfrm>
            <a:off x="958748" y="2129180"/>
            <a:ext cx="231343" cy="231343"/>
          </a:xfrm>
          <a:prstGeom prst="rect">
            <a:avLst/>
          </a:prstGeom>
        </p:spPr>
      </p:pic>
      <p:sp>
        <p:nvSpPr>
          <p:cNvPr id="9" name="Text 5"/>
          <p:cNvSpPr/>
          <p:nvPr/>
        </p:nvSpPr>
        <p:spPr>
          <a:xfrm>
            <a:off x="1508760" y="2029968"/>
            <a:ext cx="4183380" cy="457200"/>
          </a:xfrm>
          <a:prstGeom prst="rect">
            <a:avLst/>
          </a:prstGeom>
          <a:noFill/>
          <a:ln/>
        </p:spPr>
        <p:txBody>
          <a:bodyPr wrap="square" lIns="0" tIns="0" rIns="0" bIns="0" rtlCol="0" anchor="ctr"/>
          <a:lstStyle/>
          <a:p>
            <a:pPr marL="0" indent="0">
              <a:buNone/>
            </a:pPr>
            <a:r>
              <a:rPr lang="en-US" sz="16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기술</a:t>
            </a:r>
            <a:endParaRPr lang="en-US" sz="1600" dirty="0">
              <a:latin typeface="BM HANNA 11yrs old OTF" panose="020B0600000101010101" pitchFamily="34" charset="-127"/>
              <a:ea typeface="BM HANNA 11yrs old OTF" panose="020B0600000101010101" pitchFamily="34" charset="-127"/>
            </a:endParaRPr>
          </a:p>
        </p:txBody>
      </p:sp>
      <p:sp>
        <p:nvSpPr>
          <p:cNvPr id="10" name="Text 6"/>
          <p:cNvSpPr/>
          <p:nvPr/>
        </p:nvSpPr>
        <p:spPr>
          <a:xfrm>
            <a:off x="868680" y="2651760"/>
            <a:ext cx="4777740" cy="868680"/>
          </a:xfrm>
          <a:prstGeom prst="rect">
            <a:avLst/>
          </a:prstGeom>
          <a:noFill/>
          <a:ln/>
        </p:spPr>
        <p:txBody>
          <a:bodyPr wrap="square" lIns="0" tIns="0" rIns="0" bIns="0" rtlCol="0" anchor="t"/>
          <a:lstStyle/>
          <a:p>
            <a:pPr marL="177800" indent="-177800">
              <a:lnSpc>
                <a:spcPct val="115000"/>
              </a:lnSpc>
              <a:spcAft>
                <a:spcPts val="800"/>
              </a:spcAft>
              <a:buSzPct val="100000"/>
              <a:buChar char="•"/>
            </a:pPr>
            <a:r>
              <a:rPr lang="en-US" sz="12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GPT-5-mini(오케스트레이터) + GPT-5-nano(분류기)</a:t>
            </a:r>
            <a:endParaRPr lang="en-US" sz="1200" dirty="0">
              <a:latin typeface="BM HANNA 11yrs old OTF" panose="020B0600000101010101" pitchFamily="34" charset="-127"/>
              <a:ea typeface="BM HANNA 11yrs old OTF" panose="020B0600000101010101" pitchFamily="34" charset="-127"/>
            </a:endParaRPr>
          </a:p>
          <a:p>
            <a:pPr marL="177800" indent="-177800">
              <a:lnSpc>
                <a:spcPct val="115000"/>
              </a:lnSpc>
              <a:spcAft>
                <a:spcPts val="800"/>
              </a:spcAft>
              <a:buSzPct val="100000"/>
              <a:buChar char="•"/>
            </a:pPr>
            <a:r>
              <a:rPr lang="en-US" sz="12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SummarizationMiddleware로 멀티턴 토큰 압축</a:t>
            </a:r>
            <a:endParaRPr lang="en-US" sz="1200" dirty="0">
              <a:latin typeface="BM HANNA 11yrs old OTF" panose="020B0600000101010101" pitchFamily="34" charset="-127"/>
              <a:ea typeface="BM HANNA 11yrs old OTF" panose="020B0600000101010101" pitchFamily="34" charset="-127"/>
            </a:endParaRPr>
          </a:p>
        </p:txBody>
      </p:sp>
      <p:sp>
        <p:nvSpPr>
          <p:cNvPr id="11" name="Shape 7"/>
          <p:cNvSpPr/>
          <p:nvPr/>
        </p:nvSpPr>
        <p:spPr>
          <a:xfrm>
            <a:off x="6240780" y="1737360"/>
            <a:ext cx="5372100" cy="1965960"/>
          </a:xfrm>
          <a:prstGeom prst="roundRect">
            <a:avLst>
              <a:gd name="adj" fmla="val 4186"/>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2" name="Shape 8"/>
          <p:cNvSpPr/>
          <p:nvPr/>
        </p:nvSpPr>
        <p:spPr>
          <a:xfrm>
            <a:off x="6515100" y="1993392"/>
            <a:ext cx="502920" cy="502920"/>
          </a:xfrm>
          <a:prstGeom prst="ellipse">
            <a:avLst/>
          </a:prstGeom>
          <a:solidFill>
            <a:srgbClr val="F96167"/>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13" name="Image 2" descr="/home/claude/ppt_project/icons/lock.png"/>
          <p:cNvPicPr>
            <a:picLocks noChangeAspect="1"/>
          </p:cNvPicPr>
          <p:nvPr/>
        </p:nvPicPr>
        <p:blipFill>
          <a:blip r:embed="rId3"/>
          <a:stretch>
            <a:fillRect/>
          </a:stretch>
        </p:blipFill>
        <p:spPr>
          <a:xfrm>
            <a:off x="6650888" y="2129180"/>
            <a:ext cx="231343" cy="231343"/>
          </a:xfrm>
          <a:prstGeom prst="rect">
            <a:avLst/>
          </a:prstGeom>
        </p:spPr>
      </p:pic>
      <p:sp>
        <p:nvSpPr>
          <p:cNvPr id="14" name="Text 9"/>
          <p:cNvSpPr/>
          <p:nvPr/>
        </p:nvSpPr>
        <p:spPr>
          <a:xfrm>
            <a:off x="7200900" y="2029968"/>
            <a:ext cx="4183380" cy="457200"/>
          </a:xfrm>
          <a:prstGeom prst="rect">
            <a:avLst/>
          </a:prstGeom>
          <a:noFill/>
          <a:ln/>
        </p:spPr>
        <p:txBody>
          <a:bodyPr wrap="square" lIns="0" tIns="0" rIns="0" bIns="0" rtlCol="0" anchor="ctr"/>
          <a:lstStyle/>
          <a:p>
            <a:pPr marL="0" indent="0">
              <a:buNone/>
            </a:pPr>
            <a:r>
              <a:rPr lang="en-US" sz="16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보안</a:t>
            </a:r>
            <a:endParaRPr lang="en-US" sz="1600" dirty="0">
              <a:latin typeface="BM HANNA 11yrs old OTF" panose="020B0600000101010101" pitchFamily="34" charset="-127"/>
              <a:ea typeface="BM HANNA 11yrs old OTF" panose="020B0600000101010101" pitchFamily="34" charset="-127"/>
            </a:endParaRPr>
          </a:p>
        </p:txBody>
      </p:sp>
      <p:sp>
        <p:nvSpPr>
          <p:cNvPr id="15" name="Text 10"/>
          <p:cNvSpPr/>
          <p:nvPr/>
        </p:nvSpPr>
        <p:spPr>
          <a:xfrm>
            <a:off x="6560820" y="2651760"/>
            <a:ext cx="4777740" cy="868680"/>
          </a:xfrm>
          <a:prstGeom prst="rect">
            <a:avLst/>
          </a:prstGeom>
          <a:noFill/>
          <a:ln/>
        </p:spPr>
        <p:txBody>
          <a:bodyPr wrap="square" lIns="0" tIns="0" rIns="0" bIns="0" rtlCol="0" anchor="t"/>
          <a:lstStyle/>
          <a:p>
            <a:pPr marL="177800" indent="-177800">
              <a:lnSpc>
                <a:spcPct val="115000"/>
              </a:lnSpc>
              <a:spcAft>
                <a:spcPts val="800"/>
              </a:spcAft>
              <a:buSzPct val="100000"/>
              <a:buChar char="•"/>
            </a:pPr>
            <a:r>
              <a:rPr lang="en-US" sz="12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공공 API 인증키는 서버 환경변수로만 관리</a:t>
            </a:r>
            <a:endParaRPr lang="en-US" sz="1200" dirty="0">
              <a:latin typeface="BM HANNA 11yrs old OTF" panose="020B0600000101010101" pitchFamily="34" charset="-127"/>
              <a:ea typeface="BM HANNA 11yrs old OTF" panose="020B0600000101010101" pitchFamily="34" charset="-127"/>
            </a:endParaRPr>
          </a:p>
          <a:p>
            <a:pPr marL="177800" indent="-177800">
              <a:lnSpc>
                <a:spcPct val="115000"/>
              </a:lnSpc>
              <a:spcAft>
                <a:spcPts val="800"/>
              </a:spcAft>
              <a:buSzPct val="100000"/>
              <a:buChar char="•"/>
            </a:pPr>
            <a:r>
              <a:rPr lang="en-US" sz="12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응답 스키마 검증 후 사용, 개인정보 최소 수집</a:t>
            </a:r>
            <a:endParaRPr lang="en-US" sz="1200" dirty="0">
              <a:latin typeface="BM HANNA 11yrs old OTF" panose="020B0600000101010101" pitchFamily="34" charset="-127"/>
              <a:ea typeface="BM HANNA 11yrs old OTF" panose="020B0600000101010101" pitchFamily="34" charset="-127"/>
            </a:endParaRPr>
          </a:p>
        </p:txBody>
      </p:sp>
      <p:sp>
        <p:nvSpPr>
          <p:cNvPr id="16" name="Shape 11"/>
          <p:cNvSpPr/>
          <p:nvPr/>
        </p:nvSpPr>
        <p:spPr>
          <a:xfrm>
            <a:off x="548640" y="3977640"/>
            <a:ext cx="5372100" cy="1965960"/>
          </a:xfrm>
          <a:prstGeom prst="roundRect">
            <a:avLst>
              <a:gd name="adj" fmla="val 4186"/>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7" name="Shape 12"/>
          <p:cNvSpPr/>
          <p:nvPr/>
        </p:nvSpPr>
        <p:spPr>
          <a:xfrm>
            <a:off x="822960" y="4233672"/>
            <a:ext cx="502920" cy="502920"/>
          </a:xfrm>
          <a:prstGeom prst="ellipse">
            <a:avLst/>
          </a:prstGeom>
          <a:solidFill>
            <a:srgbClr val="F5A623"/>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18" name="Image 3" descr="/home/claude/ppt_project/icons/bolt.png"/>
          <p:cNvPicPr>
            <a:picLocks noChangeAspect="1"/>
          </p:cNvPicPr>
          <p:nvPr/>
        </p:nvPicPr>
        <p:blipFill>
          <a:blip r:embed="rId5"/>
          <a:stretch>
            <a:fillRect/>
          </a:stretch>
        </p:blipFill>
        <p:spPr>
          <a:xfrm>
            <a:off x="958748" y="4369460"/>
            <a:ext cx="231343" cy="231343"/>
          </a:xfrm>
          <a:prstGeom prst="rect">
            <a:avLst/>
          </a:prstGeom>
        </p:spPr>
      </p:pic>
      <p:sp>
        <p:nvSpPr>
          <p:cNvPr id="19" name="Text 13"/>
          <p:cNvSpPr/>
          <p:nvPr/>
        </p:nvSpPr>
        <p:spPr>
          <a:xfrm>
            <a:off x="1508760" y="4270248"/>
            <a:ext cx="4183380" cy="457200"/>
          </a:xfrm>
          <a:prstGeom prst="rect">
            <a:avLst/>
          </a:prstGeom>
          <a:noFill/>
          <a:ln/>
        </p:spPr>
        <p:txBody>
          <a:bodyPr wrap="square" lIns="0" tIns="0" rIns="0" bIns="0" rtlCol="0" anchor="ctr"/>
          <a:lstStyle/>
          <a:p>
            <a:pPr marL="0" indent="0">
              <a:buNone/>
            </a:pPr>
            <a:r>
              <a:rPr lang="en-US" sz="16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성능</a:t>
            </a:r>
            <a:endParaRPr lang="en-US" sz="1600" dirty="0">
              <a:latin typeface="BM HANNA 11yrs old OTF" panose="020B0600000101010101" pitchFamily="34" charset="-127"/>
              <a:ea typeface="BM HANNA 11yrs old OTF" panose="020B0600000101010101" pitchFamily="34" charset="-127"/>
            </a:endParaRPr>
          </a:p>
        </p:txBody>
      </p:sp>
      <p:sp>
        <p:nvSpPr>
          <p:cNvPr id="20" name="Text 14"/>
          <p:cNvSpPr/>
          <p:nvPr/>
        </p:nvSpPr>
        <p:spPr>
          <a:xfrm>
            <a:off x="868680" y="4892040"/>
            <a:ext cx="4777740" cy="868680"/>
          </a:xfrm>
          <a:prstGeom prst="rect">
            <a:avLst/>
          </a:prstGeom>
          <a:noFill/>
          <a:ln/>
        </p:spPr>
        <p:txBody>
          <a:bodyPr wrap="square" lIns="0" tIns="0" rIns="0" bIns="0" rtlCol="0" anchor="t"/>
          <a:lstStyle/>
          <a:p>
            <a:pPr marL="177800" indent="-177800">
              <a:lnSpc>
                <a:spcPct val="115000"/>
              </a:lnSpc>
              <a:spcAft>
                <a:spcPts val="800"/>
              </a:spcAft>
              <a:buSzPct val="100000"/>
              <a:buChar char="•"/>
            </a:pPr>
            <a:r>
              <a:rPr lang="en-US" sz="12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일일 트래픽 1,000건 제한 → 캐싱은 필수 제약</a:t>
            </a:r>
            <a:endParaRPr lang="en-US" sz="1200" dirty="0">
              <a:latin typeface="BM HANNA 11yrs old OTF" panose="020B0600000101010101" pitchFamily="34" charset="-127"/>
              <a:ea typeface="BM HANNA 11yrs old OTF" panose="020B0600000101010101" pitchFamily="34" charset="-127"/>
            </a:endParaRPr>
          </a:p>
          <a:p>
            <a:pPr marL="177800" indent="-177800">
              <a:lnSpc>
                <a:spcPct val="115000"/>
              </a:lnSpc>
              <a:spcAft>
                <a:spcPts val="800"/>
              </a:spcAft>
              <a:buSzPct val="100000"/>
              <a:buChar char="•"/>
            </a:pPr>
            <a:r>
              <a:rPr lang="en-US" sz="12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구조동물 짧은 TTL · 동반여행 긴 TTL 차등 캐싱</a:t>
            </a:r>
            <a:endParaRPr lang="en-US" sz="1200" dirty="0">
              <a:latin typeface="BM HANNA 11yrs old OTF" panose="020B0600000101010101" pitchFamily="34" charset="-127"/>
              <a:ea typeface="BM HANNA 11yrs old OTF" panose="020B0600000101010101" pitchFamily="34" charset="-127"/>
            </a:endParaRPr>
          </a:p>
        </p:txBody>
      </p:sp>
      <p:sp>
        <p:nvSpPr>
          <p:cNvPr id="21" name="Shape 15"/>
          <p:cNvSpPr/>
          <p:nvPr/>
        </p:nvSpPr>
        <p:spPr>
          <a:xfrm>
            <a:off x="6240780" y="3977640"/>
            <a:ext cx="5372100" cy="1965960"/>
          </a:xfrm>
          <a:prstGeom prst="roundRect">
            <a:avLst>
              <a:gd name="adj" fmla="val 4186"/>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22" name="Shape 16"/>
          <p:cNvSpPr/>
          <p:nvPr/>
        </p:nvSpPr>
        <p:spPr>
          <a:xfrm>
            <a:off x="6515100" y="4233672"/>
            <a:ext cx="502920" cy="502920"/>
          </a:xfrm>
          <a:prstGeom prst="ellipse">
            <a:avLst/>
          </a:prstGeom>
          <a:solidFill>
            <a:srgbClr val="3AA6A0"/>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23" name="Image 4" descr="/home/claude/ppt_project/icons/shield.png"/>
          <p:cNvPicPr>
            <a:picLocks noChangeAspect="1"/>
          </p:cNvPicPr>
          <p:nvPr/>
        </p:nvPicPr>
        <p:blipFill>
          <a:blip r:embed="rId6"/>
          <a:stretch>
            <a:fillRect/>
          </a:stretch>
        </p:blipFill>
        <p:spPr>
          <a:xfrm>
            <a:off x="6650888" y="4369460"/>
            <a:ext cx="231343" cy="231343"/>
          </a:xfrm>
          <a:prstGeom prst="rect">
            <a:avLst/>
          </a:prstGeom>
        </p:spPr>
      </p:pic>
      <p:sp>
        <p:nvSpPr>
          <p:cNvPr id="24" name="Text 17"/>
          <p:cNvSpPr/>
          <p:nvPr/>
        </p:nvSpPr>
        <p:spPr>
          <a:xfrm>
            <a:off x="7200900" y="4270248"/>
            <a:ext cx="4183380" cy="457200"/>
          </a:xfrm>
          <a:prstGeom prst="rect">
            <a:avLst/>
          </a:prstGeom>
          <a:noFill/>
          <a:ln/>
        </p:spPr>
        <p:txBody>
          <a:bodyPr wrap="square" lIns="0" tIns="0" rIns="0" bIns="0" rtlCol="0" anchor="ctr"/>
          <a:lstStyle/>
          <a:p>
            <a:pPr marL="0" indent="0">
              <a:buNone/>
            </a:pPr>
            <a:r>
              <a:rPr lang="en-US" sz="16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안정성</a:t>
            </a:r>
            <a:endParaRPr lang="en-US" sz="1600" dirty="0">
              <a:latin typeface="BM HANNA 11yrs old OTF" panose="020B0600000101010101" pitchFamily="34" charset="-127"/>
              <a:ea typeface="BM HANNA 11yrs old OTF" panose="020B0600000101010101" pitchFamily="34" charset="-127"/>
            </a:endParaRPr>
          </a:p>
        </p:txBody>
      </p:sp>
      <p:sp>
        <p:nvSpPr>
          <p:cNvPr id="25" name="Text 18"/>
          <p:cNvSpPr/>
          <p:nvPr/>
        </p:nvSpPr>
        <p:spPr>
          <a:xfrm>
            <a:off x="6560820" y="4892040"/>
            <a:ext cx="4777740" cy="868680"/>
          </a:xfrm>
          <a:prstGeom prst="rect">
            <a:avLst/>
          </a:prstGeom>
          <a:noFill/>
          <a:ln/>
        </p:spPr>
        <p:txBody>
          <a:bodyPr wrap="square" lIns="0" tIns="0" rIns="0" bIns="0" rtlCol="0" anchor="t"/>
          <a:lstStyle/>
          <a:p>
            <a:pPr marL="177800" indent="-177800">
              <a:lnSpc>
                <a:spcPct val="115000"/>
              </a:lnSpc>
              <a:spcAft>
                <a:spcPts val="800"/>
              </a:spcAft>
              <a:buSzPct val="100000"/>
              <a:buChar char="•"/>
            </a:pPr>
            <a:r>
              <a:rPr lang="en-US" sz="12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폐업 시설·종결 공고 미노출, 3회 재시도(백오프)</a:t>
            </a:r>
            <a:endParaRPr lang="en-US" sz="1200" dirty="0">
              <a:latin typeface="BM HANNA 11yrs old OTF" panose="020B0600000101010101" pitchFamily="34" charset="-127"/>
              <a:ea typeface="BM HANNA 11yrs old OTF" panose="020B0600000101010101" pitchFamily="34" charset="-127"/>
            </a:endParaRPr>
          </a:p>
          <a:p>
            <a:pPr marL="177800" indent="-177800">
              <a:lnSpc>
                <a:spcPct val="115000"/>
              </a:lnSpc>
              <a:spcAft>
                <a:spcPts val="800"/>
              </a:spcAft>
              <a:buSzPct val="100000"/>
              <a:buChar char="•"/>
            </a:pPr>
            <a:r>
              <a:rPr lang="en-US" sz="12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ToolCallLimitMiddleware로 무한 호출 루프 방지</a:t>
            </a:r>
            <a:endParaRPr lang="en-US" sz="1200" dirty="0">
              <a:latin typeface="BM HANNA 11yrs old OTF" panose="020B0600000101010101" pitchFamily="34" charset="-127"/>
              <a:ea typeface="BM HANNA 11yrs old OTF" panose="020B0600000101010101" pitchFamily="34" charset="-127"/>
            </a:endParaRPr>
          </a:p>
        </p:txBody>
      </p:sp>
      <p:sp>
        <p:nvSpPr>
          <p:cNvPr id="26" name="Text 19"/>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08</a:t>
            </a:r>
            <a:endParaRPr lang="en-US" sz="1000" dirty="0">
              <a:latin typeface="BM HANNA 11yrs old OTF" panose="020B0600000101010101" pitchFamily="34" charset="-127"/>
              <a:ea typeface="BM HANNA 11yrs old OTF" panose="020B0600000101010101" pitchFamily="34" charset="-127"/>
            </a:endParaRPr>
          </a:p>
        </p:txBody>
      </p:sp>
      <p:sp>
        <p:nvSpPr>
          <p:cNvPr id="27" name="Text 20"/>
          <p:cNvSpPr/>
          <p:nvPr/>
        </p:nvSpPr>
        <p:spPr>
          <a:xfrm>
            <a:off x="457200" y="6446520"/>
            <a:ext cx="3657600" cy="274320"/>
          </a:xfrm>
          <a:prstGeom prst="rect">
            <a:avLst/>
          </a:prstGeom>
          <a:noFill/>
          <a:ln/>
        </p:spPr>
        <p:txBody>
          <a:bodyPr wrap="square" lIns="0" tIns="0" rIns="0" bIns="0" rtlCol="0" anchor="ctr"/>
          <a:lstStyle/>
          <a:p>
            <a:pPr marL="0" indent="0" algn="l">
              <a:buNone/>
            </a:pPr>
            <a:r>
              <a:rPr lang="en-US" sz="9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함께갈개 · AI Agent 설계</a:t>
            </a:r>
            <a:endParaRPr lang="en-US" sz="900" dirty="0">
              <a:latin typeface="BM HANNA 11yrs old OTF" panose="020B0600000101010101" pitchFamily="34" charset="-127"/>
              <a:ea typeface="BM HANNA 11yrs old OTF" panose="020B0600000101010101" pitchFamily="34" charset="-127"/>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658368" cy="658368"/>
          </a:xfrm>
          <a:prstGeom prst="ellipse">
            <a:avLst/>
          </a:prstGeom>
          <a:solidFill>
            <a:srgbClr val="F96167"/>
          </a:solidFill>
          <a:ln/>
          <a:effectLst>
            <a:outerShdw blurRad="76200" dist="25400" dir="5400000" algn="bl" rotWithShape="0">
              <a:srgbClr val="888888">
                <a:alpha val="25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3" name="Image 0" descr="/home/claude/ppt_project/icons/sitemap.png"/>
          <p:cNvPicPr>
            <a:picLocks noChangeAspect="1"/>
          </p:cNvPicPr>
          <p:nvPr/>
        </p:nvPicPr>
        <p:blipFill>
          <a:blip r:embed="rId3"/>
          <a:stretch>
            <a:fillRect/>
          </a:stretch>
        </p:blipFill>
        <p:spPr>
          <a:xfrm>
            <a:off x="713232" y="594360"/>
            <a:ext cx="237744" cy="237744"/>
          </a:xfrm>
          <a:prstGeom prst="rect">
            <a:avLst/>
          </a:prstGeom>
        </p:spPr>
      </p:pic>
      <p:sp>
        <p:nvSpPr>
          <p:cNvPr id="4" name="Text 1"/>
          <p:cNvSpPr/>
          <p:nvPr/>
        </p:nvSpPr>
        <p:spPr>
          <a:xfrm>
            <a:off x="1325880" y="329184"/>
            <a:ext cx="9875520" cy="502920"/>
          </a:xfrm>
          <a:prstGeom prst="rect">
            <a:avLst/>
          </a:prstGeom>
          <a:noFill/>
          <a:ln/>
        </p:spPr>
        <p:txBody>
          <a:bodyPr wrap="square" lIns="0" tIns="0" rIns="0" bIns="0" rtlCol="0" anchor="ctr"/>
          <a:lstStyle/>
          <a:p>
            <a:pPr marL="0" indent="0" algn="l">
              <a:buNone/>
            </a:pPr>
            <a:r>
              <a:rPr lang="en-US" sz="27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전체 아키텍처</a:t>
            </a:r>
            <a:endParaRPr lang="en-US" sz="2700" dirty="0">
              <a:latin typeface="BM HANNA 11yrs old OTF" panose="020B0600000101010101" pitchFamily="34" charset="-127"/>
              <a:ea typeface="BM HANNA 11yrs old OTF" panose="020B0600000101010101" pitchFamily="34" charset="-127"/>
            </a:endParaRPr>
          </a:p>
        </p:txBody>
      </p:sp>
      <p:sp>
        <p:nvSpPr>
          <p:cNvPr id="5" name="Text 2"/>
          <p:cNvSpPr/>
          <p:nvPr/>
        </p:nvSpPr>
        <p:spPr>
          <a:xfrm>
            <a:off x="1325880" y="822960"/>
            <a:ext cx="9875520" cy="292608"/>
          </a:xfrm>
          <a:prstGeom prst="rect">
            <a:avLst/>
          </a:prstGeom>
          <a:noFill/>
          <a:ln/>
        </p:spPr>
        <p:txBody>
          <a:bodyPr wrap="square" lIns="0" tIns="0" rIns="0" bIns="0" rtlCol="0" anchor="ctr"/>
          <a:lstStyle/>
          <a:p>
            <a:pPr marL="0" indent="0" algn="l">
              <a:buNone/>
            </a:pPr>
            <a:r>
              <a:rPr lang="en-US" sz="1200" i="1" dirty="0">
                <a:solidFill>
                  <a:srgbClr val="6B6F8A"/>
                </a:solidFill>
                <a:latin typeface="BM HANNA 11yrs old OTF" panose="020B0600000101010101" pitchFamily="34" charset="-127"/>
                <a:ea typeface="BM HANNA 11yrs old OTF" panose="020B0600000101010101" pitchFamily="34" charset="-127"/>
                <a:cs typeface="Calibri" pitchFamily="34" charset="-120"/>
              </a:rPr>
              <a:t>2.1  컴포넌트 관계도</a:t>
            </a:r>
            <a:endParaRPr lang="en-US" sz="1200" dirty="0">
              <a:latin typeface="BM HANNA 11yrs old OTF" panose="020B0600000101010101" pitchFamily="34" charset="-127"/>
              <a:ea typeface="BM HANNA 11yrs old OTF" panose="020B0600000101010101" pitchFamily="34" charset="-127"/>
            </a:endParaRPr>
          </a:p>
        </p:txBody>
      </p:sp>
      <p:sp>
        <p:nvSpPr>
          <p:cNvPr id="6" name="Shape 3"/>
          <p:cNvSpPr/>
          <p:nvPr/>
        </p:nvSpPr>
        <p:spPr>
          <a:xfrm>
            <a:off x="548640" y="1965960"/>
            <a:ext cx="2286000" cy="1737360"/>
          </a:xfrm>
          <a:prstGeom prst="roundRect">
            <a:avLst>
              <a:gd name="adj" fmla="val 4737"/>
            </a:avLst>
          </a:prstGeom>
          <a:solidFill>
            <a:srgbClr val="FFFFFF"/>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7" name="Shape 4"/>
          <p:cNvSpPr/>
          <p:nvPr/>
        </p:nvSpPr>
        <p:spPr>
          <a:xfrm>
            <a:off x="1417320" y="2167128"/>
            <a:ext cx="548640" cy="548640"/>
          </a:xfrm>
          <a:prstGeom prst="ellipse">
            <a:avLst/>
          </a:prstGeom>
          <a:solidFill>
            <a:srgbClr val="2F3C7E"/>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8" name="Image 1" descr="/home/claude/ppt_project/icons/users.png"/>
          <p:cNvPicPr>
            <a:picLocks noChangeAspect="1"/>
          </p:cNvPicPr>
          <p:nvPr/>
        </p:nvPicPr>
        <p:blipFill>
          <a:blip r:embed="rId4"/>
          <a:stretch>
            <a:fillRect/>
          </a:stretch>
        </p:blipFill>
        <p:spPr>
          <a:xfrm>
            <a:off x="1565453" y="2315261"/>
            <a:ext cx="252374" cy="252374"/>
          </a:xfrm>
          <a:prstGeom prst="rect">
            <a:avLst/>
          </a:prstGeom>
        </p:spPr>
      </p:pic>
      <p:sp>
        <p:nvSpPr>
          <p:cNvPr id="9" name="Text 5"/>
          <p:cNvSpPr/>
          <p:nvPr/>
        </p:nvSpPr>
        <p:spPr>
          <a:xfrm>
            <a:off x="640080" y="2834640"/>
            <a:ext cx="2103120" cy="320040"/>
          </a:xfrm>
          <a:prstGeom prst="rect">
            <a:avLst/>
          </a:prstGeom>
          <a:noFill/>
          <a:ln/>
        </p:spPr>
        <p:txBody>
          <a:bodyPr wrap="square" lIns="0" tIns="0" rIns="0" bIns="0" rtlCol="0" anchor="ctr"/>
          <a:lstStyle/>
          <a:p>
            <a:pPr marL="0" indent="0" algn="ctr">
              <a:buNone/>
            </a:pPr>
            <a:r>
              <a:rPr lang="en-US" sz="14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사용자</a:t>
            </a:r>
            <a:endParaRPr lang="en-US" sz="1400" dirty="0">
              <a:latin typeface="BM HANNA 11yrs old OTF" panose="020B0600000101010101" pitchFamily="34" charset="-127"/>
              <a:ea typeface="BM HANNA 11yrs old OTF" panose="020B0600000101010101" pitchFamily="34" charset="-127"/>
            </a:endParaRPr>
          </a:p>
        </p:txBody>
      </p:sp>
      <p:sp>
        <p:nvSpPr>
          <p:cNvPr id="10" name="Text 6"/>
          <p:cNvSpPr/>
          <p:nvPr/>
        </p:nvSpPr>
        <p:spPr>
          <a:xfrm>
            <a:off x="640080" y="3154680"/>
            <a:ext cx="2103120" cy="502920"/>
          </a:xfrm>
          <a:prstGeom prst="rect">
            <a:avLst/>
          </a:prstGeom>
          <a:noFill/>
          <a:ln/>
        </p:spPr>
        <p:txBody>
          <a:bodyPr wrap="square" lIns="0" tIns="0" rIns="0" bIns="0" rtlCol="0" anchor="ctr"/>
          <a:lstStyle/>
          <a:p>
            <a:pPr marL="0" indent="0" algn="ctr">
              <a:lnSpc>
                <a:spcPct val="110000"/>
              </a:lnSpc>
              <a:buNone/>
            </a:pPr>
            <a:r>
              <a:rPr lang="en-US" sz="1050" dirty="0">
                <a:solidFill>
                  <a:srgbClr val="6B6F8A"/>
                </a:solidFill>
                <a:latin typeface="BM HANNA 11yrs old OTF" panose="020B0600000101010101" pitchFamily="34" charset="-127"/>
                <a:ea typeface="BM HANNA 11yrs old OTF" panose="020B0600000101010101" pitchFamily="34" charset="-127"/>
                <a:cs typeface="Calibri" pitchFamily="34" charset="-120"/>
              </a:rPr>
              <a:t>요청 / 응답</a:t>
            </a:r>
            <a:endParaRPr lang="en-US" sz="1050" dirty="0">
              <a:latin typeface="BM HANNA 11yrs old OTF" panose="020B0600000101010101" pitchFamily="34" charset="-127"/>
              <a:ea typeface="BM HANNA 11yrs old OTF" panose="020B0600000101010101" pitchFamily="34" charset="-127"/>
            </a:endParaRPr>
          </a:p>
        </p:txBody>
      </p:sp>
      <p:sp>
        <p:nvSpPr>
          <p:cNvPr id="11" name="Shape 7"/>
          <p:cNvSpPr/>
          <p:nvPr/>
        </p:nvSpPr>
        <p:spPr>
          <a:xfrm>
            <a:off x="3474720" y="1965960"/>
            <a:ext cx="2286000" cy="1737360"/>
          </a:xfrm>
          <a:prstGeom prst="roundRect">
            <a:avLst>
              <a:gd name="adj" fmla="val 4737"/>
            </a:avLst>
          </a:prstGeom>
          <a:solidFill>
            <a:srgbClr val="FFFFFF"/>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2" name="Shape 8"/>
          <p:cNvSpPr/>
          <p:nvPr/>
        </p:nvSpPr>
        <p:spPr>
          <a:xfrm>
            <a:off x="4343400" y="2167128"/>
            <a:ext cx="548640" cy="548640"/>
          </a:xfrm>
          <a:prstGeom prst="ellipse">
            <a:avLst/>
          </a:prstGeom>
          <a:solidFill>
            <a:srgbClr val="F96167"/>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13" name="Image 2" descr="/home/claude/ppt_project/icons/robot.png"/>
          <p:cNvPicPr>
            <a:picLocks noChangeAspect="1"/>
          </p:cNvPicPr>
          <p:nvPr/>
        </p:nvPicPr>
        <p:blipFill>
          <a:blip r:embed="rId5"/>
          <a:stretch>
            <a:fillRect/>
          </a:stretch>
        </p:blipFill>
        <p:spPr>
          <a:xfrm>
            <a:off x="4491533" y="2315261"/>
            <a:ext cx="252374" cy="252374"/>
          </a:xfrm>
          <a:prstGeom prst="rect">
            <a:avLst/>
          </a:prstGeom>
        </p:spPr>
      </p:pic>
      <p:sp>
        <p:nvSpPr>
          <p:cNvPr id="14" name="Text 9"/>
          <p:cNvSpPr/>
          <p:nvPr/>
        </p:nvSpPr>
        <p:spPr>
          <a:xfrm>
            <a:off x="3566160" y="2834640"/>
            <a:ext cx="2103120" cy="320040"/>
          </a:xfrm>
          <a:prstGeom prst="rect">
            <a:avLst/>
          </a:prstGeom>
          <a:noFill/>
          <a:ln/>
        </p:spPr>
        <p:txBody>
          <a:bodyPr wrap="square" lIns="0" tIns="0" rIns="0" bIns="0" rtlCol="0" anchor="ctr"/>
          <a:lstStyle/>
          <a:p>
            <a:pPr marL="0" indent="0" algn="ctr">
              <a:buNone/>
            </a:pPr>
            <a:r>
              <a:rPr lang="en-US" sz="14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Agent</a:t>
            </a:r>
            <a:endParaRPr lang="en-US" sz="1400" dirty="0">
              <a:latin typeface="BM HANNA 11yrs old OTF" panose="020B0600000101010101" pitchFamily="34" charset="-127"/>
              <a:ea typeface="BM HANNA 11yrs old OTF" panose="020B0600000101010101" pitchFamily="34" charset="-127"/>
            </a:endParaRPr>
          </a:p>
        </p:txBody>
      </p:sp>
      <p:sp>
        <p:nvSpPr>
          <p:cNvPr id="15" name="Text 10"/>
          <p:cNvSpPr/>
          <p:nvPr/>
        </p:nvSpPr>
        <p:spPr>
          <a:xfrm>
            <a:off x="3566160" y="3154680"/>
            <a:ext cx="2103120" cy="502920"/>
          </a:xfrm>
          <a:prstGeom prst="rect">
            <a:avLst/>
          </a:prstGeom>
          <a:noFill/>
          <a:ln/>
        </p:spPr>
        <p:txBody>
          <a:bodyPr wrap="square" lIns="0" tIns="0" rIns="0" bIns="0" rtlCol="0" anchor="ctr"/>
          <a:lstStyle/>
          <a:p>
            <a:pPr marL="0" indent="0" algn="ctr">
              <a:lnSpc>
                <a:spcPct val="110000"/>
              </a:lnSpc>
              <a:buNone/>
            </a:pPr>
            <a:r>
              <a:rPr lang="en-US" sz="1050" dirty="0">
                <a:solidFill>
                  <a:srgbClr val="6B6F8A"/>
                </a:solidFill>
                <a:latin typeface="BM HANNA 11yrs old OTF" panose="020B0600000101010101" pitchFamily="34" charset="-127"/>
                <a:ea typeface="BM HANNA 11yrs old OTF" panose="020B0600000101010101" pitchFamily="34" charset="-127"/>
                <a:cs typeface="Calibri" pitchFamily="34" charset="-120"/>
              </a:rPr>
              <a:t>Middleware</a:t>
            </a:r>
            <a:endParaRPr lang="en-US" sz="1050" dirty="0">
              <a:latin typeface="BM HANNA 11yrs old OTF" panose="020B0600000101010101" pitchFamily="34" charset="-127"/>
              <a:ea typeface="BM HANNA 11yrs old OTF" panose="020B0600000101010101" pitchFamily="34" charset="-127"/>
            </a:endParaRPr>
          </a:p>
          <a:p>
            <a:pPr marL="0" indent="0" algn="ctr">
              <a:lnSpc>
                <a:spcPct val="110000"/>
              </a:lnSpc>
              <a:buNone/>
            </a:pPr>
            <a:r>
              <a:rPr lang="en-US" sz="1050" dirty="0">
                <a:solidFill>
                  <a:srgbClr val="6B6F8A"/>
                </a:solidFill>
                <a:latin typeface="BM HANNA 11yrs old OTF" panose="020B0600000101010101" pitchFamily="34" charset="-127"/>
                <a:ea typeface="BM HANNA 11yrs old OTF" panose="020B0600000101010101" pitchFamily="34" charset="-127"/>
                <a:cs typeface="Calibri" pitchFamily="34" charset="-120"/>
              </a:rPr>
              <a:t>+ GPT-5-mini/nano</a:t>
            </a:r>
            <a:endParaRPr lang="en-US" sz="1050" dirty="0">
              <a:latin typeface="BM HANNA 11yrs old OTF" panose="020B0600000101010101" pitchFamily="34" charset="-127"/>
              <a:ea typeface="BM HANNA 11yrs old OTF" panose="020B0600000101010101" pitchFamily="34" charset="-127"/>
            </a:endParaRPr>
          </a:p>
        </p:txBody>
      </p:sp>
      <p:sp>
        <p:nvSpPr>
          <p:cNvPr id="16" name="Shape 11"/>
          <p:cNvSpPr/>
          <p:nvPr/>
        </p:nvSpPr>
        <p:spPr>
          <a:xfrm>
            <a:off x="6400800" y="1965960"/>
            <a:ext cx="2286000" cy="1737360"/>
          </a:xfrm>
          <a:prstGeom prst="roundRect">
            <a:avLst>
              <a:gd name="adj" fmla="val 4737"/>
            </a:avLst>
          </a:prstGeom>
          <a:solidFill>
            <a:srgbClr val="FFFFFF"/>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7" name="Shape 12"/>
          <p:cNvSpPr/>
          <p:nvPr/>
        </p:nvSpPr>
        <p:spPr>
          <a:xfrm>
            <a:off x="7269480" y="2167128"/>
            <a:ext cx="548640" cy="548640"/>
          </a:xfrm>
          <a:prstGeom prst="ellipse">
            <a:avLst/>
          </a:prstGeom>
          <a:solidFill>
            <a:srgbClr val="F5A623"/>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18" name="Image 3" descr="/home/claude/ppt_project/icons/toolbox.png"/>
          <p:cNvPicPr>
            <a:picLocks noChangeAspect="1"/>
          </p:cNvPicPr>
          <p:nvPr/>
        </p:nvPicPr>
        <p:blipFill>
          <a:blip r:embed="rId6"/>
          <a:stretch>
            <a:fillRect/>
          </a:stretch>
        </p:blipFill>
        <p:spPr>
          <a:xfrm>
            <a:off x="7417613" y="2315261"/>
            <a:ext cx="252374" cy="252374"/>
          </a:xfrm>
          <a:prstGeom prst="rect">
            <a:avLst/>
          </a:prstGeom>
        </p:spPr>
      </p:pic>
      <p:sp>
        <p:nvSpPr>
          <p:cNvPr id="19" name="Text 13"/>
          <p:cNvSpPr/>
          <p:nvPr/>
        </p:nvSpPr>
        <p:spPr>
          <a:xfrm>
            <a:off x="6492240" y="2834640"/>
            <a:ext cx="2103120" cy="320040"/>
          </a:xfrm>
          <a:prstGeom prst="rect">
            <a:avLst/>
          </a:prstGeom>
          <a:noFill/>
          <a:ln/>
        </p:spPr>
        <p:txBody>
          <a:bodyPr wrap="square" lIns="0" tIns="0" rIns="0" bIns="0" rtlCol="0" anchor="ctr"/>
          <a:lstStyle/>
          <a:p>
            <a:pPr marL="0" indent="0" algn="ctr">
              <a:buNone/>
            </a:pPr>
            <a:r>
              <a:rPr lang="en-US" sz="14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Tools</a:t>
            </a:r>
            <a:endParaRPr lang="en-US" sz="1400" dirty="0">
              <a:latin typeface="BM HANNA 11yrs old OTF" panose="020B0600000101010101" pitchFamily="34" charset="-127"/>
              <a:ea typeface="BM HANNA 11yrs old OTF" panose="020B0600000101010101" pitchFamily="34" charset="-127"/>
            </a:endParaRPr>
          </a:p>
        </p:txBody>
      </p:sp>
      <p:sp>
        <p:nvSpPr>
          <p:cNvPr id="20" name="Text 14"/>
          <p:cNvSpPr/>
          <p:nvPr/>
        </p:nvSpPr>
        <p:spPr>
          <a:xfrm>
            <a:off x="6492240" y="3154680"/>
            <a:ext cx="2103120" cy="502920"/>
          </a:xfrm>
          <a:prstGeom prst="rect">
            <a:avLst/>
          </a:prstGeom>
          <a:noFill/>
          <a:ln/>
        </p:spPr>
        <p:txBody>
          <a:bodyPr wrap="square" lIns="0" tIns="0" rIns="0" bIns="0" rtlCol="0" anchor="ctr"/>
          <a:lstStyle/>
          <a:p>
            <a:pPr marL="0" indent="0" algn="ctr">
              <a:lnSpc>
                <a:spcPct val="110000"/>
              </a:lnSpc>
              <a:buNone/>
            </a:pPr>
            <a:r>
              <a:rPr lang="en-US" sz="1050" dirty="0">
                <a:solidFill>
                  <a:srgbClr val="6B6F8A"/>
                </a:solidFill>
                <a:latin typeface="BM HANNA 11yrs old OTF" panose="020B0600000101010101" pitchFamily="34" charset="-127"/>
                <a:ea typeface="BM HANNA 11yrs old OTF" panose="020B0600000101010101" pitchFamily="34" charset="-127"/>
                <a:cs typeface="Calibri" pitchFamily="34" charset="-120"/>
              </a:rPr>
              <a:t>5개 함수</a:t>
            </a:r>
            <a:endParaRPr lang="en-US" sz="1050" dirty="0">
              <a:latin typeface="BM HANNA 11yrs old OTF" panose="020B0600000101010101" pitchFamily="34" charset="-127"/>
              <a:ea typeface="BM HANNA 11yrs old OTF" panose="020B0600000101010101" pitchFamily="34" charset="-127"/>
            </a:endParaRPr>
          </a:p>
          <a:p>
            <a:pPr marL="0" indent="0" algn="ctr">
              <a:lnSpc>
                <a:spcPct val="110000"/>
              </a:lnSpc>
              <a:buNone/>
            </a:pPr>
            <a:r>
              <a:rPr lang="en-US" sz="1050" dirty="0">
                <a:solidFill>
                  <a:srgbClr val="6B6F8A"/>
                </a:solidFill>
                <a:latin typeface="BM HANNA 11yrs old OTF" panose="020B0600000101010101" pitchFamily="34" charset="-127"/>
                <a:ea typeface="BM HANNA 11yrs old OTF" panose="020B0600000101010101" pitchFamily="34" charset="-127"/>
                <a:cs typeface="Calibri" pitchFamily="34" charset="-120"/>
              </a:rPr>
              <a:t>(검색·상세·저장)</a:t>
            </a:r>
            <a:endParaRPr lang="en-US" sz="1050" dirty="0">
              <a:latin typeface="BM HANNA 11yrs old OTF" panose="020B0600000101010101" pitchFamily="34" charset="-127"/>
              <a:ea typeface="BM HANNA 11yrs old OTF" panose="020B0600000101010101" pitchFamily="34" charset="-127"/>
            </a:endParaRPr>
          </a:p>
        </p:txBody>
      </p:sp>
      <p:sp>
        <p:nvSpPr>
          <p:cNvPr id="21" name="Shape 15"/>
          <p:cNvSpPr/>
          <p:nvPr/>
        </p:nvSpPr>
        <p:spPr>
          <a:xfrm>
            <a:off x="9326880" y="1965960"/>
            <a:ext cx="2286000" cy="1737360"/>
          </a:xfrm>
          <a:prstGeom prst="roundRect">
            <a:avLst>
              <a:gd name="adj" fmla="val 4737"/>
            </a:avLst>
          </a:prstGeom>
          <a:solidFill>
            <a:srgbClr val="FFFFFF"/>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22" name="Shape 16"/>
          <p:cNvSpPr/>
          <p:nvPr/>
        </p:nvSpPr>
        <p:spPr>
          <a:xfrm>
            <a:off x="10195560" y="2167128"/>
            <a:ext cx="548640" cy="548640"/>
          </a:xfrm>
          <a:prstGeom prst="ellipse">
            <a:avLst/>
          </a:prstGeom>
          <a:solidFill>
            <a:srgbClr val="3AA6A0"/>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23" name="Image 4" descr="/home/claude/ppt_project/icons/database.png"/>
          <p:cNvPicPr>
            <a:picLocks noChangeAspect="1"/>
          </p:cNvPicPr>
          <p:nvPr/>
        </p:nvPicPr>
        <p:blipFill>
          <a:blip r:embed="rId7"/>
          <a:stretch>
            <a:fillRect/>
          </a:stretch>
        </p:blipFill>
        <p:spPr>
          <a:xfrm>
            <a:off x="10343693" y="2315261"/>
            <a:ext cx="252374" cy="252374"/>
          </a:xfrm>
          <a:prstGeom prst="rect">
            <a:avLst/>
          </a:prstGeom>
        </p:spPr>
      </p:pic>
      <p:sp>
        <p:nvSpPr>
          <p:cNvPr id="24" name="Text 17"/>
          <p:cNvSpPr/>
          <p:nvPr/>
        </p:nvSpPr>
        <p:spPr>
          <a:xfrm>
            <a:off x="9418320" y="2834640"/>
            <a:ext cx="2103120" cy="320040"/>
          </a:xfrm>
          <a:prstGeom prst="rect">
            <a:avLst/>
          </a:prstGeom>
          <a:noFill/>
          <a:ln/>
        </p:spPr>
        <p:txBody>
          <a:bodyPr wrap="square" lIns="0" tIns="0" rIns="0" bIns="0" rtlCol="0" anchor="ctr"/>
          <a:lstStyle/>
          <a:p>
            <a:pPr marL="0" indent="0" algn="ctr">
              <a:buNone/>
            </a:pPr>
            <a:r>
              <a:rPr lang="en-US" sz="14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공공데이터 API</a:t>
            </a:r>
            <a:endParaRPr lang="en-US" sz="1400" dirty="0">
              <a:latin typeface="BM HANNA 11yrs old OTF" panose="020B0600000101010101" pitchFamily="34" charset="-127"/>
              <a:ea typeface="BM HANNA 11yrs old OTF" panose="020B0600000101010101" pitchFamily="34" charset="-127"/>
            </a:endParaRPr>
          </a:p>
        </p:txBody>
      </p:sp>
      <p:sp>
        <p:nvSpPr>
          <p:cNvPr id="25" name="Text 18"/>
          <p:cNvSpPr/>
          <p:nvPr/>
        </p:nvSpPr>
        <p:spPr>
          <a:xfrm>
            <a:off x="9418320" y="3154680"/>
            <a:ext cx="2103120" cy="502920"/>
          </a:xfrm>
          <a:prstGeom prst="rect">
            <a:avLst/>
          </a:prstGeom>
          <a:noFill/>
          <a:ln/>
        </p:spPr>
        <p:txBody>
          <a:bodyPr wrap="square" lIns="0" tIns="0" rIns="0" bIns="0" rtlCol="0" anchor="ctr"/>
          <a:lstStyle/>
          <a:p>
            <a:pPr marL="0" indent="0" algn="ctr">
              <a:lnSpc>
                <a:spcPct val="110000"/>
              </a:lnSpc>
              <a:buNone/>
            </a:pPr>
            <a:r>
              <a:rPr lang="en-US" sz="1050" dirty="0">
                <a:solidFill>
                  <a:srgbClr val="6B6F8A"/>
                </a:solidFill>
                <a:latin typeface="BM HANNA 11yrs old OTF" panose="020B0600000101010101" pitchFamily="34" charset="-127"/>
                <a:ea typeface="BM HANNA 11yrs old OTF" panose="020B0600000101010101" pitchFamily="34" charset="-127"/>
                <a:cs typeface="Calibri" pitchFamily="34" charset="-120"/>
              </a:rPr>
              <a:t>유기동물 ·</a:t>
            </a:r>
            <a:endParaRPr lang="en-US" sz="1050" dirty="0">
              <a:latin typeface="BM HANNA 11yrs old OTF" panose="020B0600000101010101" pitchFamily="34" charset="-127"/>
              <a:ea typeface="BM HANNA 11yrs old OTF" panose="020B0600000101010101" pitchFamily="34" charset="-127"/>
            </a:endParaRPr>
          </a:p>
          <a:p>
            <a:pPr marL="0" indent="0" algn="ctr">
              <a:lnSpc>
                <a:spcPct val="110000"/>
              </a:lnSpc>
              <a:buNone/>
            </a:pPr>
            <a:r>
              <a:rPr lang="en-US" sz="1050" dirty="0">
                <a:solidFill>
                  <a:srgbClr val="6B6F8A"/>
                </a:solidFill>
                <a:latin typeface="BM HANNA 11yrs old OTF" panose="020B0600000101010101" pitchFamily="34" charset="-127"/>
                <a:ea typeface="BM HANNA 11yrs old OTF" panose="020B0600000101010101" pitchFamily="34" charset="-127"/>
                <a:cs typeface="Calibri" pitchFamily="34" charset="-120"/>
              </a:rPr>
              <a:t>동반여행</a:t>
            </a:r>
            <a:endParaRPr lang="en-US" sz="1050" dirty="0">
              <a:latin typeface="BM HANNA 11yrs old OTF" panose="020B0600000101010101" pitchFamily="34" charset="-127"/>
              <a:ea typeface="BM HANNA 11yrs old OTF" panose="020B0600000101010101" pitchFamily="34" charset="-127"/>
            </a:endParaRPr>
          </a:p>
        </p:txBody>
      </p:sp>
      <p:sp>
        <p:nvSpPr>
          <p:cNvPr id="26" name="Shape 19"/>
          <p:cNvSpPr/>
          <p:nvPr/>
        </p:nvSpPr>
        <p:spPr>
          <a:xfrm>
            <a:off x="2834640" y="2834640"/>
            <a:ext cx="640080" cy="0"/>
          </a:xfrm>
          <a:prstGeom prst="line">
            <a:avLst/>
          </a:prstGeom>
          <a:noFill/>
          <a:ln w="22225">
            <a:solidFill>
              <a:srgbClr val="9AA0C0"/>
            </a:solidFill>
            <a:prstDash val="solid"/>
            <a:tailEnd type="triangle"/>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27" name="Shape 20"/>
          <p:cNvSpPr/>
          <p:nvPr/>
        </p:nvSpPr>
        <p:spPr>
          <a:xfrm>
            <a:off x="5760720" y="2834640"/>
            <a:ext cx="640080" cy="0"/>
          </a:xfrm>
          <a:prstGeom prst="line">
            <a:avLst/>
          </a:prstGeom>
          <a:noFill/>
          <a:ln w="22225">
            <a:solidFill>
              <a:srgbClr val="9AA0C0"/>
            </a:solidFill>
            <a:prstDash val="solid"/>
            <a:tailEnd type="triangle"/>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28" name="Shape 21"/>
          <p:cNvSpPr/>
          <p:nvPr/>
        </p:nvSpPr>
        <p:spPr>
          <a:xfrm>
            <a:off x="8686800" y="2834640"/>
            <a:ext cx="640080" cy="0"/>
          </a:xfrm>
          <a:prstGeom prst="line">
            <a:avLst/>
          </a:prstGeom>
          <a:noFill/>
          <a:ln w="22225">
            <a:solidFill>
              <a:srgbClr val="9AA0C0"/>
            </a:solidFill>
            <a:prstDash val="solid"/>
            <a:tailEnd type="triangle"/>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29" name="Shape 22"/>
          <p:cNvSpPr/>
          <p:nvPr/>
        </p:nvSpPr>
        <p:spPr>
          <a:xfrm>
            <a:off x="3474720" y="4343400"/>
            <a:ext cx="8138160" cy="1417320"/>
          </a:xfrm>
          <a:prstGeom prst="roundRect">
            <a:avLst>
              <a:gd name="adj" fmla="val 5806"/>
            </a:avLst>
          </a:prstGeom>
          <a:solidFill>
            <a:srgbClr val="E4F5F3"/>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30" name="Shape 23"/>
          <p:cNvSpPr/>
          <p:nvPr/>
        </p:nvSpPr>
        <p:spPr>
          <a:xfrm>
            <a:off x="3749040" y="4800600"/>
            <a:ext cx="502920" cy="502920"/>
          </a:xfrm>
          <a:prstGeom prst="ellipse">
            <a:avLst/>
          </a:prstGeom>
          <a:solidFill>
            <a:srgbClr val="3AA6A0"/>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31" name="Image 5" descr="/home/claude/ppt_project/icons/database.png"/>
          <p:cNvPicPr>
            <a:picLocks noChangeAspect="1"/>
          </p:cNvPicPr>
          <p:nvPr/>
        </p:nvPicPr>
        <p:blipFill>
          <a:blip r:embed="rId7"/>
          <a:stretch>
            <a:fillRect/>
          </a:stretch>
        </p:blipFill>
        <p:spPr>
          <a:xfrm>
            <a:off x="3884828" y="4936388"/>
            <a:ext cx="231343" cy="231343"/>
          </a:xfrm>
          <a:prstGeom prst="rect">
            <a:avLst/>
          </a:prstGeom>
        </p:spPr>
      </p:pic>
      <p:sp>
        <p:nvSpPr>
          <p:cNvPr id="32" name="Text 24"/>
          <p:cNvSpPr/>
          <p:nvPr/>
        </p:nvSpPr>
        <p:spPr>
          <a:xfrm>
            <a:off x="4434840" y="4507992"/>
            <a:ext cx="1828800" cy="365760"/>
          </a:xfrm>
          <a:prstGeom prst="rect">
            <a:avLst/>
          </a:prstGeom>
          <a:noFill/>
          <a:ln/>
        </p:spPr>
        <p:txBody>
          <a:bodyPr wrap="square" lIns="0" tIns="0" rIns="0" bIns="0" rtlCol="0" anchor="ctr"/>
          <a:lstStyle/>
          <a:p>
            <a:pPr marL="0" indent="0">
              <a:buNone/>
            </a:pPr>
            <a:r>
              <a:rPr lang="en-US" sz="14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Memory</a:t>
            </a:r>
            <a:endParaRPr lang="en-US" sz="1400" dirty="0">
              <a:latin typeface="BM HANNA 11yrs old OTF" panose="020B0600000101010101" pitchFamily="34" charset="-127"/>
              <a:ea typeface="BM HANNA 11yrs old OTF" panose="020B0600000101010101" pitchFamily="34" charset="-127"/>
            </a:endParaRPr>
          </a:p>
        </p:txBody>
      </p:sp>
      <p:sp>
        <p:nvSpPr>
          <p:cNvPr id="33" name="Text 25"/>
          <p:cNvSpPr/>
          <p:nvPr/>
        </p:nvSpPr>
        <p:spPr>
          <a:xfrm>
            <a:off x="4434840" y="4846320"/>
            <a:ext cx="4937760" cy="822960"/>
          </a:xfrm>
          <a:prstGeom prst="rect">
            <a:avLst/>
          </a:prstGeom>
          <a:noFill/>
          <a:ln/>
        </p:spPr>
        <p:txBody>
          <a:bodyPr wrap="square" lIns="0" tIns="0" rIns="0" bIns="0" rtlCol="0" anchor="t"/>
          <a:lstStyle/>
          <a:p>
            <a:pPr marL="0" indent="0">
              <a:lnSpc>
                <a:spcPct val="120000"/>
              </a:lnSpc>
              <a:buNone/>
            </a:pPr>
            <a:r>
              <a:rPr lang="en-US" sz="11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Runtime Context · State · Store</a:t>
            </a:r>
            <a:endParaRPr lang="en-US" sz="1150" dirty="0">
              <a:latin typeface="BM HANNA 11yrs old OTF" panose="020B0600000101010101" pitchFamily="34" charset="-127"/>
              <a:ea typeface="BM HANNA 11yrs old OTF" panose="020B0600000101010101" pitchFamily="34" charset="-127"/>
            </a:endParaRPr>
          </a:p>
        </p:txBody>
      </p:sp>
      <p:sp>
        <p:nvSpPr>
          <p:cNvPr id="34" name="Shape 26"/>
          <p:cNvSpPr/>
          <p:nvPr/>
        </p:nvSpPr>
        <p:spPr>
          <a:xfrm>
            <a:off x="4617720" y="3703320"/>
            <a:ext cx="0" cy="640080"/>
          </a:xfrm>
          <a:prstGeom prst="line">
            <a:avLst/>
          </a:prstGeom>
          <a:noFill/>
          <a:ln w="22225">
            <a:solidFill>
              <a:srgbClr val="9AA0C0"/>
            </a:solidFill>
            <a:prstDash val="solid"/>
            <a:tailEnd type="triangle"/>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35" name="Shape 27"/>
          <p:cNvSpPr/>
          <p:nvPr/>
        </p:nvSpPr>
        <p:spPr>
          <a:xfrm>
            <a:off x="7543800" y="3703320"/>
            <a:ext cx="0" cy="640080"/>
          </a:xfrm>
          <a:prstGeom prst="line">
            <a:avLst/>
          </a:prstGeom>
          <a:noFill/>
          <a:ln w="22225">
            <a:solidFill>
              <a:srgbClr val="9AA0C0"/>
            </a:solidFill>
            <a:prstDash val="solid"/>
            <a:tailEnd type="triangle"/>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36" name="Text 28"/>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09</a:t>
            </a:r>
            <a:endParaRPr lang="en-US" sz="1000" dirty="0">
              <a:latin typeface="BM HANNA 11yrs old OTF" panose="020B0600000101010101" pitchFamily="34" charset="-127"/>
              <a:ea typeface="BM HANNA 11yrs old OTF" panose="020B0600000101010101" pitchFamily="34" charset="-127"/>
            </a:endParaRPr>
          </a:p>
        </p:txBody>
      </p:sp>
      <p:sp>
        <p:nvSpPr>
          <p:cNvPr id="37" name="Text 29"/>
          <p:cNvSpPr/>
          <p:nvPr/>
        </p:nvSpPr>
        <p:spPr>
          <a:xfrm>
            <a:off x="457200" y="6446520"/>
            <a:ext cx="3657600" cy="274320"/>
          </a:xfrm>
          <a:prstGeom prst="rect">
            <a:avLst/>
          </a:prstGeom>
          <a:noFill/>
          <a:ln/>
        </p:spPr>
        <p:txBody>
          <a:bodyPr wrap="square" lIns="0" tIns="0" rIns="0" bIns="0" rtlCol="0" anchor="ctr"/>
          <a:lstStyle/>
          <a:p>
            <a:pPr marL="0" indent="0" algn="l">
              <a:buNone/>
            </a:pPr>
            <a:r>
              <a:rPr lang="en-US" sz="9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함께갈개 · AI Agent 설계</a:t>
            </a:r>
            <a:endParaRPr lang="en-US" sz="900" dirty="0">
              <a:latin typeface="BM HANNA 11yrs old OTF" panose="020B0600000101010101" pitchFamily="34" charset="-127"/>
              <a:ea typeface="BM HANNA 11yrs old OTF" panose="020B0600000101010101" pitchFamily="34" charset="-127"/>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658368" cy="658368"/>
          </a:xfrm>
          <a:prstGeom prst="ellipse">
            <a:avLst/>
          </a:prstGeom>
          <a:solidFill>
            <a:srgbClr val="F96167"/>
          </a:solidFill>
          <a:ln/>
          <a:effectLst>
            <a:outerShdw blurRad="76200" dist="25400" dir="5400000" algn="bl" rotWithShape="0">
              <a:srgbClr val="888888">
                <a:alpha val="25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3" name="Image 0" descr="/home/claude/ppt_project/icons/route.png"/>
          <p:cNvPicPr>
            <a:picLocks noChangeAspect="1"/>
          </p:cNvPicPr>
          <p:nvPr/>
        </p:nvPicPr>
        <p:blipFill>
          <a:blip r:embed="rId3"/>
          <a:stretch>
            <a:fillRect/>
          </a:stretch>
        </p:blipFill>
        <p:spPr>
          <a:xfrm>
            <a:off x="713232" y="594360"/>
            <a:ext cx="237744" cy="237744"/>
          </a:xfrm>
          <a:prstGeom prst="rect">
            <a:avLst/>
          </a:prstGeom>
        </p:spPr>
      </p:pic>
      <p:sp>
        <p:nvSpPr>
          <p:cNvPr id="4" name="Text 1"/>
          <p:cNvSpPr/>
          <p:nvPr/>
        </p:nvSpPr>
        <p:spPr>
          <a:xfrm>
            <a:off x="1325880" y="329184"/>
            <a:ext cx="9875520" cy="502920"/>
          </a:xfrm>
          <a:prstGeom prst="rect">
            <a:avLst/>
          </a:prstGeom>
          <a:noFill/>
          <a:ln/>
        </p:spPr>
        <p:txBody>
          <a:bodyPr wrap="square" lIns="0" tIns="0" rIns="0" bIns="0" rtlCol="0" anchor="ctr"/>
          <a:lstStyle/>
          <a:p>
            <a:pPr marL="0" indent="0" algn="l">
              <a:buNone/>
            </a:pPr>
            <a:r>
              <a:rPr lang="en-US" sz="27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동작 흐름 — 9단계 파이프라인</a:t>
            </a:r>
            <a:endParaRPr lang="en-US" sz="2700" dirty="0">
              <a:latin typeface="BM HANNA 11yrs old OTF" panose="020B0600000101010101" pitchFamily="34" charset="-127"/>
              <a:ea typeface="BM HANNA 11yrs old OTF" panose="020B0600000101010101" pitchFamily="34" charset="-127"/>
            </a:endParaRPr>
          </a:p>
        </p:txBody>
      </p:sp>
      <p:sp>
        <p:nvSpPr>
          <p:cNvPr id="5" name="Text 2"/>
          <p:cNvSpPr/>
          <p:nvPr/>
        </p:nvSpPr>
        <p:spPr>
          <a:xfrm>
            <a:off x="1325880" y="822960"/>
            <a:ext cx="9875520" cy="292608"/>
          </a:xfrm>
          <a:prstGeom prst="rect">
            <a:avLst/>
          </a:prstGeom>
          <a:noFill/>
          <a:ln/>
        </p:spPr>
        <p:txBody>
          <a:bodyPr wrap="square" lIns="0" tIns="0" rIns="0" bIns="0" rtlCol="0" anchor="ctr"/>
          <a:lstStyle/>
          <a:p>
            <a:pPr marL="0" indent="0" algn="l">
              <a:buNone/>
            </a:pPr>
            <a:r>
              <a:rPr lang="en-US" sz="1200" i="1" dirty="0">
                <a:solidFill>
                  <a:srgbClr val="6B6F8A"/>
                </a:solidFill>
                <a:latin typeface="BM HANNA 11yrs old OTF" panose="020B0600000101010101" pitchFamily="34" charset="-127"/>
                <a:ea typeface="BM HANNA 11yrs old OTF" panose="020B0600000101010101" pitchFamily="34" charset="-127"/>
                <a:cs typeface="Calibri" pitchFamily="34" charset="-120"/>
              </a:rPr>
              <a:t>2.2  사용자 입력부터 최종 응답까지</a:t>
            </a:r>
            <a:endParaRPr lang="en-US" sz="1200" dirty="0">
              <a:latin typeface="BM HANNA 11yrs old OTF" panose="020B0600000101010101" pitchFamily="34" charset="-127"/>
              <a:ea typeface="BM HANNA 11yrs old OTF" panose="020B0600000101010101" pitchFamily="34" charset="-127"/>
            </a:endParaRPr>
          </a:p>
        </p:txBody>
      </p:sp>
      <p:sp>
        <p:nvSpPr>
          <p:cNvPr id="6" name="Shape 3"/>
          <p:cNvSpPr/>
          <p:nvPr/>
        </p:nvSpPr>
        <p:spPr>
          <a:xfrm>
            <a:off x="548640" y="1783080"/>
            <a:ext cx="2526030" cy="1554480"/>
          </a:xfrm>
          <a:prstGeom prst="roundRect">
            <a:avLst>
              <a:gd name="adj" fmla="val 5294"/>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7" name="Shape 4"/>
          <p:cNvSpPr/>
          <p:nvPr/>
        </p:nvSpPr>
        <p:spPr>
          <a:xfrm>
            <a:off x="731520" y="1947672"/>
            <a:ext cx="1371600" cy="329184"/>
          </a:xfrm>
          <a:prstGeom prst="roundRect">
            <a:avLst>
              <a:gd name="adj" fmla="val 50000"/>
            </a:avLst>
          </a:prstGeom>
          <a:solidFill>
            <a:srgbClr val="F96167"/>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8" name="Text 5"/>
          <p:cNvSpPr/>
          <p:nvPr/>
        </p:nvSpPr>
        <p:spPr>
          <a:xfrm>
            <a:off x="731520" y="1947672"/>
            <a:ext cx="1371600"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BM HANNA 11yrs old OTF" panose="020B0600000101010101" pitchFamily="34" charset="-127"/>
                <a:ea typeface="BM HANNA 11yrs old OTF" panose="020B0600000101010101" pitchFamily="34" charset="-127"/>
                <a:cs typeface="Calibri" pitchFamily="34" charset="-120"/>
              </a:rPr>
              <a:t>before_agent</a:t>
            </a:r>
            <a:endParaRPr lang="en-US" sz="950" dirty="0">
              <a:latin typeface="BM HANNA 11yrs old OTF" panose="020B0600000101010101" pitchFamily="34" charset="-127"/>
              <a:ea typeface="BM HANNA 11yrs old OTF" panose="020B0600000101010101" pitchFamily="34" charset="-127"/>
            </a:endParaRPr>
          </a:p>
        </p:txBody>
      </p:sp>
      <p:sp>
        <p:nvSpPr>
          <p:cNvPr id="9" name="Text 6"/>
          <p:cNvSpPr/>
          <p:nvPr/>
        </p:nvSpPr>
        <p:spPr>
          <a:xfrm>
            <a:off x="731520" y="2350008"/>
            <a:ext cx="2160270" cy="457200"/>
          </a:xfrm>
          <a:prstGeom prst="rect">
            <a:avLst/>
          </a:prstGeom>
          <a:noFill/>
          <a:ln/>
        </p:spPr>
        <p:txBody>
          <a:bodyPr wrap="square" lIns="0" tIns="0" rIns="0" bIns="0" rtlCol="0" anchor="ctr"/>
          <a:lstStyle/>
          <a:p>
            <a:pPr marL="0" indent="0">
              <a:buNone/>
            </a:pPr>
            <a:r>
              <a:rPr lang="en-US" sz="135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① Input Guardrail</a:t>
            </a:r>
            <a:endParaRPr lang="en-US" sz="1350" dirty="0">
              <a:latin typeface="BM HANNA 11yrs old OTF" panose="020B0600000101010101" pitchFamily="34" charset="-127"/>
              <a:ea typeface="BM HANNA 11yrs old OTF" panose="020B0600000101010101" pitchFamily="34" charset="-127"/>
            </a:endParaRPr>
          </a:p>
        </p:txBody>
      </p:sp>
      <p:sp>
        <p:nvSpPr>
          <p:cNvPr id="10" name="Text 7"/>
          <p:cNvSpPr/>
          <p:nvPr/>
        </p:nvSpPr>
        <p:spPr>
          <a:xfrm>
            <a:off x="731520" y="2788920"/>
            <a:ext cx="2160270" cy="502920"/>
          </a:xfrm>
          <a:prstGeom prst="rect">
            <a:avLst/>
          </a:prstGeom>
          <a:noFill/>
          <a:ln/>
        </p:spPr>
        <p:txBody>
          <a:bodyPr wrap="square" lIns="0" tIns="0" rIns="0" bIns="0" rtlCol="0" anchor="ctr"/>
          <a:lstStyle/>
          <a:p>
            <a:pPr marL="0" indent="0">
              <a:lnSpc>
                <a:spcPct val="115000"/>
              </a:lnSpc>
              <a:buNone/>
            </a:pPr>
            <a:r>
              <a:rPr lang="en-US" sz="1080" dirty="0">
                <a:solidFill>
                  <a:srgbClr val="22264A"/>
                </a:solidFill>
                <a:latin typeface="BM HANNA 11yrs old OTF" panose="020B0600000101010101" pitchFamily="34" charset="-127"/>
                <a:ea typeface="BM HANNA 11yrs old OTF" panose="020B0600000101010101" pitchFamily="34" charset="-127"/>
                <a:cs typeface="Calibri" pitchFamily="34" charset="-120"/>
              </a:rPr>
              <a:t>위반 시 즉시 차단·종료</a:t>
            </a:r>
            <a:endParaRPr lang="en-US" sz="1080" dirty="0">
              <a:latin typeface="BM HANNA 11yrs old OTF" panose="020B0600000101010101" pitchFamily="34" charset="-127"/>
              <a:ea typeface="BM HANNA 11yrs old OTF" panose="020B0600000101010101" pitchFamily="34" charset="-127"/>
            </a:endParaRPr>
          </a:p>
        </p:txBody>
      </p:sp>
      <p:sp>
        <p:nvSpPr>
          <p:cNvPr id="11" name="Shape 8"/>
          <p:cNvSpPr/>
          <p:nvPr/>
        </p:nvSpPr>
        <p:spPr>
          <a:xfrm>
            <a:off x="3394710" y="1783080"/>
            <a:ext cx="2526030" cy="1554480"/>
          </a:xfrm>
          <a:prstGeom prst="roundRect">
            <a:avLst>
              <a:gd name="adj" fmla="val 5294"/>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2" name="Shape 9"/>
          <p:cNvSpPr/>
          <p:nvPr/>
        </p:nvSpPr>
        <p:spPr>
          <a:xfrm>
            <a:off x="3577590" y="1947672"/>
            <a:ext cx="1371600" cy="329184"/>
          </a:xfrm>
          <a:prstGeom prst="roundRect">
            <a:avLst>
              <a:gd name="adj" fmla="val 50000"/>
            </a:avLst>
          </a:prstGeom>
          <a:solidFill>
            <a:srgbClr val="F96167"/>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3" name="Text 10"/>
          <p:cNvSpPr/>
          <p:nvPr/>
        </p:nvSpPr>
        <p:spPr>
          <a:xfrm>
            <a:off x="3577590" y="1947672"/>
            <a:ext cx="1371600"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BM HANNA 11yrs old OTF" panose="020B0600000101010101" pitchFamily="34" charset="-127"/>
                <a:ea typeface="BM HANNA 11yrs old OTF" panose="020B0600000101010101" pitchFamily="34" charset="-127"/>
                <a:cs typeface="Calibri" pitchFamily="34" charset="-120"/>
              </a:rPr>
              <a:t>before_agent</a:t>
            </a:r>
            <a:endParaRPr lang="en-US" sz="950" dirty="0">
              <a:latin typeface="BM HANNA 11yrs old OTF" panose="020B0600000101010101" pitchFamily="34" charset="-127"/>
              <a:ea typeface="BM HANNA 11yrs old OTF" panose="020B0600000101010101" pitchFamily="34" charset="-127"/>
            </a:endParaRPr>
          </a:p>
        </p:txBody>
      </p:sp>
      <p:sp>
        <p:nvSpPr>
          <p:cNvPr id="14" name="Text 11"/>
          <p:cNvSpPr/>
          <p:nvPr/>
        </p:nvSpPr>
        <p:spPr>
          <a:xfrm>
            <a:off x="3577590" y="2350008"/>
            <a:ext cx="2160270" cy="457200"/>
          </a:xfrm>
          <a:prstGeom prst="rect">
            <a:avLst/>
          </a:prstGeom>
          <a:noFill/>
          <a:ln/>
        </p:spPr>
        <p:txBody>
          <a:bodyPr wrap="square" lIns="0" tIns="0" rIns="0" bIns="0" rtlCol="0" anchor="ctr"/>
          <a:lstStyle/>
          <a:p>
            <a:pPr marL="0" indent="0">
              <a:buNone/>
            </a:pPr>
            <a:r>
              <a:rPr lang="en-US" sz="135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② Intent 분류</a:t>
            </a:r>
            <a:endParaRPr lang="en-US" sz="1350" dirty="0">
              <a:latin typeface="BM HANNA 11yrs old OTF" panose="020B0600000101010101" pitchFamily="34" charset="-127"/>
              <a:ea typeface="BM HANNA 11yrs old OTF" panose="020B0600000101010101" pitchFamily="34" charset="-127"/>
            </a:endParaRPr>
          </a:p>
        </p:txBody>
      </p:sp>
      <p:sp>
        <p:nvSpPr>
          <p:cNvPr id="15" name="Text 12"/>
          <p:cNvSpPr/>
          <p:nvPr/>
        </p:nvSpPr>
        <p:spPr>
          <a:xfrm>
            <a:off x="3577590" y="2788920"/>
            <a:ext cx="2160270" cy="502920"/>
          </a:xfrm>
          <a:prstGeom prst="rect">
            <a:avLst/>
          </a:prstGeom>
          <a:noFill/>
          <a:ln/>
        </p:spPr>
        <p:txBody>
          <a:bodyPr wrap="square" lIns="0" tIns="0" rIns="0" bIns="0" rtlCol="0" anchor="ctr"/>
          <a:lstStyle/>
          <a:p>
            <a:pPr marL="0" indent="0">
              <a:lnSpc>
                <a:spcPct val="115000"/>
              </a:lnSpc>
              <a:buNone/>
            </a:pPr>
            <a:r>
              <a:rPr lang="en-US" sz="1080" dirty="0">
                <a:solidFill>
                  <a:srgbClr val="22264A"/>
                </a:solidFill>
                <a:latin typeface="BM HANNA 11yrs old OTF" panose="020B0600000101010101" pitchFamily="34" charset="-127"/>
                <a:ea typeface="BM HANNA 11yrs old OTF" panose="020B0600000101010101" pitchFamily="34" charset="-127"/>
                <a:cs typeface="Calibri" pitchFamily="34" charset="-120"/>
              </a:rPr>
              <a:t>의도 라벨 State 저장</a:t>
            </a:r>
            <a:endParaRPr lang="en-US" sz="1080" dirty="0">
              <a:latin typeface="BM HANNA 11yrs old OTF" panose="020B0600000101010101" pitchFamily="34" charset="-127"/>
              <a:ea typeface="BM HANNA 11yrs old OTF" panose="020B0600000101010101" pitchFamily="34" charset="-127"/>
            </a:endParaRPr>
          </a:p>
        </p:txBody>
      </p:sp>
      <p:sp>
        <p:nvSpPr>
          <p:cNvPr id="16" name="Shape 13"/>
          <p:cNvSpPr/>
          <p:nvPr/>
        </p:nvSpPr>
        <p:spPr>
          <a:xfrm>
            <a:off x="6240780" y="1783080"/>
            <a:ext cx="2526030" cy="1554480"/>
          </a:xfrm>
          <a:prstGeom prst="roundRect">
            <a:avLst>
              <a:gd name="adj" fmla="val 5294"/>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7" name="Shape 14"/>
          <p:cNvSpPr/>
          <p:nvPr/>
        </p:nvSpPr>
        <p:spPr>
          <a:xfrm>
            <a:off x="6423660" y="1947672"/>
            <a:ext cx="1371600" cy="329184"/>
          </a:xfrm>
          <a:prstGeom prst="roundRect">
            <a:avLst>
              <a:gd name="adj" fmla="val 50000"/>
            </a:avLst>
          </a:prstGeom>
          <a:solidFill>
            <a:srgbClr val="F5A623"/>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8" name="Text 15"/>
          <p:cNvSpPr/>
          <p:nvPr/>
        </p:nvSpPr>
        <p:spPr>
          <a:xfrm>
            <a:off x="6423660" y="1947672"/>
            <a:ext cx="1371600"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BM HANNA 11yrs old OTF" panose="020B0600000101010101" pitchFamily="34" charset="-127"/>
                <a:ea typeface="BM HANNA 11yrs old OTF" panose="020B0600000101010101" pitchFamily="34" charset="-127"/>
                <a:cs typeface="Calibri" pitchFamily="34" charset="-120"/>
              </a:rPr>
              <a:t>wrap_model_call</a:t>
            </a:r>
            <a:endParaRPr lang="en-US" sz="950" dirty="0">
              <a:latin typeface="BM HANNA 11yrs old OTF" panose="020B0600000101010101" pitchFamily="34" charset="-127"/>
              <a:ea typeface="BM HANNA 11yrs old OTF" panose="020B0600000101010101" pitchFamily="34" charset="-127"/>
            </a:endParaRPr>
          </a:p>
        </p:txBody>
      </p:sp>
      <p:sp>
        <p:nvSpPr>
          <p:cNvPr id="19" name="Text 16"/>
          <p:cNvSpPr/>
          <p:nvPr/>
        </p:nvSpPr>
        <p:spPr>
          <a:xfrm>
            <a:off x="6423660" y="2350008"/>
            <a:ext cx="2160270" cy="457200"/>
          </a:xfrm>
          <a:prstGeom prst="rect">
            <a:avLst/>
          </a:prstGeom>
          <a:noFill/>
          <a:ln/>
        </p:spPr>
        <p:txBody>
          <a:bodyPr wrap="square" lIns="0" tIns="0" rIns="0" bIns="0" rtlCol="0" anchor="ctr"/>
          <a:lstStyle/>
          <a:p>
            <a:pPr marL="0" indent="0">
              <a:buNone/>
            </a:pPr>
            <a:r>
              <a:rPr lang="en-US" sz="135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③ 라우팅·개인화</a:t>
            </a:r>
            <a:endParaRPr lang="en-US" sz="1350" dirty="0">
              <a:latin typeface="BM HANNA 11yrs old OTF" panose="020B0600000101010101" pitchFamily="34" charset="-127"/>
              <a:ea typeface="BM HANNA 11yrs old OTF" panose="020B0600000101010101" pitchFamily="34" charset="-127"/>
            </a:endParaRPr>
          </a:p>
        </p:txBody>
      </p:sp>
      <p:sp>
        <p:nvSpPr>
          <p:cNvPr id="20" name="Text 17"/>
          <p:cNvSpPr/>
          <p:nvPr/>
        </p:nvSpPr>
        <p:spPr>
          <a:xfrm>
            <a:off x="6423660" y="2788920"/>
            <a:ext cx="2160270" cy="502920"/>
          </a:xfrm>
          <a:prstGeom prst="rect">
            <a:avLst/>
          </a:prstGeom>
          <a:noFill/>
          <a:ln/>
        </p:spPr>
        <p:txBody>
          <a:bodyPr wrap="square" lIns="0" tIns="0" rIns="0" bIns="0" rtlCol="0" anchor="ctr"/>
          <a:lstStyle/>
          <a:p>
            <a:pPr marL="0" indent="0">
              <a:lnSpc>
                <a:spcPct val="115000"/>
              </a:lnSpc>
              <a:buNone/>
            </a:pPr>
            <a:r>
              <a:rPr lang="en-US" sz="1080" dirty="0">
                <a:solidFill>
                  <a:srgbClr val="22264A"/>
                </a:solidFill>
                <a:latin typeface="BM HANNA 11yrs old OTF" panose="020B0600000101010101" pitchFamily="34" charset="-127"/>
                <a:ea typeface="BM HANNA 11yrs old OTF" panose="020B0600000101010101" pitchFamily="34" charset="-127"/>
                <a:cs typeface="Calibri" pitchFamily="34" charset="-120"/>
              </a:rPr>
              <a:t>Tool 노출 제한 + 선호 주입</a:t>
            </a:r>
            <a:endParaRPr lang="en-US" sz="1080" dirty="0">
              <a:latin typeface="BM HANNA 11yrs old OTF" panose="020B0600000101010101" pitchFamily="34" charset="-127"/>
              <a:ea typeface="BM HANNA 11yrs old OTF" panose="020B0600000101010101" pitchFamily="34" charset="-127"/>
            </a:endParaRPr>
          </a:p>
        </p:txBody>
      </p:sp>
      <p:sp>
        <p:nvSpPr>
          <p:cNvPr id="21" name="Shape 18"/>
          <p:cNvSpPr/>
          <p:nvPr/>
        </p:nvSpPr>
        <p:spPr>
          <a:xfrm>
            <a:off x="9086850" y="1783080"/>
            <a:ext cx="2526030" cy="1554480"/>
          </a:xfrm>
          <a:prstGeom prst="roundRect">
            <a:avLst>
              <a:gd name="adj" fmla="val 5294"/>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22" name="Shape 19"/>
          <p:cNvSpPr/>
          <p:nvPr/>
        </p:nvSpPr>
        <p:spPr>
          <a:xfrm>
            <a:off x="9269730" y="1947672"/>
            <a:ext cx="1371600" cy="329184"/>
          </a:xfrm>
          <a:prstGeom prst="roundRect">
            <a:avLst>
              <a:gd name="adj" fmla="val 50000"/>
            </a:avLst>
          </a:prstGeom>
          <a:solidFill>
            <a:srgbClr val="2F3C7E"/>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23" name="Text 20"/>
          <p:cNvSpPr/>
          <p:nvPr/>
        </p:nvSpPr>
        <p:spPr>
          <a:xfrm>
            <a:off x="9269730" y="1947672"/>
            <a:ext cx="1371600"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BM HANNA 11yrs old OTF" panose="020B0600000101010101" pitchFamily="34" charset="-127"/>
                <a:ea typeface="BM HANNA 11yrs old OTF" panose="020B0600000101010101" pitchFamily="34" charset="-127"/>
                <a:cs typeface="Calibri" pitchFamily="34" charset="-120"/>
              </a:rPr>
              <a:t>Model</a:t>
            </a:r>
            <a:endParaRPr lang="en-US" sz="950" dirty="0">
              <a:latin typeface="BM HANNA 11yrs old OTF" panose="020B0600000101010101" pitchFamily="34" charset="-127"/>
              <a:ea typeface="BM HANNA 11yrs old OTF" panose="020B0600000101010101" pitchFamily="34" charset="-127"/>
            </a:endParaRPr>
          </a:p>
        </p:txBody>
      </p:sp>
      <p:sp>
        <p:nvSpPr>
          <p:cNvPr id="24" name="Text 21"/>
          <p:cNvSpPr/>
          <p:nvPr/>
        </p:nvSpPr>
        <p:spPr>
          <a:xfrm>
            <a:off x="9269730" y="2350008"/>
            <a:ext cx="2160270" cy="457200"/>
          </a:xfrm>
          <a:prstGeom prst="rect">
            <a:avLst/>
          </a:prstGeom>
          <a:noFill/>
          <a:ln/>
        </p:spPr>
        <p:txBody>
          <a:bodyPr wrap="square" lIns="0" tIns="0" rIns="0" bIns="0" rtlCol="0" anchor="ctr"/>
          <a:lstStyle/>
          <a:p>
            <a:pPr marL="0" indent="0">
              <a:buNone/>
            </a:pPr>
            <a:r>
              <a:rPr lang="en-US" sz="135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④ GPT-5-mini 판단</a:t>
            </a:r>
            <a:endParaRPr lang="en-US" sz="1350" dirty="0">
              <a:latin typeface="BM HANNA 11yrs old OTF" panose="020B0600000101010101" pitchFamily="34" charset="-127"/>
              <a:ea typeface="BM HANNA 11yrs old OTF" panose="020B0600000101010101" pitchFamily="34" charset="-127"/>
            </a:endParaRPr>
          </a:p>
        </p:txBody>
      </p:sp>
      <p:sp>
        <p:nvSpPr>
          <p:cNvPr id="25" name="Text 22"/>
          <p:cNvSpPr/>
          <p:nvPr/>
        </p:nvSpPr>
        <p:spPr>
          <a:xfrm>
            <a:off x="9269730" y="2788920"/>
            <a:ext cx="2160270" cy="502920"/>
          </a:xfrm>
          <a:prstGeom prst="rect">
            <a:avLst/>
          </a:prstGeom>
          <a:noFill/>
          <a:ln/>
        </p:spPr>
        <p:txBody>
          <a:bodyPr wrap="square" lIns="0" tIns="0" rIns="0" bIns="0" rtlCol="0" anchor="ctr"/>
          <a:lstStyle/>
          <a:p>
            <a:pPr marL="0" indent="0">
              <a:lnSpc>
                <a:spcPct val="115000"/>
              </a:lnSpc>
              <a:buNone/>
            </a:pPr>
            <a:r>
              <a:rPr lang="en-US" sz="1080" dirty="0">
                <a:solidFill>
                  <a:srgbClr val="22264A"/>
                </a:solidFill>
                <a:latin typeface="BM HANNA 11yrs old OTF" panose="020B0600000101010101" pitchFamily="34" charset="-127"/>
                <a:ea typeface="BM HANNA 11yrs old OTF" panose="020B0600000101010101" pitchFamily="34" charset="-127"/>
                <a:cs typeface="Calibri" pitchFamily="34" charset="-120"/>
              </a:rPr>
              <a:t>조건 파싱·Tool 호출 결정</a:t>
            </a:r>
            <a:endParaRPr lang="en-US" sz="1080" dirty="0">
              <a:latin typeface="BM HANNA 11yrs old OTF" panose="020B0600000101010101" pitchFamily="34" charset="-127"/>
              <a:ea typeface="BM HANNA 11yrs old OTF" panose="020B0600000101010101" pitchFamily="34" charset="-127"/>
            </a:endParaRPr>
          </a:p>
        </p:txBody>
      </p:sp>
      <p:sp>
        <p:nvSpPr>
          <p:cNvPr id="26" name="Shape 23"/>
          <p:cNvSpPr/>
          <p:nvPr/>
        </p:nvSpPr>
        <p:spPr>
          <a:xfrm>
            <a:off x="3074670" y="2560320"/>
            <a:ext cx="320040" cy="0"/>
          </a:xfrm>
          <a:prstGeom prst="line">
            <a:avLst/>
          </a:prstGeom>
          <a:noFill/>
          <a:ln w="22225">
            <a:solidFill>
              <a:srgbClr val="9AA0C0"/>
            </a:solidFill>
            <a:prstDash val="solid"/>
            <a:tailEnd type="triangle"/>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27" name="Shape 24"/>
          <p:cNvSpPr/>
          <p:nvPr/>
        </p:nvSpPr>
        <p:spPr>
          <a:xfrm>
            <a:off x="5920740" y="2560320"/>
            <a:ext cx="320040" cy="0"/>
          </a:xfrm>
          <a:prstGeom prst="line">
            <a:avLst/>
          </a:prstGeom>
          <a:noFill/>
          <a:ln w="22225">
            <a:solidFill>
              <a:srgbClr val="9AA0C0"/>
            </a:solidFill>
            <a:prstDash val="solid"/>
            <a:tailEnd type="triangle"/>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28" name="Shape 25"/>
          <p:cNvSpPr/>
          <p:nvPr/>
        </p:nvSpPr>
        <p:spPr>
          <a:xfrm>
            <a:off x="8766810" y="2560320"/>
            <a:ext cx="320040" cy="0"/>
          </a:xfrm>
          <a:prstGeom prst="line">
            <a:avLst/>
          </a:prstGeom>
          <a:noFill/>
          <a:ln w="22225">
            <a:solidFill>
              <a:srgbClr val="9AA0C0"/>
            </a:solidFill>
            <a:prstDash val="solid"/>
            <a:tailEnd type="triangle"/>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29" name="Shape 26"/>
          <p:cNvSpPr/>
          <p:nvPr/>
        </p:nvSpPr>
        <p:spPr>
          <a:xfrm>
            <a:off x="9086850" y="3611880"/>
            <a:ext cx="2526030" cy="1554480"/>
          </a:xfrm>
          <a:prstGeom prst="roundRect">
            <a:avLst>
              <a:gd name="adj" fmla="val 5294"/>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30" name="Shape 27"/>
          <p:cNvSpPr/>
          <p:nvPr/>
        </p:nvSpPr>
        <p:spPr>
          <a:xfrm>
            <a:off x="9269730" y="3776472"/>
            <a:ext cx="1371600" cy="329184"/>
          </a:xfrm>
          <a:prstGeom prst="roundRect">
            <a:avLst>
              <a:gd name="adj" fmla="val 50000"/>
            </a:avLst>
          </a:prstGeom>
          <a:solidFill>
            <a:srgbClr val="F5A623"/>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31" name="Text 28"/>
          <p:cNvSpPr/>
          <p:nvPr/>
        </p:nvSpPr>
        <p:spPr>
          <a:xfrm>
            <a:off x="9269730" y="3776472"/>
            <a:ext cx="1371600"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BM HANNA 11yrs old OTF" panose="020B0600000101010101" pitchFamily="34" charset="-127"/>
                <a:ea typeface="BM HANNA 11yrs old OTF" panose="020B0600000101010101" pitchFamily="34" charset="-127"/>
                <a:cs typeface="Calibri" pitchFamily="34" charset="-120"/>
              </a:rPr>
              <a:t>wrap_tool_call</a:t>
            </a:r>
            <a:endParaRPr lang="en-US" sz="950" dirty="0">
              <a:latin typeface="BM HANNA 11yrs old OTF" panose="020B0600000101010101" pitchFamily="34" charset="-127"/>
              <a:ea typeface="BM HANNA 11yrs old OTF" panose="020B0600000101010101" pitchFamily="34" charset="-127"/>
            </a:endParaRPr>
          </a:p>
        </p:txBody>
      </p:sp>
      <p:sp>
        <p:nvSpPr>
          <p:cNvPr id="32" name="Text 29"/>
          <p:cNvSpPr/>
          <p:nvPr/>
        </p:nvSpPr>
        <p:spPr>
          <a:xfrm>
            <a:off x="9269730" y="4178808"/>
            <a:ext cx="2160270" cy="457200"/>
          </a:xfrm>
          <a:prstGeom prst="rect">
            <a:avLst/>
          </a:prstGeom>
          <a:noFill/>
          <a:ln/>
        </p:spPr>
        <p:txBody>
          <a:bodyPr wrap="square" lIns="0" tIns="0" rIns="0" bIns="0" rtlCol="0" anchor="ctr"/>
          <a:lstStyle/>
          <a:p>
            <a:pPr marL="0" indent="0">
              <a:buNone/>
            </a:pPr>
            <a:r>
              <a:rPr lang="en-US" sz="135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⑤ 지역코드·캐시</a:t>
            </a:r>
            <a:endParaRPr lang="en-US" sz="1350" dirty="0">
              <a:latin typeface="BM HANNA 11yrs old OTF" panose="020B0600000101010101" pitchFamily="34" charset="-127"/>
              <a:ea typeface="BM HANNA 11yrs old OTF" panose="020B0600000101010101" pitchFamily="34" charset="-127"/>
            </a:endParaRPr>
          </a:p>
        </p:txBody>
      </p:sp>
      <p:sp>
        <p:nvSpPr>
          <p:cNvPr id="33" name="Text 30"/>
          <p:cNvSpPr/>
          <p:nvPr/>
        </p:nvSpPr>
        <p:spPr>
          <a:xfrm>
            <a:off x="9269730" y="4617720"/>
            <a:ext cx="2160270" cy="502920"/>
          </a:xfrm>
          <a:prstGeom prst="rect">
            <a:avLst/>
          </a:prstGeom>
          <a:noFill/>
          <a:ln/>
        </p:spPr>
        <p:txBody>
          <a:bodyPr wrap="square" lIns="0" tIns="0" rIns="0" bIns="0" rtlCol="0" anchor="ctr"/>
          <a:lstStyle/>
          <a:p>
            <a:pPr marL="0" indent="0">
              <a:lnSpc>
                <a:spcPct val="115000"/>
              </a:lnSpc>
              <a:buNone/>
            </a:pPr>
            <a:r>
              <a:rPr lang="en-US" sz="1080" dirty="0">
                <a:solidFill>
                  <a:srgbClr val="22264A"/>
                </a:solidFill>
                <a:latin typeface="BM HANNA 11yrs old OTF" panose="020B0600000101010101" pitchFamily="34" charset="-127"/>
                <a:ea typeface="BM HANNA 11yrs old OTF" panose="020B0600000101010101" pitchFamily="34" charset="-127"/>
                <a:cs typeface="Calibri" pitchFamily="34" charset="-120"/>
              </a:rPr>
              <a:t>API 실행, 3회 재시도</a:t>
            </a:r>
            <a:endParaRPr lang="en-US" sz="1080" dirty="0">
              <a:latin typeface="BM HANNA 11yrs old OTF" panose="020B0600000101010101" pitchFamily="34" charset="-127"/>
              <a:ea typeface="BM HANNA 11yrs old OTF" panose="020B0600000101010101" pitchFamily="34" charset="-127"/>
            </a:endParaRPr>
          </a:p>
        </p:txBody>
      </p:sp>
      <p:sp>
        <p:nvSpPr>
          <p:cNvPr id="34" name="Shape 31"/>
          <p:cNvSpPr/>
          <p:nvPr/>
        </p:nvSpPr>
        <p:spPr>
          <a:xfrm>
            <a:off x="6240780" y="3611880"/>
            <a:ext cx="2526030" cy="1554480"/>
          </a:xfrm>
          <a:prstGeom prst="roundRect">
            <a:avLst>
              <a:gd name="adj" fmla="val 5294"/>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35" name="Shape 32"/>
          <p:cNvSpPr/>
          <p:nvPr/>
        </p:nvSpPr>
        <p:spPr>
          <a:xfrm>
            <a:off x="6423660" y="3776472"/>
            <a:ext cx="1371600" cy="329184"/>
          </a:xfrm>
          <a:prstGeom prst="roundRect">
            <a:avLst>
              <a:gd name="adj" fmla="val 50000"/>
            </a:avLst>
          </a:prstGeom>
          <a:solidFill>
            <a:srgbClr val="F5A623"/>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36" name="Text 33"/>
          <p:cNvSpPr/>
          <p:nvPr/>
        </p:nvSpPr>
        <p:spPr>
          <a:xfrm>
            <a:off x="6423660" y="3776472"/>
            <a:ext cx="1371600"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BM HANNA 11yrs old OTF" panose="020B0600000101010101" pitchFamily="34" charset="-127"/>
                <a:ea typeface="BM HANNA 11yrs old OTF" panose="020B0600000101010101" pitchFamily="34" charset="-127"/>
                <a:cs typeface="Calibri" pitchFamily="34" charset="-120"/>
              </a:rPr>
              <a:t>wrap_tool_call</a:t>
            </a:r>
            <a:endParaRPr lang="en-US" sz="950" dirty="0">
              <a:latin typeface="BM HANNA 11yrs old OTF" panose="020B0600000101010101" pitchFamily="34" charset="-127"/>
              <a:ea typeface="BM HANNA 11yrs old OTF" panose="020B0600000101010101" pitchFamily="34" charset="-127"/>
            </a:endParaRPr>
          </a:p>
        </p:txBody>
      </p:sp>
      <p:sp>
        <p:nvSpPr>
          <p:cNvPr id="37" name="Text 34"/>
          <p:cNvSpPr/>
          <p:nvPr/>
        </p:nvSpPr>
        <p:spPr>
          <a:xfrm>
            <a:off x="6423660" y="4178808"/>
            <a:ext cx="2160270" cy="457200"/>
          </a:xfrm>
          <a:prstGeom prst="rect">
            <a:avLst/>
          </a:prstGeom>
          <a:noFill/>
          <a:ln/>
        </p:spPr>
        <p:txBody>
          <a:bodyPr wrap="square" lIns="0" tIns="0" rIns="0" bIns="0" rtlCol="0" anchor="ctr"/>
          <a:lstStyle/>
          <a:p>
            <a:pPr marL="0" indent="0">
              <a:buNone/>
            </a:pPr>
            <a:r>
              <a:rPr lang="en-US" sz="135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⑥ 결과 1차 필터링</a:t>
            </a:r>
            <a:endParaRPr lang="en-US" sz="1350" dirty="0">
              <a:latin typeface="BM HANNA 11yrs old OTF" panose="020B0600000101010101" pitchFamily="34" charset="-127"/>
              <a:ea typeface="BM HANNA 11yrs old OTF" panose="020B0600000101010101" pitchFamily="34" charset="-127"/>
            </a:endParaRPr>
          </a:p>
        </p:txBody>
      </p:sp>
      <p:sp>
        <p:nvSpPr>
          <p:cNvPr id="38" name="Text 35"/>
          <p:cNvSpPr/>
          <p:nvPr/>
        </p:nvSpPr>
        <p:spPr>
          <a:xfrm>
            <a:off x="6423660" y="4617720"/>
            <a:ext cx="2160270" cy="502920"/>
          </a:xfrm>
          <a:prstGeom prst="rect">
            <a:avLst/>
          </a:prstGeom>
          <a:noFill/>
          <a:ln/>
        </p:spPr>
        <p:txBody>
          <a:bodyPr wrap="square" lIns="0" tIns="0" rIns="0" bIns="0" rtlCol="0" anchor="ctr"/>
          <a:lstStyle/>
          <a:p>
            <a:pPr marL="0" indent="0">
              <a:lnSpc>
                <a:spcPct val="115000"/>
              </a:lnSpc>
              <a:buNone/>
            </a:pPr>
            <a:r>
              <a:rPr lang="en-US" sz="1080" dirty="0">
                <a:solidFill>
                  <a:srgbClr val="22264A"/>
                </a:solidFill>
                <a:latin typeface="BM HANNA 11yrs old OTF" panose="020B0600000101010101" pitchFamily="34" charset="-127"/>
                <a:ea typeface="BM HANNA 11yrs old OTF" panose="020B0600000101010101" pitchFamily="34" charset="-127"/>
                <a:cs typeface="Calibri" pitchFamily="34" charset="-120"/>
              </a:rPr>
              <a:t>종결 공고·폐업 시설 제거</a:t>
            </a:r>
            <a:endParaRPr lang="en-US" sz="1080" dirty="0">
              <a:latin typeface="BM HANNA 11yrs old OTF" panose="020B0600000101010101" pitchFamily="34" charset="-127"/>
              <a:ea typeface="BM HANNA 11yrs old OTF" panose="020B0600000101010101" pitchFamily="34" charset="-127"/>
            </a:endParaRPr>
          </a:p>
        </p:txBody>
      </p:sp>
      <p:sp>
        <p:nvSpPr>
          <p:cNvPr id="39" name="Shape 36"/>
          <p:cNvSpPr/>
          <p:nvPr/>
        </p:nvSpPr>
        <p:spPr>
          <a:xfrm>
            <a:off x="3394710" y="3611880"/>
            <a:ext cx="2526030" cy="1554480"/>
          </a:xfrm>
          <a:prstGeom prst="roundRect">
            <a:avLst>
              <a:gd name="adj" fmla="val 5294"/>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40" name="Shape 37"/>
          <p:cNvSpPr/>
          <p:nvPr/>
        </p:nvSpPr>
        <p:spPr>
          <a:xfrm>
            <a:off x="3577590" y="3776472"/>
            <a:ext cx="1371600" cy="329184"/>
          </a:xfrm>
          <a:prstGeom prst="roundRect">
            <a:avLst>
              <a:gd name="adj" fmla="val 50000"/>
            </a:avLst>
          </a:prstGeom>
          <a:solidFill>
            <a:srgbClr val="2F3C7E"/>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41" name="Text 38"/>
          <p:cNvSpPr/>
          <p:nvPr/>
        </p:nvSpPr>
        <p:spPr>
          <a:xfrm>
            <a:off x="3577590" y="3776472"/>
            <a:ext cx="1371600"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BM HANNA 11yrs old OTF" panose="020B0600000101010101" pitchFamily="34" charset="-127"/>
                <a:ea typeface="BM HANNA 11yrs old OTF" panose="020B0600000101010101" pitchFamily="34" charset="-127"/>
                <a:cs typeface="Calibri" pitchFamily="34" charset="-120"/>
              </a:rPr>
              <a:t>Structured Output</a:t>
            </a:r>
            <a:endParaRPr lang="en-US" sz="950" dirty="0">
              <a:latin typeface="BM HANNA 11yrs old OTF" panose="020B0600000101010101" pitchFamily="34" charset="-127"/>
              <a:ea typeface="BM HANNA 11yrs old OTF" panose="020B0600000101010101" pitchFamily="34" charset="-127"/>
            </a:endParaRPr>
          </a:p>
        </p:txBody>
      </p:sp>
      <p:sp>
        <p:nvSpPr>
          <p:cNvPr id="42" name="Text 39"/>
          <p:cNvSpPr/>
          <p:nvPr/>
        </p:nvSpPr>
        <p:spPr>
          <a:xfrm>
            <a:off x="3577590" y="4178808"/>
            <a:ext cx="2160270" cy="457200"/>
          </a:xfrm>
          <a:prstGeom prst="rect">
            <a:avLst/>
          </a:prstGeom>
          <a:noFill/>
          <a:ln/>
        </p:spPr>
        <p:txBody>
          <a:bodyPr wrap="square" lIns="0" tIns="0" rIns="0" bIns="0" rtlCol="0" anchor="ctr"/>
          <a:lstStyle/>
          <a:p>
            <a:pPr marL="0" indent="0">
              <a:buNone/>
            </a:pPr>
            <a:r>
              <a:rPr lang="en-US" sz="135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⑦ AgentResponse 생성</a:t>
            </a:r>
            <a:endParaRPr lang="en-US" sz="1350" dirty="0">
              <a:latin typeface="BM HANNA 11yrs old OTF" panose="020B0600000101010101" pitchFamily="34" charset="-127"/>
              <a:ea typeface="BM HANNA 11yrs old OTF" panose="020B0600000101010101" pitchFamily="34" charset="-127"/>
            </a:endParaRPr>
          </a:p>
        </p:txBody>
      </p:sp>
      <p:sp>
        <p:nvSpPr>
          <p:cNvPr id="43" name="Text 40"/>
          <p:cNvSpPr/>
          <p:nvPr/>
        </p:nvSpPr>
        <p:spPr>
          <a:xfrm>
            <a:off x="3577590" y="4617720"/>
            <a:ext cx="2160270" cy="502920"/>
          </a:xfrm>
          <a:prstGeom prst="rect">
            <a:avLst/>
          </a:prstGeom>
          <a:noFill/>
          <a:ln/>
        </p:spPr>
        <p:txBody>
          <a:bodyPr wrap="square" lIns="0" tIns="0" rIns="0" bIns="0" rtlCol="0" anchor="ctr"/>
          <a:lstStyle/>
          <a:p>
            <a:pPr marL="0" indent="0">
              <a:lnSpc>
                <a:spcPct val="115000"/>
              </a:lnSpc>
              <a:buNone/>
            </a:pPr>
            <a:r>
              <a:rPr lang="en-US" sz="1080" dirty="0">
                <a:solidFill>
                  <a:srgbClr val="22264A"/>
                </a:solidFill>
                <a:latin typeface="BM HANNA 11yrs old OTF" panose="020B0600000101010101" pitchFamily="34" charset="-127"/>
                <a:ea typeface="BM HANNA 11yrs old OTF" panose="020B0600000101010101" pitchFamily="34" charset="-127"/>
                <a:cs typeface="Calibri" pitchFamily="34" charset="-120"/>
              </a:rPr>
              <a:t>response_type·grounded 포맷팅</a:t>
            </a:r>
            <a:endParaRPr lang="en-US" sz="1080" dirty="0">
              <a:latin typeface="BM HANNA 11yrs old OTF" panose="020B0600000101010101" pitchFamily="34" charset="-127"/>
              <a:ea typeface="BM HANNA 11yrs old OTF" panose="020B0600000101010101" pitchFamily="34" charset="-127"/>
            </a:endParaRPr>
          </a:p>
        </p:txBody>
      </p:sp>
      <p:sp>
        <p:nvSpPr>
          <p:cNvPr id="44" name="Shape 41"/>
          <p:cNvSpPr/>
          <p:nvPr/>
        </p:nvSpPr>
        <p:spPr>
          <a:xfrm>
            <a:off x="548640" y="3611880"/>
            <a:ext cx="2526030" cy="1554480"/>
          </a:xfrm>
          <a:prstGeom prst="roundRect">
            <a:avLst>
              <a:gd name="adj" fmla="val 5294"/>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45" name="Shape 42"/>
          <p:cNvSpPr/>
          <p:nvPr/>
        </p:nvSpPr>
        <p:spPr>
          <a:xfrm>
            <a:off x="731520" y="3776472"/>
            <a:ext cx="1371600" cy="329184"/>
          </a:xfrm>
          <a:prstGeom prst="roundRect">
            <a:avLst>
              <a:gd name="adj" fmla="val 50000"/>
            </a:avLst>
          </a:prstGeom>
          <a:solidFill>
            <a:srgbClr val="F96167"/>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46" name="Text 43"/>
          <p:cNvSpPr/>
          <p:nvPr/>
        </p:nvSpPr>
        <p:spPr>
          <a:xfrm>
            <a:off x="731520" y="3776472"/>
            <a:ext cx="1371600"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BM HANNA 11yrs old OTF" panose="020B0600000101010101" pitchFamily="34" charset="-127"/>
                <a:ea typeface="BM HANNA 11yrs old OTF" panose="020B0600000101010101" pitchFamily="34" charset="-127"/>
                <a:cs typeface="Calibri" pitchFamily="34" charset="-120"/>
              </a:rPr>
              <a:t>after_agent</a:t>
            </a:r>
            <a:endParaRPr lang="en-US" sz="950" dirty="0">
              <a:latin typeface="BM HANNA 11yrs old OTF" panose="020B0600000101010101" pitchFamily="34" charset="-127"/>
              <a:ea typeface="BM HANNA 11yrs old OTF" panose="020B0600000101010101" pitchFamily="34" charset="-127"/>
            </a:endParaRPr>
          </a:p>
        </p:txBody>
      </p:sp>
      <p:sp>
        <p:nvSpPr>
          <p:cNvPr id="47" name="Text 44"/>
          <p:cNvSpPr/>
          <p:nvPr/>
        </p:nvSpPr>
        <p:spPr>
          <a:xfrm>
            <a:off x="731520" y="4178808"/>
            <a:ext cx="2160270" cy="457200"/>
          </a:xfrm>
          <a:prstGeom prst="rect">
            <a:avLst/>
          </a:prstGeom>
          <a:noFill/>
          <a:ln/>
        </p:spPr>
        <p:txBody>
          <a:bodyPr wrap="square" lIns="0" tIns="0" rIns="0" bIns="0" rtlCol="0" anchor="ctr"/>
          <a:lstStyle/>
          <a:p>
            <a:pPr marL="0" indent="0">
              <a:buNone/>
            </a:pPr>
            <a:r>
              <a:rPr lang="en-US" sz="135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⑧ Output Guardrail</a:t>
            </a:r>
            <a:endParaRPr lang="en-US" sz="1350" dirty="0">
              <a:latin typeface="BM HANNA 11yrs old OTF" panose="020B0600000101010101" pitchFamily="34" charset="-127"/>
              <a:ea typeface="BM HANNA 11yrs old OTF" panose="020B0600000101010101" pitchFamily="34" charset="-127"/>
            </a:endParaRPr>
          </a:p>
        </p:txBody>
      </p:sp>
      <p:sp>
        <p:nvSpPr>
          <p:cNvPr id="48" name="Text 45"/>
          <p:cNvSpPr/>
          <p:nvPr/>
        </p:nvSpPr>
        <p:spPr>
          <a:xfrm>
            <a:off x="731520" y="4617720"/>
            <a:ext cx="2160270" cy="502920"/>
          </a:xfrm>
          <a:prstGeom prst="rect">
            <a:avLst/>
          </a:prstGeom>
          <a:noFill/>
          <a:ln/>
        </p:spPr>
        <p:txBody>
          <a:bodyPr wrap="square" lIns="0" tIns="0" rIns="0" bIns="0" rtlCol="0" anchor="ctr"/>
          <a:lstStyle/>
          <a:p>
            <a:pPr marL="0" indent="0">
              <a:lnSpc>
                <a:spcPct val="115000"/>
              </a:lnSpc>
              <a:buNone/>
            </a:pPr>
            <a:r>
              <a:rPr lang="en-US" sz="1080" dirty="0">
                <a:solidFill>
                  <a:srgbClr val="22264A"/>
                </a:solidFill>
                <a:latin typeface="BM HANNA 11yrs old OTF" panose="020B0600000101010101" pitchFamily="34" charset="-127"/>
                <a:ea typeface="BM HANNA 11yrs old OTF" panose="020B0600000101010101" pitchFamily="34" charset="-127"/>
                <a:cs typeface="Calibri" pitchFamily="34" charset="-120"/>
              </a:rPr>
              <a:t>PII 마스킹·grounded 최종 검증</a:t>
            </a:r>
            <a:endParaRPr lang="en-US" sz="1080" dirty="0">
              <a:latin typeface="BM HANNA 11yrs old OTF" panose="020B0600000101010101" pitchFamily="34" charset="-127"/>
              <a:ea typeface="BM HANNA 11yrs old OTF" panose="020B0600000101010101" pitchFamily="34" charset="-127"/>
            </a:endParaRPr>
          </a:p>
        </p:txBody>
      </p:sp>
      <p:sp>
        <p:nvSpPr>
          <p:cNvPr id="49" name="Shape 46"/>
          <p:cNvSpPr/>
          <p:nvPr/>
        </p:nvSpPr>
        <p:spPr>
          <a:xfrm>
            <a:off x="9086850" y="4389120"/>
            <a:ext cx="0" cy="0"/>
          </a:xfrm>
          <a:prstGeom prst="line">
            <a:avLst/>
          </a:prstGeom>
          <a:noFill/>
          <a:ln w="22225">
            <a:solidFill>
              <a:srgbClr val="9AA0C0"/>
            </a:solidFill>
            <a:prstDash val="solid"/>
            <a:tailEnd type="triangle"/>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50" name="Shape 47"/>
          <p:cNvSpPr/>
          <p:nvPr/>
        </p:nvSpPr>
        <p:spPr>
          <a:xfrm>
            <a:off x="6240780" y="4389120"/>
            <a:ext cx="0" cy="0"/>
          </a:xfrm>
          <a:prstGeom prst="line">
            <a:avLst/>
          </a:prstGeom>
          <a:noFill/>
          <a:ln w="22225">
            <a:solidFill>
              <a:srgbClr val="9AA0C0"/>
            </a:solidFill>
            <a:prstDash val="solid"/>
            <a:tailEnd type="triangle"/>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51" name="Shape 48"/>
          <p:cNvSpPr/>
          <p:nvPr/>
        </p:nvSpPr>
        <p:spPr>
          <a:xfrm>
            <a:off x="3394710" y="4389120"/>
            <a:ext cx="0" cy="0"/>
          </a:xfrm>
          <a:prstGeom prst="line">
            <a:avLst/>
          </a:prstGeom>
          <a:noFill/>
          <a:ln w="22225">
            <a:solidFill>
              <a:srgbClr val="9AA0C0"/>
            </a:solidFill>
            <a:prstDash val="solid"/>
            <a:tailEnd type="triangle"/>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52" name="Shape 49"/>
          <p:cNvSpPr/>
          <p:nvPr/>
        </p:nvSpPr>
        <p:spPr>
          <a:xfrm>
            <a:off x="10349865" y="3337560"/>
            <a:ext cx="0" cy="274320"/>
          </a:xfrm>
          <a:prstGeom prst="line">
            <a:avLst/>
          </a:prstGeom>
          <a:noFill/>
          <a:ln w="22225">
            <a:solidFill>
              <a:srgbClr val="9AA0C0"/>
            </a:solidFill>
            <a:prstDash val="solid"/>
            <a:tailEnd type="triangle"/>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53" name="Shape 50"/>
          <p:cNvSpPr/>
          <p:nvPr/>
        </p:nvSpPr>
        <p:spPr>
          <a:xfrm>
            <a:off x="1811655" y="5166360"/>
            <a:ext cx="0" cy="201168"/>
          </a:xfrm>
          <a:prstGeom prst="line">
            <a:avLst/>
          </a:prstGeom>
          <a:noFill/>
          <a:ln w="22225">
            <a:solidFill>
              <a:srgbClr val="9AA0C0"/>
            </a:solidFill>
            <a:prstDash val="solid"/>
            <a:tailEnd type="triangle"/>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54" name="Shape 51"/>
          <p:cNvSpPr/>
          <p:nvPr/>
        </p:nvSpPr>
        <p:spPr>
          <a:xfrm>
            <a:off x="548640" y="5394960"/>
            <a:ext cx="2651760" cy="502920"/>
          </a:xfrm>
          <a:prstGeom prst="roundRect">
            <a:avLst>
              <a:gd name="adj" fmla="val 25455"/>
            </a:avLst>
          </a:prstGeom>
          <a:solidFill>
            <a:srgbClr val="1E2761"/>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55" name="Text 52"/>
          <p:cNvSpPr/>
          <p:nvPr/>
        </p:nvSpPr>
        <p:spPr>
          <a:xfrm>
            <a:off x="548640" y="5394960"/>
            <a:ext cx="26517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BM HANNA 11yrs old OTF" panose="020B0600000101010101" pitchFamily="34" charset="-127"/>
                <a:ea typeface="BM HANNA 11yrs old OTF" panose="020B0600000101010101" pitchFamily="34" charset="-127"/>
                <a:cs typeface="Cambria" pitchFamily="34" charset="-120"/>
              </a:rPr>
              <a:t>최종 응답</a:t>
            </a:r>
            <a:endParaRPr lang="en-US" sz="1300" dirty="0">
              <a:latin typeface="BM HANNA 11yrs old OTF" panose="020B0600000101010101" pitchFamily="34" charset="-127"/>
              <a:ea typeface="BM HANNA 11yrs old OTF" panose="020B0600000101010101" pitchFamily="34" charset="-127"/>
            </a:endParaRPr>
          </a:p>
        </p:txBody>
      </p:sp>
      <p:sp>
        <p:nvSpPr>
          <p:cNvPr id="56" name="Text 53"/>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10</a:t>
            </a:r>
            <a:endParaRPr lang="en-US" sz="1000" dirty="0">
              <a:latin typeface="BM HANNA 11yrs old OTF" panose="020B0600000101010101" pitchFamily="34" charset="-127"/>
              <a:ea typeface="BM HANNA 11yrs old OTF" panose="020B0600000101010101" pitchFamily="34" charset="-127"/>
            </a:endParaRPr>
          </a:p>
        </p:txBody>
      </p:sp>
      <p:sp>
        <p:nvSpPr>
          <p:cNvPr id="57" name="Text 54"/>
          <p:cNvSpPr/>
          <p:nvPr/>
        </p:nvSpPr>
        <p:spPr>
          <a:xfrm>
            <a:off x="457200" y="6446520"/>
            <a:ext cx="3657600" cy="274320"/>
          </a:xfrm>
          <a:prstGeom prst="rect">
            <a:avLst/>
          </a:prstGeom>
          <a:noFill/>
          <a:ln/>
        </p:spPr>
        <p:txBody>
          <a:bodyPr wrap="square" lIns="0" tIns="0" rIns="0" bIns="0" rtlCol="0" anchor="ctr"/>
          <a:lstStyle/>
          <a:p>
            <a:pPr marL="0" indent="0" algn="l">
              <a:buNone/>
            </a:pPr>
            <a:r>
              <a:rPr lang="en-US" sz="9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함께갈개 · AI Agent 설계</a:t>
            </a:r>
            <a:endParaRPr lang="en-US" sz="900" dirty="0">
              <a:latin typeface="BM HANNA 11yrs old OTF" panose="020B0600000101010101" pitchFamily="34" charset="-127"/>
              <a:ea typeface="BM HANNA 11yrs old OTF" panose="020B0600000101010101" pitchFamily="34" charset="-127"/>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658368" cy="658368"/>
          </a:xfrm>
          <a:prstGeom prst="ellipse">
            <a:avLst/>
          </a:prstGeom>
          <a:solidFill>
            <a:srgbClr val="F96167"/>
          </a:solidFill>
          <a:ln/>
          <a:effectLst>
            <a:outerShdw blurRad="76200" dist="25400" dir="5400000" algn="bl" rotWithShape="0">
              <a:srgbClr val="888888">
                <a:alpha val="25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3" name="Image 0" descr="/home/claude/ppt_project/icons/robot.png"/>
          <p:cNvPicPr>
            <a:picLocks noChangeAspect="1"/>
          </p:cNvPicPr>
          <p:nvPr/>
        </p:nvPicPr>
        <p:blipFill>
          <a:blip r:embed="rId3"/>
          <a:stretch>
            <a:fillRect/>
          </a:stretch>
        </p:blipFill>
        <p:spPr>
          <a:xfrm>
            <a:off x="713232" y="594360"/>
            <a:ext cx="237744" cy="237744"/>
          </a:xfrm>
          <a:prstGeom prst="rect">
            <a:avLst/>
          </a:prstGeom>
        </p:spPr>
      </p:pic>
      <p:sp>
        <p:nvSpPr>
          <p:cNvPr id="4" name="Text 1"/>
          <p:cNvSpPr/>
          <p:nvPr/>
        </p:nvSpPr>
        <p:spPr>
          <a:xfrm>
            <a:off x="1325880" y="329184"/>
            <a:ext cx="9875520" cy="502920"/>
          </a:xfrm>
          <a:prstGeom prst="rect">
            <a:avLst/>
          </a:prstGeom>
          <a:noFill/>
          <a:ln/>
        </p:spPr>
        <p:txBody>
          <a:bodyPr wrap="square" lIns="0" tIns="0" rIns="0" bIns="0" rtlCol="0" anchor="ctr"/>
          <a:lstStyle/>
          <a:p>
            <a:pPr marL="0" indent="0" algn="l">
              <a:buNone/>
            </a:pPr>
            <a:r>
              <a:rPr lang="en-US" sz="27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LLM 모델 설계</a:t>
            </a:r>
            <a:endParaRPr lang="en-US" sz="2700" dirty="0">
              <a:latin typeface="BM HANNA 11yrs old OTF" panose="020B0600000101010101" pitchFamily="34" charset="-127"/>
              <a:ea typeface="BM HANNA 11yrs old OTF" panose="020B0600000101010101" pitchFamily="34" charset="-127"/>
            </a:endParaRPr>
          </a:p>
        </p:txBody>
      </p:sp>
      <p:sp>
        <p:nvSpPr>
          <p:cNvPr id="5" name="Text 2"/>
          <p:cNvSpPr/>
          <p:nvPr/>
        </p:nvSpPr>
        <p:spPr>
          <a:xfrm>
            <a:off x="1325880" y="822960"/>
            <a:ext cx="9875520" cy="292608"/>
          </a:xfrm>
          <a:prstGeom prst="rect">
            <a:avLst/>
          </a:prstGeom>
          <a:noFill/>
          <a:ln/>
        </p:spPr>
        <p:txBody>
          <a:bodyPr wrap="square" lIns="0" tIns="0" rIns="0" bIns="0" rtlCol="0" anchor="ctr"/>
          <a:lstStyle/>
          <a:p>
            <a:pPr marL="0" indent="0" algn="l">
              <a:buNone/>
            </a:pPr>
            <a:r>
              <a:rPr lang="en-US" sz="1200" i="1" dirty="0">
                <a:solidFill>
                  <a:srgbClr val="6B6F8A"/>
                </a:solidFill>
                <a:latin typeface="BM HANNA 11yrs old OTF" panose="020B0600000101010101" pitchFamily="34" charset="-127"/>
                <a:ea typeface="BM HANNA 11yrs old OTF" panose="020B0600000101010101" pitchFamily="34" charset="-127"/>
                <a:cs typeface="Calibri" pitchFamily="34" charset="-120"/>
              </a:rPr>
              <a:t>2.3  오케스트레이터 · 분류기 역할 분리</a:t>
            </a:r>
            <a:endParaRPr lang="en-US" sz="1200" dirty="0">
              <a:latin typeface="BM HANNA 11yrs old OTF" panose="020B0600000101010101" pitchFamily="34" charset="-127"/>
              <a:ea typeface="BM HANNA 11yrs old OTF" panose="020B0600000101010101" pitchFamily="34" charset="-127"/>
            </a:endParaRPr>
          </a:p>
        </p:txBody>
      </p:sp>
      <p:sp>
        <p:nvSpPr>
          <p:cNvPr id="6" name="Shape 3"/>
          <p:cNvSpPr/>
          <p:nvPr/>
        </p:nvSpPr>
        <p:spPr>
          <a:xfrm>
            <a:off x="548640" y="1737360"/>
            <a:ext cx="5349240" cy="4206240"/>
          </a:xfrm>
          <a:prstGeom prst="roundRect">
            <a:avLst>
              <a:gd name="adj" fmla="val 1957"/>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7" name="Shape 4"/>
          <p:cNvSpPr/>
          <p:nvPr/>
        </p:nvSpPr>
        <p:spPr>
          <a:xfrm>
            <a:off x="868680" y="2029968"/>
            <a:ext cx="594360" cy="594360"/>
          </a:xfrm>
          <a:prstGeom prst="ellipse">
            <a:avLst/>
          </a:prstGeom>
          <a:solidFill>
            <a:srgbClr val="2F3C7E"/>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8" name="Image 1" descr="/home/claude/ppt_project/icons/robot.png"/>
          <p:cNvPicPr>
            <a:picLocks noChangeAspect="1"/>
          </p:cNvPicPr>
          <p:nvPr/>
        </p:nvPicPr>
        <p:blipFill>
          <a:blip r:embed="rId3"/>
          <a:stretch>
            <a:fillRect/>
          </a:stretch>
        </p:blipFill>
        <p:spPr>
          <a:xfrm>
            <a:off x="1029157" y="2190445"/>
            <a:ext cx="273406" cy="273406"/>
          </a:xfrm>
          <a:prstGeom prst="rect">
            <a:avLst/>
          </a:prstGeom>
        </p:spPr>
      </p:pic>
      <p:sp>
        <p:nvSpPr>
          <p:cNvPr id="9" name="Text 5"/>
          <p:cNvSpPr/>
          <p:nvPr/>
        </p:nvSpPr>
        <p:spPr>
          <a:xfrm>
            <a:off x="1645920" y="2029968"/>
            <a:ext cx="3977640" cy="365760"/>
          </a:xfrm>
          <a:prstGeom prst="rect">
            <a:avLst/>
          </a:prstGeom>
          <a:noFill/>
          <a:ln/>
        </p:spPr>
        <p:txBody>
          <a:bodyPr wrap="square" lIns="0" tIns="0" rIns="0" bIns="0" rtlCol="0" anchor="ctr"/>
          <a:lstStyle/>
          <a:p>
            <a:pPr marL="0" indent="0">
              <a:buNone/>
            </a:pPr>
            <a:r>
              <a:rPr lang="en-US" sz="18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GPT-5-mini</a:t>
            </a:r>
            <a:endParaRPr lang="en-US" sz="1800" dirty="0">
              <a:latin typeface="BM HANNA 11yrs old OTF" panose="020B0600000101010101" pitchFamily="34" charset="-127"/>
              <a:ea typeface="BM HANNA 11yrs old OTF" panose="020B0600000101010101" pitchFamily="34" charset="-127"/>
            </a:endParaRPr>
          </a:p>
        </p:txBody>
      </p:sp>
      <p:sp>
        <p:nvSpPr>
          <p:cNvPr id="10" name="Text 6"/>
          <p:cNvSpPr/>
          <p:nvPr/>
        </p:nvSpPr>
        <p:spPr>
          <a:xfrm>
            <a:off x="1645920" y="2395728"/>
            <a:ext cx="3977640" cy="274320"/>
          </a:xfrm>
          <a:prstGeom prst="rect">
            <a:avLst/>
          </a:prstGeom>
          <a:noFill/>
          <a:ln/>
        </p:spPr>
        <p:txBody>
          <a:bodyPr wrap="square" lIns="0" tIns="0" rIns="0" bIns="0" rtlCol="0" anchor="ctr"/>
          <a:lstStyle/>
          <a:p>
            <a:pPr marL="0" indent="0">
              <a:buNone/>
            </a:pPr>
            <a:r>
              <a:rPr lang="en-US" sz="1200" b="1" dirty="0">
                <a:solidFill>
                  <a:srgbClr val="2F3C7E"/>
                </a:solidFill>
                <a:latin typeface="BM HANNA 11yrs old OTF" panose="020B0600000101010101" pitchFamily="34" charset="-127"/>
                <a:ea typeface="BM HANNA 11yrs old OTF" panose="020B0600000101010101" pitchFamily="34" charset="-127"/>
                <a:cs typeface="Calibri" pitchFamily="34" charset="-120"/>
              </a:rPr>
              <a:t>메인 오케스트레이터</a:t>
            </a:r>
            <a:endParaRPr lang="en-US" sz="1200" dirty="0">
              <a:latin typeface="BM HANNA 11yrs old OTF" panose="020B0600000101010101" pitchFamily="34" charset="-127"/>
              <a:ea typeface="BM HANNA 11yrs old OTF" panose="020B0600000101010101" pitchFamily="34" charset="-127"/>
            </a:endParaRPr>
          </a:p>
        </p:txBody>
      </p:sp>
      <p:sp>
        <p:nvSpPr>
          <p:cNvPr id="11" name="Text 7"/>
          <p:cNvSpPr/>
          <p:nvPr/>
        </p:nvSpPr>
        <p:spPr>
          <a:xfrm>
            <a:off x="914400" y="3063240"/>
            <a:ext cx="4617720" cy="2651760"/>
          </a:xfrm>
          <a:prstGeom prst="rect">
            <a:avLst/>
          </a:prstGeom>
          <a:noFill/>
          <a:ln/>
        </p:spPr>
        <p:txBody>
          <a:bodyPr wrap="square" lIns="0" tIns="0" rIns="0" bIns="0" rtlCol="0" anchor="t"/>
          <a:lstStyle/>
          <a:p>
            <a:pPr marL="177800" indent="-177800">
              <a:lnSpc>
                <a:spcPct val="125000"/>
              </a:lnSpc>
              <a:spcAft>
                <a:spcPts val="1400"/>
              </a:spcAft>
              <a:buSzPct val="100000"/>
              <a:buChar char="•"/>
            </a:pPr>
            <a:r>
              <a:rPr lang="en-US" sz="13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역할: 입양상담·동반여행 추천 페르소나 '함께갈개'</a:t>
            </a:r>
            <a:endParaRPr lang="en-US" sz="1300" dirty="0">
              <a:latin typeface="BM HANNA 11yrs old OTF" panose="020B0600000101010101" pitchFamily="34" charset="-127"/>
              <a:ea typeface="BM HANNA 11yrs old OTF" panose="020B0600000101010101" pitchFamily="34" charset="-127"/>
            </a:endParaRPr>
          </a:p>
          <a:p>
            <a:pPr marL="177800" indent="-177800">
              <a:lnSpc>
                <a:spcPct val="125000"/>
              </a:lnSpc>
              <a:spcAft>
                <a:spcPts val="1400"/>
              </a:spcAft>
              <a:buSzPct val="100000"/>
              <a:buChar char="•"/>
            </a:pPr>
            <a:r>
              <a:rPr lang="en-US" sz="13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Temperature 0.3 목표(일관성) · max iterations 6</a:t>
            </a:r>
            <a:endParaRPr lang="en-US" sz="1300" dirty="0">
              <a:latin typeface="BM HANNA 11yrs old OTF" panose="020B0600000101010101" pitchFamily="34" charset="-127"/>
              <a:ea typeface="BM HANNA 11yrs old OTF" panose="020B0600000101010101" pitchFamily="34" charset="-127"/>
            </a:endParaRPr>
          </a:p>
          <a:p>
            <a:pPr marL="177800" indent="-177800">
              <a:lnSpc>
                <a:spcPct val="125000"/>
              </a:lnSpc>
              <a:spcAft>
                <a:spcPts val="1400"/>
              </a:spcAft>
              <a:buSzPct val="100000"/>
              <a:buChar char="•"/>
            </a:pPr>
            <a:r>
              <a:rPr lang="en-US" sz="13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제약: Tool 결과 없는 정보 생성 금지, 적합도 점수 임의 부여 금지</a:t>
            </a:r>
            <a:endParaRPr lang="en-US" sz="1300" dirty="0">
              <a:latin typeface="BM HANNA 11yrs old OTF" panose="020B0600000101010101" pitchFamily="34" charset="-127"/>
              <a:ea typeface="BM HANNA 11yrs old OTF" panose="020B0600000101010101" pitchFamily="34" charset="-127"/>
            </a:endParaRPr>
          </a:p>
        </p:txBody>
      </p:sp>
      <p:sp>
        <p:nvSpPr>
          <p:cNvPr id="12" name="Shape 8"/>
          <p:cNvSpPr/>
          <p:nvPr/>
        </p:nvSpPr>
        <p:spPr>
          <a:xfrm>
            <a:off x="6263640" y="1737360"/>
            <a:ext cx="5349240" cy="4206240"/>
          </a:xfrm>
          <a:prstGeom prst="roundRect">
            <a:avLst>
              <a:gd name="adj" fmla="val 1957"/>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3" name="Shape 9"/>
          <p:cNvSpPr/>
          <p:nvPr/>
        </p:nvSpPr>
        <p:spPr>
          <a:xfrm>
            <a:off x="6583680" y="2029968"/>
            <a:ext cx="594360" cy="594360"/>
          </a:xfrm>
          <a:prstGeom prst="ellipse">
            <a:avLst/>
          </a:prstGeom>
          <a:solidFill>
            <a:srgbClr val="F96167"/>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14" name="Image 2" descr="/home/claude/ppt_project/icons/robot.png"/>
          <p:cNvPicPr>
            <a:picLocks noChangeAspect="1"/>
          </p:cNvPicPr>
          <p:nvPr/>
        </p:nvPicPr>
        <p:blipFill>
          <a:blip r:embed="rId3"/>
          <a:stretch>
            <a:fillRect/>
          </a:stretch>
        </p:blipFill>
        <p:spPr>
          <a:xfrm>
            <a:off x="6744157" y="2190445"/>
            <a:ext cx="273406" cy="273406"/>
          </a:xfrm>
          <a:prstGeom prst="rect">
            <a:avLst/>
          </a:prstGeom>
        </p:spPr>
      </p:pic>
      <p:sp>
        <p:nvSpPr>
          <p:cNvPr id="15" name="Text 10"/>
          <p:cNvSpPr/>
          <p:nvPr/>
        </p:nvSpPr>
        <p:spPr>
          <a:xfrm>
            <a:off x="7360920" y="2029968"/>
            <a:ext cx="3977640" cy="365760"/>
          </a:xfrm>
          <a:prstGeom prst="rect">
            <a:avLst/>
          </a:prstGeom>
          <a:noFill/>
          <a:ln/>
        </p:spPr>
        <p:txBody>
          <a:bodyPr wrap="square" lIns="0" tIns="0" rIns="0" bIns="0" rtlCol="0" anchor="ctr"/>
          <a:lstStyle/>
          <a:p>
            <a:pPr marL="0" indent="0">
              <a:buNone/>
            </a:pPr>
            <a:r>
              <a:rPr lang="en-US" sz="18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GPT-5-nano</a:t>
            </a:r>
            <a:endParaRPr lang="en-US" sz="1800" dirty="0">
              <a:latin typeface="BM HANNA 11yrs old OTF" panose="020B0600000101010101" pitchFamily="34" charset="-127"/>
              <a:ea typeface="BM HANNA 11yrs old OTF" panose="020B0600000101010101" pitchFamily="34" charset="-127"/>
            </a:endParaRPr>
          </a:p>
        </p:txBody>
      </p:sp>
      <p:sp>
        <p:nvSpPr>
          <p:cNvPr id="16" name="Text 11"/>
          <p:cNvSpPr/>
          <p:nvPr/>
        </p:nvSpPr>
        <p:spPr>
          <a:xfrm>
            <a:off x="7360920" y="2395728"/>
            <a:ext cx="3977640" cy="274320"/>
          </a:xfrm>
          <a:prstGeom prst="rect">
            <a:avLst/>
          </a:prstGeom>
          <a:noFill/>
          <a:ln/>
        </p:spPr>
        <p:txBody>
          <a:bodyPr wrap="square" lIns="0" tIns="0" rIns="0" bIns="0" rtlCol="0" anchor="ctr"/>
          <a:lstStyle/>
          <a:p>
            <a:pPr marL="0" indent="0">
              <a:buNone/>
            </a:pPr>
            <a:r>
              <a:rPr lang="en-US" sz="1200" b="1" dirty="0">
                <a:solidFill>
                  <a:srgbClr val="F96167"/>
                </a:solidFill>
                <a:latin typeface="BM HANNA 11yrs old OTF" panose="020B0600000101010101" pitchFamily="34" charset="-127"/>
                <a:ea typeface="BM HANNA 11yrs old OTF" panose="020B0600000101010101" pitchFamily="34" charset="-127"/>
                <a:cs typeface="Calibri" pitchFamily="34" charset="-120"/>
              </a:rPr>
              <a:t>가드레일 · 의도 분류기</a:t>
            </a:r>
            <a:endParaRPr lang="en-US" sz="1200" dirty="0">
              <a:latin typeface="BM HANNA 11yrs old OTF" panose="020B0600000101010101" pitchFamily="34" charset="-127"/>
              <a:ea typeface="BM HANNA 11yrs old OTF" panose="020B0600000101010101" pitchFamily="34" charset="-127"/>
            </a:endParaRPr>
          </a:p>
        </p:txBody>
      </p:sp>
      <p:sp>
        <p:nvSpPr>
          <p:cNvPr id="17" name="Text 12"/>
          <p:cNvSpPr/>
          <p:nvPr/>
        </p:nvSpPr>
        <p:spPr>
          <a:xfrm>
            <a:off x="6629400" y="3063240"/>
            <a:ext cx="4617720" cy="2651760"/>
          </a:xfrm>
          <a:prstGeom prst="rect">
            <a:avLst/>
          </a:prstGeom>
          <a:noFill/>
          <a:ln/>
        </p:spPr>
        <p:txBody>
          <a:bodyPr wrap="square" lIns="0" tIns="0" rIns="0" bIns="0" rtlCol="0" anchor="t"/>
          <a:lstStyle/>
          <a:p>
            <a:pPr marL="177800" indent="-177800">
              <a:lnSpc>
                <a:spcPct val="125000"/>
              </a:lnSpc>
              <a:spcAft>
                <a:spcPts val="1400"/>
              </a:spcAft>
              <a:buSzPct val="100000"/>
              <a:buChar char="•"/>
            </a:pPr>
            <a:r>
              <a:rPr lang="en-US" sz="13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역할: Guardrail 판별 → (통과 시) Intent 분류, 2단계 순차 수행</a:t>
            </a:r>
            <a:endParaRPr lang="en-US" sz="1300" dirty="0">
              <a:latin typeface="BM HANNA 11yrs old OTF" panose="020B0600000101010101" pitchFamily="34" charset="-127"/>
              <a:ea typeface="BM HANNA 11yrs old OTF" panose="020B0600000101010101" pitchFamily="34" charset="-127"/>
            </a:endParaRPr>
          </a:p>
          <a:p>
            <a:pPr marL="177800" indent="-177800">
              <a:lnSpc>
                <a:spcPct val="125000"/>
              </a:lnSpc>
              <a:spcAft>
                <a:spcPts val="1400"/>
              </a:spcAft>
              <a:buSzPct val="100000"/>
              <a:buChar char="•"/>
            </a:pPr>
            <a:r>
              <a:rPr lang="en-US" sz="13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Temperature 0 목표(결정론적) · 라벨만 소량 출력</a:t>
            </a:r>
            <a:endParaRPr lang="en-US" sz="1300" dirty="0">
              <a:latin typeface="BM HANNA 11yrs old OTF" panose="020B0600000101010101" pitchFamily="34" charset="-127"/>
              <a:ea typeface="BM HANNA 11yrs old OTF" panose="020B0600000101010101" pitchFamily="34" charset="-127"/>
            </a:endParaRPr>
          </a:p>
          <a:p>
            <a:pPr marL="177800" indent="-177800">
              <a:lnSpc>
                <a:spcPct val="125000"/>
              </a:lnSpc>
              <a:spcAft>
                <a:spcPts val="1400"/>
              </a:spcAft>
              <a:buSzPct val="100000"/>
              <a:buChar char="•"/>
            </a:pPr>
            <a:r>
              <a:rPr lang="en-US" sz="13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제약: 판단 이유 설명 없이 라벨만 반환, Tool 미사용</a:t>
            </a:r>
            <a:endParaRPr lang="en-US" sz="1300" dirty="0">
              <a:latin typeface="BM HANNA 11yrs old OTF" panose="020B0600000101010101" pitchFamily="34" charset="-127"/>
              <a:ea typeface="BM HANNA 11yrs old OTF" panose="020B0600000101010101" pitchFamily="34" charset="-127"/>
            </a:endParaRPr>
          </a:p>
        </p:txBody>
      </p:sp>
      <p:sp>
        <p:nvSpPr>
          <p:cNvPr id="18" name="Text 13"/>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11</a:t>
            </a:r>
            <a:endParaRPr lang="en-US" sz="1000" dirty="0">
              <a:latin typeface="BM HANNA 11yrs old OTF" panose="020B0600000101010101" pitchFamily="34" charset="-127"/>
              <a:ea typeface="BM HANNA 11yrs old OTF" panose="020B0600000101010101" pitchFamily="34" charset="-127"/>
            </a:endParaRPr>
          </a:p>
        </p:txBody>
      </p:sp>
      <p:sp>
        <p:nvSpPr>
          <p:cNvPr id="19" name="Text 14"/>
          <p:cNvSpPr/>
          <p:nvPr/>
        </p:nvSpPr>
        <p:spPr>
          <a:xfrm>
            <a:off x="457200" y="6446520"/>
            <a:ext cx="3657600" cy="274320"/>
          </a:xfrm>
          <a:prstGeom prst="rect">
            <a:avLst/>
          </a:prstGeom>
          <a:noFill/>
          <a:ln/>
        </p:spPr>
        <p:txBody>
          <a:bodyPr wrap="square" lIns="0" tIns="0" rIns="0" bIns="0" rtlCol="0" anchor="ctr"/>
          <a:lstStyle/>
          <a:p>
            <a:pPr marL="0" indent="0" algn="l">
              <a:buNone/>
            </a:pPr>
            <a:r>
              <a:rPr lang="en-US" sz="9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함께갈개 · AI Agent 설계</a:t>
            </a:r>
            <a:endParaRPr lang="en-US" sz="900" dirty="0">
              <a:latin typeface="BM HANNA 11yrs old OTF" panose="020B0600000101010101" pitchFamily="34" charset="-127"/>
              <a:ea typeface="BM HANNA 11yrs old OTF" panose="020B0600000101010101" pitchFamily="34" charset="-127"/>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658368" cy="658368"/>
          </a:xfrm>
          <a:prstGeom prst="ellipse">
            <a:avLst/>
          </a:prstGeom>
          <a:solidFill>
            <a:srgbClr val="F96167"/>
          </a:solidFill>
          <a:ln/>
          <a:effectLst>
            <a:outerShdw blurRad="76200" dist="25400" dir="5400000" algn="bl" rotWithShape="0">
              <a:srgbClr val="888888">
                <a:alpha val="25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3" name="Image 0" descr="/home/claude/ppt_project/icons/layerGroup.png"/>
          <p:cNvPicPr>
            <a:picLocks noChangeAspect="1"/>
          </p:cNvPicPr>
          <p:nvPr/>
        </p:nvPicPr>
        <p:blipFill>
          <a:blip r:embed="rId3"/>
          <a:stretch>
            <a:fillRect/>
          </a:stretch>
        </p:blipFill>
        <p:spPr>
          <a:xfrm>
            <a:off x="713232" y="594360"/>
            <a:ext cx="237744" cy="237744"/>
          </a:xfrm>
          <a:prstGeom prst="rect">
            <a:avLst/>
          </a:prstGeom>
        </p:spPr>
      </p:pic>
      <p:sp>
        <p:nvSpPr>
          <p:cNvPr id="4" name="Text 1"/>
          <p:cNvSpPr/>
          <p:nvPr/>
        </p:nvSpPr>
        <p:spPr>
          <a:xfrm>
            <a:off x="1325880" y="329184"/>
            <a:ext cx="9875520" cy="502920"/>
          </a:xfrm>
          <a:prstGeom prst="rect">
            <a:avLst/>
          </a:prstGeom>
          <a:noFill/>
          <a:ln/>
        </p:spPr>
        <p:txBody>
          <a:bodyPr wrap="square" lIns="0" tIns="0" rIns="0" bIns="0" rtlCol="0" anchor="ctr"/>
          <a:lstStyle/>
          <a:p>
            <a:pPr marL="0" indent="0" algn="l">
              <a:buNone/>
            </a:pPr>
            <a:r>
              <a:rPr lang="en-US" sz="27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Structured Output 설계</a:t>
            </a:r>
            <a:endParaRPr lang="en-US" sz="2700" dirty="0">
              <a:latin typeface="BM HANNA 11yrs old OTF" panose="020B0600000101010101" pitchFamily="34" charset="-127"/>
              <a:ea typeface="BM HANNA 11yrs old OTF" panose="020B0600000101010101" pitchFamily="34" charset="-127"/>
            </a:endParaRPr>
          </a:p>
        </p:txBody>
      </p:sp>
      <p:sp>
        <p:nvSpPr>
          <p:cNvPr id="5" name="Text 2"/>
          <p:cNvSpPr/>
          <p:nvPr/>
        </p:nvSpPr>
        <p:spPr>
          <a:xfrm>
            <a:off x="1325880" y="822960"/>
            <a:ext cx="9875520" cy="292608"/>
          </a:xfrm>
          <a:prstGeom prst="rect">
            <a:avLst/>
          </a:prstGeom>
          <a:noFill/>
          <a:ln/>
        </p:spPr>
        <p:txBody>
          <a:bodyPr wrap="square" lIns="0" tIns="0" rIns="0" bIns="0" rtlCol="0" anchor="ctr"/>
          <a:lstStyle/>
          <a:p>
            <a:pPr marL="0" indent="0" algn="l">
              <a:buNone/>
            </a:pPr>
            <a:r>
              <a:rPr lang="en-US" sz="1200" i="1" dirty="0">
                <a:solidFill>
                  <a:srgbClr val="6B6F8A"/>
                </a:solidFill>
                <a:latin typeface="BM HANNA 11yrs old OTF" panose="020B0600000101010101" pitchFamily="34" charset="-127"/>
                <a:ea typeface="BM HANNA 11yrs old OTF" panose="020B0600000101010101" pitchFamily="34" charset="-127"/>
                <a:cs typeface="Calibri" pitchFamily="34" charset="-120"/>
              </a:rPr>
              <a:t>2.4  4가지 스키마 · 모델이 아닌 시스템이 검증</a:t>
            </a:r>
            <a:endParaRPr lang="en-US" sz="1200" dirty="0">
              <a:latin typeface="BM HANNA 11yrs old OTF" panose="020B0600000101010101" pitchFamily="34" charset="-127"/>
              <a:ea typeface="BM HANNA 11yrs old OTF" panose="020B0600000101010101" pitchFamily="34" charset="-127"/>
            </a:endParaRPr>
          </a:p>
        </p:txBody>
      </p:sp>
      <p:sp>
        <p:nvSpPr>
          <p:cNvPr id="6" name="Shape 3"/>
          <p:cNvSpPr/>
          <p:nvPr/>
        </p:nvSpPr>
        <p:spPr>
          <a:xfrm>
            <a:off x="548640" y="1737360"/>
            <a:ext cx="5372100" cy="1965960"/>
          </a:xfrm>
          <a:prstGeom prst="roundRect">
            <a:avLst>
              <a:gd name="adj" fmla="val 4186"/>
            </a:avLst>
          </a:prstGeom>
          <a:solidFill>
            <a:srgbClr val="FFFFFF"/>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7" name="Shape 4"/>
          <p:cNvSpPr/>
          <p:nvPr/>
        </p:nvSpPr>
        <p:spPr>
          <a:xfrm>
            <a:off x="841248" y="2011680"/>
            <a:ext cx="502920" cy="502920"/>
          </a:xfrm>
          <a:prstGeom prst="ellipse">
            <a:avLst/>
          </a:prstGeom>
          <a:solidFill>
            <a:srgbClr val="F96167"/>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8" name="Image 1" descr="/home/claude/ppt_project/icons/shield.png"/>
          <p:cNvPicPr>
            <a:picLocks noChangeAspect="1"/>
          </p:cNvPicPr>
          <p:nvPr/>
        </p:nvPicPr>
        <p:blipFill>
          <a:blip r:embed="rId4"/>
          <a:stretch>
            <a:fillRect/>
          </a:stretch>
        </p:blipFill>
        <p:spPr>
          <a:xfrm>
            <a:off x="977036" y="2147468"/>
            <a:ext cx="231343" cy="231343"/>
          </a:xfrm>
          <a:prstGeom prst="rect">
            <a:avLst/>
          </a:prstGeom>
        </p:spPr>
      </p:pic>
      <p:sp>
        <p:nvSpPr>
          <p:cNvPr id="9" name="Text 5"/>
          <p:cNvSpPr/>
          <p:nvPr/>
        </p:nvSpPr>
        <p:spPr>
          <a:xfrm>
            <a:off x="1508760" y="1993392"/>
            <a:ext cx="4137660" cy="548640"/>
          </a:xfrm>
          <a:prstGeom prst="rect">
            <a:avLst/>
          </a:prstGeom>
          <a:noFill/>
          <a:ln/>
        </p:spPr>
        <p:txBody>
          <a:bodyPr wrap="square" lIns="0" tIns="0" rIns="0" bIns="0" rtlCol="0" anchor="ctr"/>
          <a:lstStyle/>
          <a:p>
            <a:pPr marL="0" indent="0">
              <a:buNone/>
            </a:pPr>
            <a:r>
              <a:rPr lang="en-US" sz="145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GuardrailClassification</a:t>
            </a:r>
            <a:endParaRPr lang="en-US" sz="1450" dirty="0">
              <a:latin typeface="BM HANNA 11yrs old OTF" panose="020B0600000101010101" pitchFamily="34" charset="-127"/>
              <a:ea typeface="BM HANNA 11yrs old OTF" panose="020B0600000101010101" pitchFamily="34" charset="-127"/>
            </a:endParaRPr>
          </a:p>
        </p:txBody>
      </p:sp>
      <p:sp>
        <p:nvSpPr>
          <p:cNvPr id="10" name="Text 6"/>
          <p:cNvSpPr/>
          <p:nvPr/>
        </p:nvSpPr>
        <p:spPr>
          <a:xfrm>
            <a:off x="841248" y="2697480"/>
            <a:ext cx="4786884" cy="777240"/>
          </a:xfrm>
          <a:prstGeom prst="rect">
            <a:avLst/>
          </a:prstGeom>
          <a:noFill/>
          <a:ln/>
        </p:spPr>
        <p:txBody>
          <a:bodyPr wrap="square" lIns="0" tIns="0" rIns="0" bIns="0" rtlCol="0" anchor="t"/>
          <a:lstStyle/>
          <a:p>
            <a:pPr marL="0" indent="0">
              <a:lnSpc>
                <a:spcPct val="125000"/>
              </a:lnSpc>
              <a:buNone/>
            </a:pPr>
            <a:r>
              <a:rPr lang="en-US" sz="12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입력 위반 여부 1차 판정 — label · confidence · blocked</a:t>
            </a:r>
            <a:endParaRPr lang="en-US" sz="1200" dirty="0">
              <a:latin typeface="BM HANNA 11yrs old OTF" panose="020B0600000101010101" pitchFamily="34" charset="-127"/>
              <a:ea typeface="BM HANNA 11yrs old OTF" panose="020B0600000101010101" pitchFamily="34" charset="-127"/>
            </a:endParaRPr>
          </a:p>
        </p:txBody>
      </p:sp>
      <p:sp>
        <p:nvSpPr>
          <p:cNvPr id="11" name="Shape 7"/>
          <p:cNvSpPr/>
          <p:nvPr/>
        </p:nvSpPr>
        <p:spPr>
          <a:xfrm>
            <a:off x="6240780" y="1737360"/>
            <a:ext cx="5372100" cy="1965960"/>
          </a:xfrm>
          <a:prstGeom prst="roundRect">
            <a:avLst>
              <a:gd name="adj" fmla="val 4186"/>
            </a:avLst>
          </a:prstGeom>
          <a:solidFill>
            <a:srgbClr val="FFFFFF"/>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2" name="Shape 8"/>
          <p:cNvSpPr/>
          <p:nvPr/>
        </p:nvSpPr>
        <p:spPr>
          <a:xfrm>
            <a:off x="6533388" y="2011680"/>
            <a:ext cx="502920" cy="502920"/>
          </a:xfrm>
          <a:prstGeom prst="ellipse">
            <a:avLst/>
          </a:prstGeom>
          <a:solidFill>
            <a:srgbClr val="F5A623"/>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13" name="Image 2" descr="/home/claude/ppt_project/icons/route.png"/>
          <p:cNvPicPr>
            <a:picLocks noChangeAspect="1"/>
          </p:cNvPicPr>
          <p:nvPr/>
        </p:nvPicPr>
        <p:blipFill>
          <a:blip r:embed="rId5"/>
          <a:stretch>
            <a:fillRect/>
          </a:stretch>
        </p:blipFill>
        <p:spPr>
          <a:xfrm>
            <a:off x="6669176" y="2147468"/>
            <a:ext cx="231343" cy="231343"/>
          </a:xfrm>
          <a:prstGeom prst="rect">
            <a:avLst/>
          </a:prstGeom>
        </p:spPr>
      </p:pic>
      <p:sp>
        <p:nvSpPr>
          <p:cNvPr id="14" name="Text 9"/>
          <p:cNvSpPr/>
          <p:nvPr/>
        </p:nvSpPr>
        <p:spPr>
          <a:xfrm>
            <a:off x="7200900" y="1993392"/>
            <a:ext cx="4137660" cy="548640"/>
          </a:xfrm>
          <a:prstGeom prst="rect">
            <a:avLst/>
          </a:prstGeom>
          <a:noFill/>
          <a:ln/>
        </p:spPr>
        <p:txBody>
          <a:bodyPr wrap="square" lIns="0" tIns="0" rIns="0" bIns="0" rtlCol="0" anchor="ctr"/>
          <a:lstStyle/>
          <a:p>
            <a:pPr marL="0" indent="0">
              <a:buNone/>
            </a:pPr>
            <a:r>
              <a:rPr lang="en-US" sz="145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IntentClassification</a:t>
            </a:r>
            <a:endParaRPr lang="en-US" sz="1450" dirty="0">
              <a:latin typeface="BM HANNA 11yrs old OTF" panose="020B0600000101010101" pitchFamily="34" charset="-127"/>
              <a:ea typeface="BM HANNA 11yrs old OTF" panose="020B0600000101010101" pitchFamily="34" charset="-127"/>
            </a:endParaRPr>
          </a:p>
        </p:txBody>
      </p:sp>
      <p:sp>
        <p:nvSpPr>
          <p:cNvPr id="15" name="Text 10"/>
          <p:cNvSpPr/>
          <p:nvPr/>
        </p:nvSpPr>
        <p:spPr>
          <a:xfrm>
            <a:off x="6533388" y="2697480"/>
            <a:ext cx="4786884" cy="777240"/>
          </a:xfrm>
          <a:prstGeom prst="rect">
            <a:avLst/>
          </a:prstGeom>
          <a:noFill/>
          <a:ln/>
        </p:spPr>
        <p:txBody>
          <a:bodyPr wrap="square" lIns="0" tIns="0" rIns="0" bIns="0" rtlCol="0" anchor="t"/>
          <a:lstStyle/>
          <a:p>
            <a:pPr marL="0" indent="0">
              <a:lnSpc>
                <a:spcPct val="125000"/>
              </a:lnSpc>
              <a:buNone/>
            </a:pPr>
            <a:r>
              <a:rPr lang="en-US" sz="12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5가지 의도로 분류해 Tool 가시성 라우팅에 사용</a:t>
            </a:r>
            <a:endParaRPr lang="en-US" sz="1200" dirty="0">
              <a:latin typeface="BM HANNA 11yrs old OTF" panose="020B0600000101010101" pitchFamily="34" charset="-127"/>
              <a:ea typeface="BM HANNA 11yrs old OTF" panose="020B0600000101010101" pitchFamily="34" charset="-127"/>
            </a:endParaRPr>
          </a:p>
        </p:txBody>
      </p:sp>
      <p:sp>
        <p:nvSpPr>
          <p:cNvPr id="16" name="Shape 11"/>
          <p:cNvSpPr/>
          <p:nvPr/>
        </p:nvSpPr>
        <p:spPr>
          <a:xfrm>
            <a:off x="548640" y="3977640"/>
            <a:ext cx="5372100" cy="1965960"/>
          </a:xfrm>
          <a:prstGeom prst="roundRect">
            <a:avLst>
              <a:gd name="adj" fmla="val 4186"/>
            </a:avLst>
          </a:prstGeom>
          <a:solidFill>
            <a:srgbClr val="FFFFFF"/>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7" name="Shape 12"/>
          <p:cNvSpPr/>
          <p:nvPr/>
        </p:nvSpPr>
        <p:spPr>
          <a:xfrm>
            <a:off x="841248" y="4251960"/>
            <a:ext cx="502920" cy="502920"/>
          </a:xfrm>
          <a:prstGeom prst="ellipse">
            <a:avLst/>
          </a:prstGeom>
          <a:solidFill>
            <a:srgbClr val="3AA6A0"/>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18" name="Image 3" descr="/home/claude/ppt_project/icons/paw.png"/>
          <p:cNvPicPr>
            <a:picLocks noChangeAspect="1"/>
          </p:cNvPicPr>
          <p:nvPr/>
        </p:nvPicPr>
        <p:blipFill>
          <a:blip r:embed="rId6"/>
          <a:stretch>
            <a:fillRect/>
          </a:stretch>
        </p:blipFill>
        <p:spPr>
          <a:xfrm>
            <a:off x="977036" y="4387748"/>
            <a:ext cx="231343" cy="231343"/>
          </a:xfrm>
          <a:prstGeom prst="rect">
            <a:avLst/>
          </a:prstGeom>
        </p:spPr>
      </p:pic>
      <p:sp>
        <p:nvSpPr>
          <p:cNvPr id="19" name="Text 13"/>
          <p:cNvSpPr/>
          <p:nvPr/>
        </p:nvSpPr>
        <p:spPr>
          <a:xfrm>
            <a:off x="1508760" y="4233672"/>
            <a:ext cx="4137660" cy="548640"/>
          </a:xfrm>
          <a:prstGeom prst="rect">
            <a:avLst/>
          </a:prstGeom>
          <a:noFill/>
          <a:ln/>
        </p:spPr>
        <p:txBody>
          <a:bodyPr wrap="square" lIns="0" tIns="0" rIns="0" bIns="0" rtlCol="0" anchor="ctr"/>
          <a:lstStyle/>
          <a:p>
            <a:pPr marL="0" indent="0">
              <a:buNone/>
            </a:pPr>
            <a:r>
              <a:rPr lang="en-US" sz="145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AnimalCard / PetTravelCard</a:t>
            </a:r>
            <a:endParaRPr lang="en-US" sz="1450" dirty="0">
              <a:latin typeface="BM HANNA 11yrs old OTF" panose="020B0600000101010101" pitchFamily="34" charset="-127"/>
              <a:ea typeface="BM HANNA 11yrs old OTF" panose="020B0600000101010101" pitchFamily="34" charset="-127"/>
            </a:endParaRPr>
          </a:p>
        </p:txBody>
      </p:sp>
      <p:sp>
        <p:nvSpPr>
          <p:cNvPr id="20" name="Text 14"/>
          <p:cNvSpPr/>
          <p:nvPr/>
        </p:nvSpPr>
        <p:spPr>
          <a:xfrm>
            <a:off x="841248" y="4937760"/>
            <a:ext cx="4786884" cy="777240"/>
          </a:xfrm>
          <a:prstGeom prst="rect">
            <a:avLst/>
          </a:prstGeom>
          <a:noFill/>
          <a:ln/>
        </p:spPr>
        <p:txBody>
          <a:bodyPr wrap="square" lIns="0" tIns="0" rIns="0" bIns="0" rtlCol="0" anchor="t"/>
          <a:lstStyle/>
          <a:p>
            <a:pPr marL="0" indent="0">
              <a:lnSpc>
                <a:spcPct val="125000"/>
              </a:lnSpc>
              <a:buNone/>
            </a:pPr>
            <a:r>
              <a:rPr lang="en-US" sz="120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AnimalCard의</a:t>
            </a:r>
            <a:r>
              <a:rPr lang="en-US" sz="12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 </a:t>
            </a:r>
            <a:r>
              <a:rPr lang="en-US" sz="120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match_score는</a:t>
            </a:r>
            <a:r>
              <a:rPr lang="en-US" sz="12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 모델이 아닌 시스템이 규칙 </a:t>
            </a:r>
            <a:r>
              <a:rPr lang="en-US" sz="120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기반으로</a:t>
            </a:r>
            <a:r>
              <a:rPr lang="en-US" sz="12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 </a:t>
            </a:r>
            <a:r>
              <a:rPr lang="en-US" sz="120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계산</a:t>
            </a:r>
            <a:endParaRPr lang="en-US" sz="1200" dirty="0">
              <a:solidFill>
                <a:srgbClr val="22264A"/>
              </a:solidFill>
              <a:latin typeface="BM HANNA 11yrs old OTF" panose="020B0600000101010101" pitchFamily="34" charset="-127"/>
              <a:ea typeface="BM HANNA 11yrs old OTF" panose="020B0600000101010101" pitchFamily="34" charset="-127"/>
              <a:cs typeface="Calibri" pitchFamily="34" charset="-120"/>
            </a:endParaRPr>
          </a:p>
          <a:p>
            <a:pPr marL="0" indent="0">
              <a:lnSpc>
                <a:spcPct val="125000"/>
              </a:lnSpc>
              <a:buNone/>
            </a:pPr>
            <a:r>
              <a:rPr lang="en-US" sz="120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PetTravelCard는</a:t>
            </a:r>
            <a:r>
              <a:rPr lang="en-US" sz="12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 </a:t>
            </a:r>
            <a:r>
              <a:rPr lang="en-US" sz="120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사용자가</a:t>
            </a:r>
            <a:r>
              <a:rPr lang="en-US" sz="12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 </a:t>
            </a:r>
            <a:r>
              <a:rPr lang="en-US" sz="120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요구한</a:t>
            </a:r>
            <a:r>
              <a:rPr lang="en-US" sz="12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 </a:t>
            </a:r>
            <a:r>
              <a:rPr lang="en-US" sz="120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지역명에</a:t>
            </a:r>
            <a:r>
              <a:rPr lang="en-US" sz="12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 </a:t>
            </a:r>
            <a:r>
              <a:rPr lang="en-US" sz="120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해당하는</a:t>
            </a:r>
            <a:r>
              <a:rPr lang="en-US" sz="12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 </a:t>
            </a:r>
            <a:r>
              <a:rPr lang="en-US" sz="120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장소들을</a:t>
            </a:r>
            <a:r>
              <a:rPr lang="en-US" sz="12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 API </a:t>
            </a:r>
            <a:r>
              <a:rPr lang="en-US" sz="120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호출</a:t>
            </a:r>
            <a:r>
              <a:rPr lang="en-US" sz="12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 </a:t>
            </a:r>
            <a:r>
              <a:rPr lang="en-US" sz="120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순대로</a:t>
            </a:r>
            <a:r>
              <a:rPr lang="en-US" sz="12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 </a:t>
            </a:r>
            <a:r>
              <a:rPr lang="en-US" sz="120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추천</a:t>
            </a:r>
            <a:endParaRPr lang="en-US" sz="1200" dirty="0">
              <a:latin typeface="BM HANNA 11yrs old OTF" panose="020B0600000101010101" pitchFamily="34" charset="-127"/>
              <a:ea typeface="BM HANNA 11yrs old OTF" panose="020B0600000101010101" pitchFamily="34" charset="-127"/>
            </a:endParaRPr>
          </a:p>
        </p:txBody>
      </p:sp>
      <p:sp>
        <p:nvSpPr>
          <p:cNvPr id="21" name="Shape 15"/>
          <p:cNvSpPr/>
          <p:nvPr/>
        </p:nvSpPr>
        <p:spPr>
          <a:xfrm>
            <a:off x="6240780" y="3977640"/>
            <a:ext cx="5372100" cy="1965960"/>
          </a:xfrm>
          <a:prstGeom prst="roundRect">
            <a:avLst>
              <a:gd name="adj" fmla="val 4186"/>
            </a:avLst>
          </a:prstGeom>
          <a:solidFill>
            <a:srgbClr val="FFFFFF"/>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22" name="Shape 16"/>
          <p:cNvSpPr/>
          <p:nvPr/>
        </p:nvSpPr>
        <p:spPr>
          <a:xfrm>
            <a:off x="6533388" y="4251960"/>
            <a:ext cx="502920" cy="502920"/>
          </a:xfrm>
          <a:prstGeom prst="ellipse">
            <a:avLst/>
          </a:prstGeom>
          <a:solidFill>
            <a:srgbClr val="2F3C7E"/>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23" name="Image 4" descr="/home/claude/ppt_project/icons/checkCircle.png"/>
          <p:cNvPicPr>
            <a:picLocks noChangeAspect="1"/>
          </p:cNvPicPr>
          <p:nvPr/>
        </p:nvPicPr>
        <p:blipFill>
          <a:blip r:embed="rId7"/>
          <a:stretch>
            <a:fillRect/>
          </a:stretch>
        </p:blipFill>
        <p:spPr>
          <a:xfrm>
            <a:off x="6669176" y="4387748"/>
            <a:ext cx="231343" cy="231343"/>
          </a:xfrm>
          <a:prstGeom prst="rect">
            <a:avLst/>
          </a:prstGeom>
        </p:spPr>
      </p:pic>
      <p:sp>
        <p:nvSpPr>
          <p:cNvPr id="24" name="Text 17"/>
          <p:cNvSpPr/>
          <p:nvPr/>
        </p:nvSpPr>
        <p:spPr>
          <a:xfrm>
            <a:off x="7200900" y="4233672"/>
            <a:ext cx="4137660" cy="548640"/>
          </a:xfrm>
          <a:prstGeom prst="rect">
            <a:avLst/>
          </a:prstGeom>
          <a:noFill/>
          <a:ln/>
        </p:spPr>
        <p:txBody>
          <a:bodyPr wrap="square" lIns="0" tIns="0" rIns="0" bIns="0" rtlCol="0" anchor="ctr"/>
          <a:lstStyle/>
          <a:p>
            <a:pPr marL="0" indent="0">
              <a:buNone/>
            </a:pPr>
            <a:r>
              <a:rPr lang="en-US" sz="145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AgentResponse</a:t>
            </a:r>
            <a:endParaRPr lang="en-US" sz="1450" dirty="0">
              <a:latin typeface="BM HANNA 11yrs old OTF" panose="020B0600000101010101" pitchFamily="34" charset="-127"/>
              <a:ea typeface="BM HANNA 11yrs old OTF" panose="020B0600000101010101" pitchFamily="34" charset="-127"/>
            </a:endParaRPr>
          </a:p>
        </p:txBody>
      </p:sp>
      <p:sp>
        <p:nvSpPr>
          <p:cNvPr id="25" name="Text 18"/>
          <p:cNvSpPr/>
          <p:nvPr/>
        </p:nvSpPr>
        <p:spPr>
          <a:xfrm>
            <a:off x="6533388" y="4937760"/>
            <a:ext cx="4786884" cy="777240"/>
          </a:xfrm>
          <a:prstGeom prst="rect">
            <a:avLst/>
          </a:prstGeom>
          <a:noFill/>
          <a:ln/>
        </p:spPr>
        <p:txBody>
          <a:bodyPr wrap="square" lIns="0" tIns="0" rIns="0" bIns="0" rtlCol="0" anchor="t"/>
          <a:lstStyle/>
          <a:p>
            <a:pPr marL="0" indent="0">
              <a:lnSpc>
                <a:spcPct val="125000"/>
              </a:lnSpc>
              <a:buNone/>
            </a:pPr>
            <a:r>
              <a:rPr lang="en-US" sz="12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grounded 필드 — 인용 ID가 Tool 응답 원문에 실재하는지 시스템이 대조</a:t>
            </a:r>
            <a:endParaRPr lang="en-US" sz="1200" dirty="0">
              <a:latin typeface="BM HANNA 11yrs old OTF" panose="020B0600000101010101" pitchFamily="34" charset="-127"/>
              <a:ea typeface="BM HANNA 11yrs old OTF" panose="020B0600000101010101" pitchFamily="34" charset="-127"/>
            </a:endParaRPr>
          </a:p>
        </p:txBody>
      </p:sp>
      <p:sp>
        <p:nvSpPr>
          <p:cNvPr id="26" name="Text 19"/>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12</a:t>
            </a:r>
            <a:endParaRPr lang="en-US" sz="1000" dirty="0">
              <a:latin typeface="BM HANNA 11yrs old OTF" panose="020B0600000101010101" pitchFamily="34" charset="-127"/>
              <a:ea typeface="BM HANNA 11yrs old OTF" panose="020B0600000101010101" pitchFamily="34" charset="-127"/>
            </a:endParaRPr>
          </a:p>
        </p:txBody>
      </p:sp>
      <p:sp>
        <p:nvSpPr>
          <p:cNvPr id="27" name="Text 20"/>
          <p:cNvSpPr/>
          <p:nvPr/>
        </p:nvSpPr>
        <p:spPr>
          <a:xfrm>
            <a:off x="457200" y="6446520"/>
            <a:ext cx="3657600" cy="274320"/>
          </a:xfrm>
          <a:prstGeom prst="rect">
            <a:avLst/>
          </a:prstGeom>
          <a:noFill/>
          <a:ln/>
        </p:spPr>
        <p:txBody>
          <a:bodyPr wrap="square" lIns="0" tIns="0" rIns="0" bIns="0" rtlCol="0" anchor="ctr"/>
          <a:lstStyle/>
          <a:p>
            <a:pPr marL="0" indent="0" algn="l">
              <a:buNone/>
            </a:pPr>
            <a:r>
              <a:rPr lang="en-US" sz="9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함께갈개 · AI Agent 설계</a:t>
            </a:r>
            <a:endParaRPr lang="en-US" sz="900" dirty="0">
              <a:latin typeface="BM HANNA 11yrs old OTF" panose="020B0600000101010101" pitchFamily="34" charset="-127"/>
              <a:ea typeface="BM HANNA 11yrs old OTF" panose="020B0600000101010101" pitchFamily="34" charset="-127"/>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658368" cy="658368"/>
          </a:xfrm>
          <a:prstGeom prst="ellipse">
            <a:avLst/>
          </a:prstGeom>
          <a:solidFill>
            <a:srgbClr val="F96167"/>
          </a:solidFill>
          <a:ln/>
          <a:effectLst>
            <a:outerShdw blurRad="76200" dist="25400" dir="5400000" algn="bl" rotWithShape="0">
              <a:srgbClr val="888888">
                <a:alpha val="25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3" name="Image 0" descr="/home/claude/ppt_project/icons/toolbox.png"/>
          <p:cNvPicPr>
            <a:picLocks noChangeAspect="1"/>
          </p:cNvPicPr>
          <p:nvPr/>
        </p:nvPicPr>
        <p:blipFill>
          <a:blip r:embed="rId3"/>
          <a:stretch>
            <a:fillRect/>
          </a:stretch>
        </p:blipFill>
        <p:spPr>
          <a:xfrm>
            <a:off x="713232" y="594360"/>
            <a:ext cx="237744" cy="237744"/>
          </a:xfrm>
          <a:prstGeom prst="rect">
            <a:avLst/>
          </a:prstGeom>
        </p:spPr>
      </p:pic>
      <p:sp>
        <p:nvSpPr>
          <p:cNvPr id="4" name="Text 1"/>
          <p:cNvSpPr/>
          <p:nvPr/>
        </p:nvSpPr>
        <p:spPr>
          <a:xfrm>
            <a:off x="1325880" y="329184"/>
            <a:ext cx="9875520" cy="502920"/>
          </a:xfrm>
          <a:prstGeom prst="rect">
            <a:avLst/>
          </a:prstGeom>
          <a:noFill/>
          <a:ln/>
        </p:spPr>
        <p:txBody>
          <a:bodyPr wrap="square" lIns="0" tIns="0" rIns="0" bIns="0" rtlCol="0" anchor="ctr"/>
          <a:lstStyle/>
          <a:p>
            <a:pPr marL="0" indent="0" algn="l">
              <a:buNone/>
            </a:pPr>
            <a:r>
              <a:rPr lang="en-US" sz="27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Tool 설계</a:t>
            </a:r>
            <a:endParaRPr lang="en-US" sz="2700" dirty="0">
              <a:latin typeface="BM HANNA 11yrs old OTF" panose="020B0600000101010101" pitchFamily="34" charset="-127"/>
              <a:ea typeface="BM HANNA 11yrs old OTF" panose="020B0600000101010101" pitchFamily="34" charset="-127"/>
            </a:endParaRPr>
          </a:p>
        </p:txBody>
      </p:sp>
      <p:sp>
        <p:nvSpPr>
          <p:cNvPr id="5" name="Text 2"/>
          <p:cNvSpPr/>
          <p:nvPr/>
        </p:nvSpPr>
        <p:spPr>
          <a:xfrm>
            <a:off x="1325880" y="822960"/>
            <a:ext cx="9875520" cy="292608"/>
          </a:xfrm>
          <a:prstGeom prst="rect">
            <a:avLst/>
          </a:prstGeom>
          <a:noFill/>
          <a:ln/>
        </p:spPr>
        <p:txBody>
          <a:bodyPr wrap="square" lIns="0" tIns="0" rIns="0" bIns="0" rtlCol="0" anchor="ctr"/>
          <a:lstStyle/>
          <a:p>
            <a:pPr marL="0" indent="0" algn="l">
              <a:buNone/>
            </a:pPr>
            <a:r>
              <a:rPr lang="en-US" sz="1200" i="1" dirty="0">
                <a:solidFill>
                  <a:srgbClr val="6B6F8A"/>
                </a:solidFill>
                <a:latin typeface="BM HANNA 11yrs old OTF" panose="020B0600000101010101" pitchFamily="34" charset="-127"/>
                <a:ea typeface="BM HANNA 11yrs old OTF" panose="020B0600000101010101" pitchFamily="34" charset="-127"/>
                <a:cs typeface="Calibri" pitchFamily="34" charset="-120"/>
              </a:rPr>
              <a:t>2.5  5개 Tool</a:t>
            </a:r>
            <a:endParaRPr lang="en-US" sz="1200" dirty="0">
              <a:latin typeface="BM HANNA 11yrs old OTF" panose="020B0600000101010101" pitchFamily="34" charset="-127"/>
              <a:ea typeface="BM HANNA 11yrs old OTF" panose="020B0600000101010101" pitchFamily="34" charset="-127"/>
            </a:endParaRPr>
          </a:p>
        </p:txBody>
      </p:sp>
      <p:sp>
        <p:nvSpPr>
          <p:cNvPr id="6" name="Shape 3"/>
          <p:cNvSpPr/>
          <p:nvPr/>
        </p:nvSpPr>
        <p:spPr>
          <a:xfrm>
            <a:off x="548640" y="1691640"/>
            <a:ext cx="11064240" cy="804672"/>
          </a:xfrm>
          <a:prstGeom prst="roundRect">
            <a:avLst>
              <a:gd name="adj" fmla="val 10227"/>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7" name="Shape 4"/>
          <p:cNvSpPr/>
          <p:nvPr/>
        </p:nvSpPr>
        <p:spPr>
          <a:xfrm>
            <a:off x="777240" y="1842516"/>
            <a:ext cx="502920" cy="502920"/>
          </a:xfrm>
          <a:prstGeom prst="ellipse">
            <a:avLst/>
          </a:prstGeom>
          <a:solidFill>
            <a:srgbClr val="F96167"/>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8" name="Image 1" descr="/home/claude/ppt_project/icons/search.png"/>
          <p:cNvPicPr>
            <a:picLocks noChangeAspect="1"/>
          </p:cNvPicPr>
          <p:nvPr/>
        </p:nvPicPr>
        <p:blipFill>
          <a:blip r:embed="rId4"/>
          <a:stretch>
            <a:fillRect/>
          </a:stretch>
        </p:blipFill>
        <p:spPr>
          <a:xfrm>
            <a:off x="913028" y="1978304"/>
            <a:ext cx="231343" cy="231343"/>
          </a:xfrm>
          <a:prstGeom prst="rect">
            <a:avLst/>
          </a:prstGeom>
        </p:spPr>
      </p:pic>
      <p:sp>
        <p:nvSpPr>
          <p:cNvPr id="9" name="Text 5"/>
          <p:cNvSpPr/>
          <p:nvPr/>
        </p:nvSpPr>
        <p:spPr>
          <a:xfrm>
            <a:off x="1508760" y="1773936"/>
            <a:ext cx="3931920" cy="640080"/>
          </a:xfrm>
          <a:prstGeom prst="rect">
            <a:avLst/>
          </a:prstGeom>
          <a:noFill/>
          <a:ln/>
        </p:spPr>
        <p:txBody>
          <a:bodyPr wrap="square" lIns="0" tIns="0" rIns="0" bIns="0" rtlCol="0" anchor="ctr"/>
          <a:lstStyle/>
          <a:p>
            <a:pPr marL="0" indent="0">
              <a:buNone/>
            </a:pPr>
            <a:r>
              <a:rPr lang="en-US" sz="1300" b="1" dirty="0">
                <a:solidFill>
                  <a:srgbClr val="1E2761"/>
                </a:solidFill>
                <a:latin typeface="BM HANNA 11yrs old OTF" panose="020B0600000101010101" pitchFamily="34" charset="-127"/>
                <a:ea typeface="BM HANNA 11yrs old OTF" panose="020B0600000101010101" pitchFamily="34" charset="-127"/>
                <a:cs typeface="Courier New" pitchFamily="34" charset="-120"/>
              </a:rPr>
              <a:t>search_rescued_animals</a:t>
            </a:r>
            <a:endParaRPr lang="en-US" sz="1300" dirty="0">
              <a:latin typeface="BM HANNA 11yrs old OTF" panose="020B0600000101010101" pitchFamily="34" charset="-127"/>
              <a:ea typeface="BM HANNA 11yrs old OTF" panose="020B0600000101010101" pitchFamily="34" charset="-127"/>
            </a:endParaRPr>
          </a:p>
        </p:txBody>
      </p:sp>
      <p:sp>
        <p:nvSpPr>
          <p:cNvPr id="10" name="Text 6"/>
          <p:cNvSpPr/>
          <p:nvPr/>
        </p:nvSpPr>
        <p:spPr>
          <a:xfrm>
            <a:off x="5577840" y="1773936"/>
            <a:ext cx="5852160" cy="640080"/>
          </a:xfrm>
          <a:prstGeom prst="rect">
            <a:avLst/>
          </a:prstGeom>
          <a:noFill/>
          <a:ln/>
        </p:spPr>
        <p:txBody>
          <a:bodyPr wrap="square" lIns="0" tIns="0" rIns="0" bIns="0" rtlCol="0" anchor="ctr"/>
          <a:lstStyle/>
          <a:p>
            <a:pPr marL="0" indent="0">
              <a:buNone/>
            </a:pPr>
            <a:r>
              <a:rPr lang="en-US" sz="12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지역·축종·품종·공고상태 조건으로 구조동물 목록 검색</a:t>
            </a:r>
            <a:endParaRPr lang="en-US" sz="1250" dirty="0">
              <a:latin typeface="BM HANNA 11yrs old OTF" panose="020B0600000101010101" pitchFamily="34" charset="-127"/>
              <a:ea typeface="BM HANNA 11yrs old OTF" panose="020B0600000101010101" pitchFamily="34" charset="-127"/>
            </a:endParaRPr>
          </a:p>
        </p:txBody>
      </p:sp>
      <p:sp>
        <p:nvSpPr>
          <p:cNvPr id="11" name="Shape 7"/>
          <p:cNvSpPr/>
          <p:nvPr/>
        </p:nvSpPr>
        <p:spPr>
          <a:xfrm>
            <a:off x="548640" y="2615184"/>
            <a:ext cx="11064240" cy="804672"/>
          </a:xfrm>
          <a:prstGeom prst="roundRect">
            <a:avLst>
              <a:gd name="adj" fmla="val 10227"/>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2" name="Shape 8"/>
          <p:cNvSpPr/>
          <p:nvPr/>
        </p:nvSpPr>
        <p:spPr>
          <a:xfrm>
            <a:off x="777240" y="2766060"/>
            <a:ext cx="502920" cy="502920"/>
          </a:xfrm>
          <a:prstGeom prst="ellipse">
            <a:avLst/>
          </a:prstGeom>
          <a:solidFill>
            <a:srgbClr val="3AA6A0"/>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13" name="Image 2" descr="/home/claude/ppt_project/icons/infoCircle.png"/>
          <p:cNvPicPr>
            <a:picLocks noChangeAspect="1"/>
          </p:cNvPicPr>
          <p:nvPr/>
        </p:nvPicPr>
        <p:blipFill>
          <a:blip r:embed="rId5"/>
          <a:stretch>
            <a:fillRect/>
          </a:stretch>
        </p:blipFill>
        <p:spPr>
          <a:xfrm>
            <a:off x="913028" y="2901848"/>
            <a:ext cx="231343" cy="231343"/>
          </a:xfrm>
          <a:prstGeom prst="rect">
            <a:avLst/>
          </a:prstGeom>
        </p:spPr>
      </p:pic>
      <p:sp>
        <p:nvSpPr>
          <p:cNvPr id="14" name="Text 9"/>
          <p:cNvSpPr/>
          <p:nvPr/>
        </p:nvSpPr>
        <p:spPr>
          <a:xfrm>
            <a:off x="1508760" y="2697480"/>
            <a:ext cx="3931920" cy="640080"/>
          </a:xfrm>
          <a:prstGeom prst="rect">
            <a:avLst/>
          </a:prstGeom>
          <a:noFill/>
          <a:ln/>
        </p:spPr>
        <p:txBody>
          <a:bodyPr wrap="square" lIns="0" tIns="0" rIns="0" bIns="0" rtlCol="0" anchor="ctr"/>
          <a:lstStyle/>
          <a:p>
            <a:pPr marL="0" indent="0">
              <a:buNone/>
            </a:pPr>
            <a:r>
              <a:rPr lang="en-US" sz="1300" b="1" dirty="0">
                <a:solidFill>
                  <a:srgbClr val="1E2761"/>
                </a:solidFill>
                <a:latin typeface="BM HANNA 11yrs old OTF" panose="020B0600000101010101" pitchFamily="34" charset="-127"/>
                <a:ea typeface="BM HANNA 11yrs old OTF" panose="020B0600000101010101" pitchFamily="34" charset="-127"/>
                <a:cs typeface="Courier New" pitchFamily="34" charset="-120"/>
              </a:rPr>
              <a:t>get_animal_detail</a:t>
            </a:r>
            <a:endParaRPr lang="en-US" sz="1300" dirty="0">
              <a:latin typeface="BM HANNA 11yrs old OTF" panose="020B0600000101010101" pitchFamily="34" charset="-127"/>
              <a:ea typeface="BM HANNA 11yrs old OTF" panose="020B0600000101010101" pitchFamily="34" charset="-127"/>
            </a:endParaRPr>
          </a:p>
        </p:txBody>
      </p:sp>
      <p:sp>
        <p:nvSpPr>
          <p:cNvPr id="15" name="Text 10"/>
          <p:cNvSpPr/>
          <p:nvPr/>
        </p:nvSpPr>
        <p:spPr>
          <a:xfrm>
            <a:off x="5577840" y="2697480"/>
            <a:ext cx="5852160" cy="640080"/>
          </a:xfrm>
          <a:prstGeom prst="rect">
            <a:avLst/>
          </a:prstGeom>
          <a:noFill/>
          <a:ln/>
        </p:spPr>
        <p:txBody>
          <a:bodyPr wrap="square" lIns="0" tIns="0" rIns="0" bIns="0" rtlCol="0" anchor="ctr"/>
          <a:lstStyle/>
          <a:p>
            <a:pPr marL="0" indent="0">
              <a:buNone/>
            </a:pPr>
            <a:r>
              <a:rPr lang="en-US" sz="12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공고번호(desertionNo)로 상세정보·보호소 연락처 조회</a:t>
            </a:r>
            <a:endParaRPr lang="en-US" sz="1250" dirty="0">
              <a:latin typeface="BM HANNA 11yrs old OTF" panose="020B0600000101010101" pitchFamily="34" charset="-127"/>
              <a:ea typeface="BM HANNA 11yrs old OTF" panose="020B0600000101010101" pitchFamily="34" charset="-127"/>
            </a:endParaRPr>
          </a:p>
        </p:txBody>
      </p:sp>
      <p:sp>
        <p:nvSpPr>
          <p:cNvPr id="16" name="Shape 11"/>
          <p:cNvSpPr/>
          <p:nvPr/>
        </p:nvSpPr>
        <p:spPr>
          <a:xfrm>
            <a:off x="548640" y="3538728"/>
            <a:ext cx="11064240" cy="804672"/>
          </a:xfrm>
          <a:prstGeom prst="roundRect">
            <a:avLst>
              <a:gd name="adj" fmla="val 10227"/>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7" name="Shape 12"/>
          <p:cNvSpPr/>
          <p:nvPr/>
        </p:nvSpPr>
        <p:spPr>
          <a:xfrm>
            <a:off x="777240" y="3689604"/>
            <a:ext cx="502920" cy="502920"/>
          </a:xfrm>
          <a:prstGeom prst="ellipse">
            <a:avLst/>
          </a:prstGeom>
          <a:solidFill>
            <a:srgbClr val="F5A623"/>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18" name="Image 3" descr="/home/claude/ppt_project/icons/mapmarked.png"/>
          <p:cNvPicPr>
            <a:picLocks noChangeAspect="1"/>
          </p:cNvPicPr>
          <p:nvPr/>
        </p:nvPicPr>
        <p:blipFill>
          <a:blip r:embed="rId6"/>
          <a:stretch>
            <a:fillRect/>
          </a:stretch>
        </p:blipFill>
        <p:spPr>
          <a:xfrm>
            <a:off x="913028" y="3825392"/>
            <a:ext cx="231343" cy="231343"/>
          </a:xfrm>
          <a:prstGeom prst="rect">
            <a:avLst/>
          </a:prstGeom>
        </p:spPr>
      </p:pic>
      <p:sp>
        <p:nvSpPr>
          <p:cNvPr id="19" name="Text 13"/>
          <p:cNvSpPr/>
          <p:nvPr/>
        </p:nvSpPr>
        <p:spPr>
          <a:xfrm>
            <a:off x="1508760" y="3621024"/>
            <a:ext cx="3931920" cy="640080"/>
          </a:xfrm>
          <a:prstGeom prst="rect">
            <a:avLst/>
          </a:prstGeom>
          <a:noFill/>
          <a:ln/>
        </p:spPr>
        <p:txBody>
          <a:bodyPr wrap="square" lIns="0" tIns="0" rIns="0" bIns="0" rtlCol="0" anchor="ctr"/>
          <a:lstStyle/>
          <a:p>
            <a:pPr marL="0" indent="0">
              <a:buNone/>
            </a:pPr>
            <a:r>
              <a:rPr lang="en-US" sz="1300" b="1" dirty="0">
                <a:solidFill>
                  <a:srgbClr val="1E2761"/>
                </a:solidFill>
                <a:latin typeface="BM HANNA 11yrs old OTF" panose="020B0600000101010101" pitchFamily="34" charset="-127"/>
                <a:ea typeface="BM HANNA 11yrs old OTF" panose="020B0600000101010101" pitchFamily="34" charset="-127"/>
                <a:cs typeface="Courier New" pitchFamily="34" charset="-120"/>
              </a:rPr>
              <a:t>search_pet_friendly_travel</a:t>
            </a:r>
            <a:endParaRPr lang="en-US" sz="1300" dirty="0">
              <a:latin typeface="BM HANNA 11yrs old OTF" panose="020B0600000101010101" pitchFamily="34" charset="-127"/>
              <a:ea typeface="BM HANNA 11yrs old OTF" panose="020B0600000101010101" pitchFamily="34" charset="-127"/>
            </a:endParaRPr>
          </a:p>
        </p:txBody>
      </p:sp>
      <p:sp>
        <p:nvSpPr>
          <p:cNvPr id="20" name="Text 14"/>
          <p:cNvSpPr/>
          <p:nvPr/>
        </p:nvSpPr>
        <p:spPr>
          <a:xfrm>
            <a:off x="5577840" y="3621024"/>
            <a:ext cx="5852160" cy="640080"/>
          </a:xfrm>
          <a:prstGeom prst="rect">
            <a:avLst/>
          </a:prstGeom>
          <a:noFill/>
          <a:ln/>
        </p:spPr>
        <p:txBody>
          <a:bodyPr wrap="square" lIns="0" tIns="0" rIns="0" bIns="0" rtlCol="0" anchor="ctr"/>
          <a:lstStyle/>
          <a:p>
            <a:pPr marL="0" indent="0">
              <a:buNone/>
            </a:pPr>
            <a:r>
              <a:rPr lang="en-US" sz="12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지역·카테고리 조건으로 동반 가능 여행지 목록 검색</a:t>
            </a:r>
            <a:endParaRPr lang="en-US" sz="1250" dirty="0">
              <a:latin typeface="BM HANNA 11yrs old OTF" panose="020B0600000101010101" pitchFamily="34" charset="-127"/>
              <a:ea typeface="BM HANNA 11yrs old OTF" panose="020B0600000101010101" pitchFamily="34" charset="-127"/>
            </a:endParaRPr>
          </a:p>
        </p:txBody>
      </p:sp>
      <p:sp>
        <p:nvSpPr>
          <p:cNvPr id="21" name="Shape 15"/>
          <p:cNvSpPr/>
          <p:nvPr/>
        </p:nvSpPr>
        <p:spPr>
          <a:xfrm>
            <a:off x="548640" y="4462272"/>
            <a:ext cx="11064240" cy="804672"/>
          </a:xfrm>
          <a:prstGeom prst="roundRect">
            <a:avLst>
              <a:gd name="adj" fmla="val 10227"/>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22" name="Shape 16"/>
          <p:cNvSpPr/>
          <p:nvPr/>
        </p:nvSpPr>
        <p:spPr>
          <a:xfrm>
            <a:off x="777240" y="4613148"/>
            <a:ext cx="502920" cy="502920"/>
          </a:xfrm>
          <a:prstGeom prst="ellipse">
            <a:avLst/>
          </a:prstGeom>
          <a:solidFill>
            <a:srgbClr val="2F3C7E"/>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23" name="Image 4" descr="/home/claude/ppt_project/icons/route.png"/>
          <p:cNvPicPr>
            <a:picLocks noChangeAspect="1"/>
          </p:cNvPicPr>
          <p:nvPr/>
        </p:nvPicPr>
        <p:blipFill>
          <a:blip r:embed="rId7"/>
          <a:stretch>
            <a:fillRect/>
          </a:stretch>
        </p:blipFill>
        <p:spPr>
          <a:xfrm>
            <a:off x="913028" y="4748936"/>
            <a:ext cx="231343" cy="231343"/>
          </a:xfrm>
          <a:prstGeom prst="rect">
            <a:avLst/>
          </a:prstGeom>
        </p:spPr>
      </p:pic>
      <p:sp>
        <p:nvSpPr>
          <p:cNvPr id="24" name="Text 17"/>
          <p:cNvSpPr/>
          <p:nvPr/>
        </p:nvSpPr>
        <p:spPr>
          <a:xfrm>
            <a:off x="1508760" y="4544568"/>
            <a:ext cx="3931920" cy="640080"/>
          </a:xfrm>
          <a:prstGeom prst="rect">
            <a:avLst/>
          </a:prstGeom>
          <a:noFill/>
          <a:ln/>
        </p:spPr>
        <p:txBody>
          <a:bodyPr wrap="square" lIns="0" tIns="0" rIns="0" bIns="0" rtlCol="0" anchor="ctr"/>
          <a:lstStyle/>
          <a:p>
            <a:pPr marL="0" indent="0">
              <a:buNone/>
            </a:pPr>
            <a:r>
              <a:rPr lang="en-US" sz="1300" b="1" dirty="0">
                <a:solidFill>
                  <a:srgbClr val="1E2761"/>
                </a:solidFill>
                <a:latin typeface="BM HANNA 11yrs old OTF" panose="020B0600000101010101" pitchFamily="34" charset="-127"/>
                <a:ea typeface="BM HANNA 11yrs old OTF" panose="020B0600000101010101" pitchFamily="34" charset="-127"/>
                <a:cs typeface="Courier New" pitchFamily="34" charset="-120"/>
              </a:rPr>
              <a:t>get_pet_travel_detail</a:t>
            </a:r>
            <a:endParaRPr lang="en-US" sz="1300" dirty="0">
              <a:latin typeface="BM HANNA 11yrs old OTF" panose="020B0600000101010101" pitchFamily="34" charset="-127"/>
              <a:ea typeface="BM HANNA 11yrs old OTF" panose="020B0600000101010101" pitchFamily="34" charset="-127"/>
            </a:endParaRPr>
          </a:p>
        </p:txBody>
      </p:sp>
      <p:sp>
        <p:nvSpPr>
          <p:cNvPr id="25" name="Text 18"/>
          <p:cNvSpPr/>
          <p:nvPr/>
        </p:nvSpPr>
        <p:spPr>
          <a:xfrm>
            <a:off x="5577840" y="4544568"/>
            <a:ext cx="5852160" cy="640080"/>
          </a:xfrm>
          <a:prstGeom prst="rect">
            <a:avLst/>
          </a:prstGeom>
          <a:noFill/>
          <a:ln/>
        </p:spPr>
        <p:txBody>
          <a:bodyPr wrap="square" lIns="0" tIns="0" rIns="0" bIns="0" rtlCol="0" anchor="ctr"/>
          <a:lstStyle/>
          <a:p>
            <a:pPr marL="0" indent="0">
              <a:buNone/>
            </a:pPr>
            <a:r>
              <a:rPr lang="en-US" sz="12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장소별 동반 조건 상세 — 목록 상위 3~5건만 병렬 호출</a:t>
            </a:r>
            <a:endParaRPr lang="en-US" sz="1250" dirty="0">
              <a:latin typeface="BM HANNA 11yrs old OTF" panose="020B0600000101010101" pitchFamily="34" charset="-127"/>
              <a:ea typeface="BM HANNA 11yrs old OTF" panose="020B0600000101010101" pitchFamily="34" charset="-127"/>
            </a:endParaRPr>
          </a:p>
        </p:txBody>
      </p:sp>
      <p:sp>
        <p:nvSpPr>
          <p:cNvPr id="26" name="Shape 19"/>
          <p:cNvSpPr/>
          <p:nvPr/>
        </p:nvSpPr>
        <p:spPr>
          <a:xfrm>
            <a:off x="548640" y="5385816"/>
            <a:ext cx="11064240" cy="804672"/>
          </a:xfrm>
          <a:prstGeom prst="roundRect">
            <a:avLst>
              <a:gd name="adj" fmla="val 10227"/>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27" name="Shape 20"/>
          <p:cNvSpPr/>
          <p:nvPr/>
        </p:nvSpPr>
        <p:spPr>
          <a:xfrm>
            <a:off x="777240" y="5536692"/>
            <a:ext cx="502920" cy="502920"/>
          </a:xfrm>
          <a:prstGeom prst="ellipse">
            <a:avLst/>
          </a:prstGeom>
          <a:solidFill>
            <a:srgbClr val="F96167"/>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28" name="Image 5" descr="/home/claude/ppt_project/icons/save.png"/>
          <p:cNvPicPr>
            <a:picLocks noChangeAspect="1"/>
          </p:cNvPicPr>
          <p:nvPr/>
        </p:nvPicPr>
        <p:blipFill>
          <a:blip r:embed="rId8"/>
          <a:stretch>
            <a:fillRect/>
          </a:stretch>
        </p:blipFill>
        <p:spPr>
          <a:xfrm>
            <a:off x="913028" y="5672480"/>
            <a:ext cx="231343" cy="231343"/>
          </a:xfrm>
          <a:prstGeom prst="rect">
            <a:avLst/>
          </a:prstGeom>
        </p:spPr>
      </p:pic>
      <p:sp>
        <p:nvSpPr>
          <p:cNvPr id="29" name="Text 21"/>
          <p:cNvSpPr/>
          <p:nvPr/>
        </p:nvSpPr>
        <p:spPr>
          <a:xfrm>
            <a:off x="1508760" y="5468112"/>
            <a:ext cx="3931920" cy="640080"/>
          </a:xfrm>
          <a:prstGeom prst="rect">
            <a:avLst/>
          </a:prstGeom>
          <a:noFill/>
          <a:ln/>
        </p:spPr>
        <p:txBody>
          <a:bodyPr wrap="square" lIns="0" tIns="0" rIns="0" bIns="0" rtlCol="0" anchor="ctr"/>
          <a:lstStyle/>
          <a:p>
            <a:pPr marL="0" indent="0">
              <a:buNone/>
            </a:pPr>
            <a:r>
              <a:rPr lang="en-US" sz="1300" b="1" dirty="0">
                <a:solidFill>
                  <a:srgbClr val="1E2761"/>
                </a:solidFill>
                <a:latin typeface="BM HANNA 11yrs old OTF" panose="020B0600000101010101" pitchFamily="34" charset="-127"/>
                <a:ea typeface="BM HANNA 11yrs old OTF" panose="020B0600000101010101" pitchFamily="34" charset="-127"/>
                <a:cs typeface="Courier New" pitchFamily="34" charset="-120"/>
              </a:rPr>
              <a:t>save_user_preference</a:t>
            </a:r>
            <a:endParaRPr lang="en-US" sz="1300" dirty="0">
              <a:latin typeface="BM HANNA 11yrs old OTF" panose="020B0600000101010101" pitchFamily="34" charset="-127"/>
              <a:ea typeface="BM HANNA 11yrs old OTF" panose="020B0600000101010101" pitchFamily="34" charset="-127"/>
            </a:endParaRPr>
          </a:p>
        </p:txBody>
      </p:sp>
      <p:sp>
        <p:nvSpPr>
          <p:cNvPr id="30" name="Text 22"/>
          <p:cNvSpPr/>
          <p:nvPr/>
        </p:nvSpPr>
        <p:spPr>
          <a:xfrm>
            <a:off x="5577840" y="5468112"/>
            <a:ext cx="5852160" cy="640080"/>
          </a:xfrm>
          <a:prstGeom prst="rect">
            <a:avLst/>
          </a:prstGeom>
          <a:noFill/>
          <a:ln/>
        </p:spPr>
        <p:txBody>
          <a:bodyPr wrap="square" lIns="0" tIns="0" rIns="0" bIns="0" rtlCol="0" anchor="ctr"/>
          <a:lstStyle/>
          <a:p>
            <a:pPr marL="0" indent="0">
              <a:buNone/>
            </a:pPr>
            <a:r>
              <a:rPr lang="en-US" sz="12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선호 지역·품종·반려동물 보유 여부를 세션 간 저장</a:t>
            </a:r>
            <a:endParaRPr lang="en-US" sz="1250" dirty="0">
              <a:latin typeface="BM HANNA 11yrs old OTF" panose="020B0600000101010101" pitchFamily="34" charset="-127"/>
              <a:ea typeface="BM HANNA 11yrs old OTF" panose="020B0600000101010101" pitchFamily="34" charset="-127"/>
            </a:endParaRPr>
          </a:p>
        </p:txBody>
      </p:sp>
      <p:sp>
        <p:nvSpPr>
          <p:cNvPr id="31" name="Text 23"/>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13</a:t>
            </a:r>
            <a:endParaRPr lang="en-US" sz="1000" dirty="0">
              <a:latin typeface="BM HANNA 11yrs old OTF" panose="020B0600000101010101" pitchFamily="34" charset="-127"/>
              <a:ea typeface="BM HANNA 11yrs old OTF" panose="020B0600000101010101" pitchFamily="34" charset="-127"/>
            </a:endParaRPr>
          </a:p>
        </p:txBody>
      </p:sp>
      <p:sp>
        <p:nvSpPr>
          <p:cNvPr id="32" name="Text 24"/>
          <p:cNvSpPr/>
          <p:nvPr/>
        </p:nvSpPr>
        <p:spPr>
          <a:xfrm>
            <a:off x="457200" y="6446520"/>
            <a:ext cx="3657600" cy="274320"/>
          </a:xfrm>
          <a:prstGeom prst="rect">
            <a:avLst/>
          </a:prstGeom>
          <a:noFill/>
          <a:ln/>
        </p:spPr>
        <p:txBody>
          <a:bodyPr wrap="square" lIns="0" tIns="0" rIns="0" bIns="0" rtlCol="0" anchor="ctr"/>
          <a:lstStyle/>
          <a:p>
            <a:pPr marL="0" indent="0" algn="l">
              <a:buNone/>
            </a:pPr>
            <a:r>
              <a:rPr lang="en-US" sz="9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함께갈개 · AI Agent 설계</a:t>
            </a:r>
            <a:endParaRPr lang="en-US" sz="900" dirty="0">
              <a:latin typeface="BM HANNA 11yrs old OTF" panose="020B0600000101010101" pitchFamily="34" charset="-127"/>
              <a:ea typeface="BM HANNA 11yrs old OTF" panose="020B0600000101010101" pitchFamily="34" charset="-127"/>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658368" cy="658368"/>
          </a:xfrm>
          <a:prstGeom prst="ellipse">
            <a:avLst/>
          </a:prstGeom>
          <a:solidFill>
            <a:srgbClr val="F96167"/>
          </a:solidFill>
          <a:ln/>
          <a:effectLst>
            <a:outerShdw blurRad="76200" dist="25400" dir="5400000" algn="bl" rotWithShape="0">
              <a:srgbClr val="888888">
                <a:alpha val="25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3" name="Image 0" descr="/home/claude/ppt_project/icons/database.png"/>
          <p:cNvPicPr>
            <a:picLocks noChangeAspect="1"/>
          </p:cNvPicPr>
          <p:nvPr/>
        </p:nvPicPr>
        <p:blipFill>
          <a:blip r:embed="rId3"/>
          <a:stretch>
            <a:fillRect/>
          </a:stretch>
        </p:blipFill>
        <p:spPr>
          <a:xfrm>
            <a:off x="713232" y="594360"/>
            <a:ext cx="237744" cy="237744"/>
          </a:xfrm>
          <a:prstGeom prst="rect">
            <a:avLst/>
          </a:prstGeom>
        </p:spPr>
      </p:pic>
      <p:sp>
        <p:nvSpPr>
          <p:cNvPr id="4" name="Text 1"/>
          <p:cNvSpPr/>
          <p:nvPr/>
        </p:nvSpPr>
        <p:spPr>
          <a:xfrm>
            <a:off x="1325880" y="329184"/>
            <a:ext cx="9875520" cy="502920"/>
          </a:xfrm>
          <a:prstGeom prst="rect">
            <a:avLst/>
          </a:prstGeom>
          <a:noFill/>
          <a:ln/>
        </p:spPr>
        <p:txBody>
          <a:bodyPr wrap="square" lIns="0" tIns="0" rIns="0" bIns="0" rtlCol="0" anchor="ctr"/>
          <a:lstStyle/>
          <a:p>
            <a:pPr marL="0" indent="0" algn="l">
              <a:buNone/>
            </a:pPr>
            <a:r>
              <a:rPr lang="en-US" sz="27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Context 설계</a:t>
            </a:r>
            <a:endParaRPr lang="en-US" sz="2700" dirty="0">
              <a:latin typeface="BM HANNA 11yrs old OTF" panose="020B0600000101010101" pitchFamily="34" charset="-127"/>
              <a:ea typeface="BM HANNA 11yrs old OTF" panose="020B0600000101010101" pitchFamily="34" charset="-127"/>
            </a:endParaRPr>
          </a:p>
        </p:txBody>
      </p:sp>
      <p:sp>
        <p:nvSpPr>
          <p:cNvPr id="5" name="Text 2"/>
          <p:cNvSpPr/>
          <p:nvPr/>
        </p:nvSpPr>
        <p:spPr>
          <a:xfrm>
            <a:off x="1325880" y="822960"/>
            <a:ext cx="9875520" cy="292608"/>
          </a:xfrm>
          <a:prstGeom prst="rect">
            <a:avLst/>
          </a:prstGeom>
          <a:noFill/>
          <a:ln/>
        </p:spPr>
        <p:txBody>
          <a:bodyPr wrap="square" lIns="0" tIns="0" rIns="0" bIns="0" rtlCol="0" anchor="ctr"/>
          <a:lstStyle/>
          <a:p>
            <a:pPr marL="0" indent="0" algn="l">
              <a:buNone/>
            </a:pPr>
            <a:r>
              <a:rPr lang="en-US" sz="1200" i="1" dirty="0">
                <a:solidFill>
                  <a:srgbClr val="6B6F8A"/>
                </a:solidFill>
                <a:latin typeface="BM HANNA 11yrs old OTF" panose="020B0600000101010101" pitchFamily="34" charset="-127"/>
                <a:ea typeface="BM HANNA 11yrs old OTF" panose="020B0600000101010101" pitchFamily="34" charset="-127"/>
                <a:cs typeface="Calibri" pitchFamily="34" charset="-120"/>
              </a:rPr>
              <a:t>3.1  세 가지 유형으로 구분</a:t>
            </a:r>
            <a:endParaRPr lang="en-US" sz="1200" dirty="0">
              <a:latin typeface="BM HANNA 11yrs old OTF" panose="020B0600000101010101" pitchFamily="34" charset="-127"/>
              <a:ea typeface="BM HANNA 11yrs old OTF" panose="020B0600000101010101" pitchFamily="34" charset="-127"/>
            </a:endParaRPr>
          </a:p>
        </p:txBody>
      </p:sp>
      <p:sp>
        <p:nvSpPr>
          <p:cNvPr id="6" name="Shape 3"/>
          <p:cNvSpPr/>
          <p:nvPr/>
        </p:nvSpPr>
        <p:spPr>
          <a:xfrm>
            <a:off x="548640" y="1737360"/>
            <a:ext cx="3505200" cy="3063240"/>
          </a:xfrm>
          <a:prstGeom prst="roundRect">
            <a:avLst>
              <a:gd name="adj" fmla="val 2687"/>
            </a:avLst>
          </a:prstGeom>
          <a:solidFill>
            <a:srgbClr val="FFFFFF"/>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7" name="Shape 4"/>
          <p:cNvSpPr/>
          <p:nvPr/>
        </p:nvSpPr>
        <p:spPr>
          <a:xfrm>
            <a:off x="822960" y="2011680"/>
            <a:ext cx="2956560" cy="502920"/>
          </a:xfrm>
          <a:prstGeom prst="roundRect">
            <a:avLst>
              <a:gd name="adj" fmla="val 18182"/>
            </a:avLst>
          </a:prstGeom>
          <a:solidFill>
            <a:srgbClr val="2F3C7E"/>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8" name="Text 5"/>
          <p:cNvSpPr/>
          <p:nvPr/>
        </p:nvSpPr>
        <p:spPr>
          <a:xfrm>
            <a:off x="822960" y="2011680"/>
            <a:ext cx="2956560" cy="502920"/>
          </a:xfrm>
          <a:prstGeom prst="rect">
            <a:avLst/>
          </a:prstGeom>
          <a:noFill/>
          <a:ln/>
        </p:spPr>
        <p:txBody>
          <a:bodyPr wrap="square" lIns="0" tIns="0" rIns="0" bIns="0" rtlCol="0" anchor="ctr"/>
          <a:lstStyle/>
          <a:p>
            <a:pPr marL="0" indent="0" algn="ctr">
              <a:buNone/>
            </a:pPr>
            <a:r>
              <a:rPr lang="en-US" sz="1450" b="1" dirty="0">
                <a:solidFill>
                  <a:srgbClr val="FFFFFF"/>
                </a:solidFill>
                <a:latin typeface="BM HANNA 11yrs old OTF" panose="020B0600000101010101" pitchFamily="34" charset="-127"/>
                <a:ea typeface="BM HANNA 11yrs old OTF" panose="020B0600000101010101" pitchFamily="34" charset="-127"/>
                <a:cs typeface="Cambria" pitchFamily="34" charset="-120"/>
              </a:rPr>
              <a:t>Runtime Context</a:t>
            </a:r>
            <a:endParaRPr lang="en-US" sz="1450" dirty="0">
              <a:latin typeface="BM HANNA 11yrs old OTF" panose="020B0600000101010101" pitchFamily="34" charset="-127"/>
              <a:ea typeface="BM HANNA 11yrs old OTF" panose="020B0600000101010101" pitchFamily="34" charset="-127"/>
            </a:endParaRPr>
          </a:p>
        </p:txBody>
      </p:sp>
      <p:sp>
        <p:nvSpPr>
          <p:cNvPr id="9" name="Text 6"/>
          <p:cNvSpPr/>
          <p:nvPr/>
        </p:nvSpPr>
        <p:spPr>
          <a:xfrm>
            <a:off x="822960" y="2578608"/>
            <a:ext cx="2956560" cy="274320"/>
          </a:xfrm>
          <a:prstGeom prst="rect">
            <a:avLst/>
          </a:prstGeom>
          <a:noFill/>
          <a:ln/>
        </p:spPr>
        <p:txBody>
          <a:bodyPr wrap="square" lIns="0" tIns="0" rIns="0" bIns="0" rtlCol="0" anchor="ctr"/>
          <a:lstStyle/>
          <a:p>
            <a:pPr marL="0" indent="0" algn="ctr">
              <a:buNone/>
            </a:pPr>
            <a:r>
              <a:rPr lang="en-US" sz="1100" i="1" dirty="0">
                <a:solidFill>
                  <a:srgbClr val="6B6F8A"/>
                </a:solidFill>
                <a:latin typeface="BM HANNA 11yrs old OTF" panose="020B0600000101010101" pitchFamily="34" charset="-127"/>
                <a:ea typeface="BM HANNA 11yrs old OTF" panose="020B0600000101010101" pitchFamily="34" charset="-127"/>
                <a:cs typeface="Calibri" pitchFamily="34" charset="-120"/>
              </a:rPr>
              <a:t>호출 시 고정, 불변</a:t>
            </a:r>
            <a:endParaRPr lang="en-US" sz="1100" dirty="0">
              <a:latin typeface="BM HANNA 11yrs old OTF" panose="020B0600000101010101" pitchFamily="34" charset="-127"/>
              <a:ea typeface="BM HANNA 11yrs old OTF" panose="020B0600000101010101" pitchFamily="34" charset="-127"/>
            </a:endParaRPr>
          </a:p>
        </p:txBody>
      </p:sp>
      <p:sp>
        <p:nvSpPr>
          <p:cNvPr id="10" name="Text 7"/>
          <p:cNvSpPr/>
          <p:nvPr/>
        </p:nvSpPr>
        <p:spPr>
          <a:xfrm>
            <a:off x="868680" y="3017520"/>
            <a:ext cx="2865120" cy="1600200"/>
          </a:xfrm>
          <a:prstGeom prst="rect">
            <a:avLst/>
          </a:prstGeom>
          <a:noFill/>
          <a:ln/>
        </p:spPr>
        <p:txBody>
          <a:bodyPr wrap="square" lIns="0" tIns="0" rIns="0" bIns="0" rtlCol="0" anchor="t"/>
          <a:lstStyle/>
          <a:p>
            <a:pPr marL="177800" indent="-177800">
              <a:lnSpc>
                <a:spcPct val="120000"/>
              </a:lnSpc>
              <a:spcAft>
                <a:spcPts val="1000"/>
              </a:spcAft>
              <a:buSzPct val="100000"/>
              <a:buChar char="•"/>
            </a:pPr>
            <a:r>
              <a:rPr lang="en-US" sz="11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user_id — 사용자 식별, 개인화 분기의 근거</a:t>
            </a:r>
            <a:endParaRPr lang="en-US" sz="1150" dirty="0">
              <a:latin typeface="BM HANNA 11yrs old OTF" panose="020B0600000101010101" pitchFamily="34" charset="-127"/>
              <a:ea typeface="BM HANNA 11yrs old OTF" panose="020B0600000101010101" pitchFamily="34" charset="-127"/>
            </a:endParaRPr>
          </a:p>
        </p:txBody>
      </p:sp>
      <p:sp>
        <p:nvSpPr>
          <p:cNvPr id="11" name="Shape 8"/>
          <p:cNvSpPr/>
          <p:nvPr/>
        </p:nvSpPr>
        <p:spPr>
          <a:xfrm>
            <a:off x="4328160" y="1737360"/>
            <a:ext cx="3505200" cy="3063240"/>
          </a:xfrm>
          <a:prstGeom prst="roundRect">
            <a:avLst>
              <a:gd name="adj" fmla="val 2687"/>
            </a:avLst>
          </a:prstGeom>
          <a:solidFill>
            <a:srgbClr val="FFFFFF"/>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2" name="Shape 9"/>
          <p:cNvSpPr/>
          <p:nvPr/>
        </p:nvSpPr>
        <p:spPr>
          <a:xfrm>
            <a:off x="4602480" y="2011680"/>
            <a:ext cx="2956560" cy="502920"/>
          </a:xfrm>
          <a:prstGeom prst="roundRect">
            <a:avLst>
              <a:gd name="adj" fmla="val 18182"/>
            </a:avLst>
          </a:prstGeom>
          <a:solidFill>
            <a:srgbClr val="F96167"/>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3" name="Text 10"/>
          <p:cNvSpPr/>
          <p:nvPr/>
        </p:nvSpPr>
        <p:spPr>
          <a:xfrm>
            <a:off x="4602480" y="2011680"/>
            <a:ext cx="2956560" cy="502920"/>
          </a:xfrm>
          <a:prstGeom prst="rect">
            <a:avLst/>
          </a:prstGeom>
          <a:noFill/>
          <a:ln/>
        </p:spPr>
        <p:txBody>
          <a:bodyPr wrap="square" lIns="0" tIns="0" rIns="0" bIns="0" rtlCol="0" anchor="ctr"/>
          <a:lstStyle/>
          <a:p>
            <a:pPr marL="0" indent="0" algn="ctr">
              <a:buNone/>
            </a:pPr>
            <a:r>
              <a:rPr lang="en-US" sz="1450" b="1" dirty="0">
                <a:solidFill>
                  <a:srgbClr val="FFFFFF"/>
                </a:solidFill>
                <a:latin typeface="BM HANNA 11yrs old OTF" panose="020B0600000101010101" pitchFamily="34" charset="-127"/>
                <a:ea typeface="BM HANNA 11yrs old OTF" panose="020B0600000101010101" pitchFamily="34" charset="-127"/>
                <a:cs typeface="Cambria" pitchFamily="34" charset="-120"/>
              </a:rPr>
              <a:t>State</a:t>
            </a:r>
            <a:endParaRPr lang="en-US" sz="1450" dirty="0">
              <a:latin typeface="BM HANNA 11yrs old OTF" panose="020B0600000101010101" pitchFamily="34" charset="-127"/>
              <a:ea typeface="BM HANNA 11yrs old OTF" panose="020B0600000101010101" pitchFamily="34" charset="-127"/>
            </a:endParaRPr>
          </a:p>
        </p:txBody>
      </p:sp>
      <p:sp>
        <p:nvSpPr>
          <p:cNvPr id="14" name="Text 11"/>
          <p:cNvSpPr/>
          <p:nvPr/>
        </p:nvSpPr>
        <p:spPr>
          <a:xfrm>
            <a:off x="4602480" y="2578608"/>
            <a:ext cx="2956560" cy="274320"/>
          </a:xfrm>
          <a:prstGeom prst="rect">
            <a:avLst/>
          </a:prstGeom>
          <a:noFill/>
          <a:ln/>
        </p:spPr>
        <p:txBody>
          <a:bodyPr wrap="square" lIns="0" tIns="0" rIns="0" bIns="0" rtlCol="0" anchor="ctr"/>
          <a:lstStyle/>
          <a:p>
            <a:pPr marL="0" indent="0" algn="ctr">
              <a:buNone/>
            </a:pPr>
            <a:r>
              <a:rPr lang="en-US" sz="1100" i="1" dirty="0">
                <a:solidFill>
                  <a:srgbClr val="6B6F8A"/>
                </a:solidFill>
                <a:latin typeface="BM HANNA 11yrs old OTF" panose="020B0600000101010101" pitchFamily="34" charset="-127"/>
                <a:ea typeface="BM HANNA 11yrs old OTF" panose="020B0600000101010101" pitchFamily="34" charset="-127"/>
                <a:cs typeface="Calibri" pitchFamily="34" charset="-120"/>
              </a:rPr>
              <a:t>대화 중 변화</a:t>
            </a:r>
            <a:endParaRPr lang="en-US" sz="1100" dirty="0">
              <a:latin typeface="BM HANNA 11yrs old OTF" panose="020B0600000101010101" pitchFamily="34" charset="-127"/>
              <a:ea typeface="BM HANNA 11yrs old OTF" panose="020B0600000101010101" pitchFamily="34" charset="-127"/>
            </a:endParaRPr>
          </a:p>
        </p:txBody>
      </p:sp>
      <p:sp>
        <p:nvSpPr>
          <p:cNvPr id="15" name="Text 12"/>
          <p:cNvSpPr/>
          <p:nvPr/>
        </p:nvSpPr>
        <p:spPr>
          <a:xfrm>
            <a:off x="4648200" y="3017520"/>
            <a:ext cx="2865120" cy="1600200"/>
          </a:xfrm>
          <a:prstGeom prst="rect">
            <a:avLst/>
          </a:prstGeom>
          <a:noFill/>
          <a:ln/>
        </p:spPr>
        <p:txBody>
          <a:bodyPr wrap="square" lIns="0" tIns="0" rIns="0" bIns="0" rtlCol="0" anchor="t"/>
          <a:lstStyle/>
          <a:p>
            <a:pPr marL="177800" indent="-177800">
              <a:lnSpc>
                <a:spcPct val="120000"/>
              </a:lnSpc>
              <a:spcAft>
                <a:spcPts val="1000"/>
              </a:spcAft>
              <a:buSzPct val="100000"/>
              <a:buChar char="•"/>
            </a:pPr>
            <a:r>
              <a:rPr lang="en-US" sz="11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selected_animal — 동반여행 연계 추천 기준</a:t>
            </a:r>
            <a:endParaRPr lang="en-US" sz="1150" dirty="0">
              <a:latin typeface="BM HANNA 11yrs old OTF" panose="020B0600000101010101" pitchFamily="34" charset="-127"/>
              <a:ea typeface="BM HANNA 11yrs old OTF" panose="020B0600000101010101" pitchFamily="34" charset="-127"/>
            </a:endParaRPr>
          </a:p>
          <a:p>
            <a:pPr marL="177800" indent="-177800">
              <a:lnSpc>
                <a:spcPct val="120000"/>
              </a:lnSpc>
              <a:spcAft>
                <a:spcPts val="1000"/>
              </a:spcAft>
              <a:buSzPct val="100000"/>
              <a:buChar char="•"/>
            </a:pPr>
            <a:r>
              <a:rPr lang="en-US" sz="11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last_search_filters — 재질문 시 조건 병합</a:t>
            </a:r>
            <a:endParaRPr lang="en-US" sz="1150" dirty="0">
              <a:latin typeface="BM HANNA 11yrs old OTF" panose="020B0600000101010101" pitchFamily="34" charset="-127"/>
              <a:ea typeface="BM HANNA 11yrs old OTF" panose="020B0600000101010101" pitchFamily="34" charset="-127"/>
            </a:endParaRPr>
          </a:p>
          <a:p>
            <a:pPr marL="177800" indent="-177800">
              <a:lnSpc>
                <a:spcPct val="120000"/>
              </a:lnSpc>
              <a:spcAft>
                <a:spcPts val="1000"/>
              </a:spcAft>
              <a:buSzPct val="100000"/>
              <a:buChar char="•"/>
            </a:pPr>
            <a:r>
              <a:rPr lang="en-US" sz="11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last_tool_results — grounded 판정 근거</a:t>
            </a:r>
            <a:endParaRPr lang="en-US" sz="1150" dirty="0">
              <a:latin typeface="BM HANNA 11yrs old OTF" panose="020B0600000101010101" pitchFamily="34" charset="-127"/>
              <a:ea typeface="BM HANNA 11yrs old OTF" panose="020B0600000101010101" pitchFamily="34" charset="-127"/>
            </a:endParaRPr>
          </a:p>
        </p:txBody>
      </p:sp>
      <p:sp>
        <p:nvSpPr>
          <p:cNvPr id="16" name="Shape 13"/>
          <p:cNvSpPr/>
          <p:nvPr/>
        </p:nvSpPr>
        <p:spPr>
          <a:xfrm>
            <a:off x="8107680" y="1737360"/>
            <a:ext cx="3505200" cy="3063240"/>
          </a:xfrm>
          <a:prstGeom prst="roundRect">
            <a:avLst>
              <a:gd name="adj" fmla="val 2687"/>
            </a:avLst>
          </a:prstGeom>
          <a:solidFill>
            <a:srgbClr val="FFFFFF"/>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7" name="Shape 14"/>
          <p:cNvSpPr/>
          <p:nvPr/>
        </p:nvSpPr>
        <p:spPr>
          <a:xfrm>
            <a:off x="8382000" y="2011680"/>
            <a:ext cx="2956560" cy="502920"/>
          </a:xfrm>
          <a:prstGeom prst="roundRect">
            <a:avLst>
              <a:gd name="adj" fmla="val 18182"/>
            </a:avLst>
          </a:prstGeom>
          <a:solidFill>
            <a:srgbClr val="3AA6A0"/>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8" name="Text 15"/>
          <p:cNvSpPr/>
          <p:nvPr/>
        </p:nvSpPr>
        <p:spPr>
          <a:xfrm>
            <a:off x="8382000" y="2011680"/>
            <a:ext cx="2956560" cy="502920"/>
          </a:xfrm>
          <a:prstGeom prst="rect">
            <a:avLst/>
          </a:prstGeom>
          <a:noFill/>
          <a:ln/>
        </p:spPr>
        <p:txBody>
          <a:bodyPr wrap="square" lIns="0" tIns="0" rIns="0" bIns="0" rtlCol="0" anchor="ctr"/>
          <a:lstStyle/>
          <a:p>
            <a:pPr marL="0" indent="0" algn="ctr">
              <a:buNone/>
            </a:pPr>
            <a:r>
              <a:rPr lang="en-US" sz="1450" b="1" dirty="0">
                <a:solidFill>
                  <a:srgbClr val="FFFFFF"/>
                </a:solidFill>
                <a:latin typeface="BM HANNA 11yrs old OTF" panose="020B0600000101010101" pitchFamily="34" charset="-127"/>
                <a:ea typeface="BM HANNA 11yrs old OTF" panose="020B0600000101010101" pitchFamily="34" charset="-127"/>
                <a:cs typeface="Cambria" pitchFamily="34" charset="-120"/>
              </a:rPr>
              <a:t>Store</a:t>
            </a:r>
            <a:endParaRPr lang="en-US" sz="1450" dirty="0">
              <a:latin typeface="BM HANNA 11yrs old OTF" panose="020B0600000101010101" pitchFamily="34" charset="-127"/>
              <a:ea typeface="BM HANNA 11yrs old OTF" panose="020B0600000101010101" pitchFamily="34" charset="-127"/>
            </a:endParaRPr>
          </a:p>
        </p:txBody>
      </p:sp>
      <p:sp>
        <p:nvSpPr>
          <p:cNvPr id="19" name="Text 16"/>
          <p:cNvSpPr/>
          <p:nvPr/>
        </p:nvSpPr>
        <p:spPr>
          <a:xfrm>
            <a:off x="8382000" y="2578608"/>
            <a:ext cx="2956560" cy="274320"/>
          </a:xfrm>
          <a:prstGeom prst="rect">
            <a:avLst/>
          </a:prstGeom>
          <a:noFill/>
          <a:ln/>
        </p:spPr>
        <p:txBody>
          <a:bodyPr wrap="square" lIns="0" tIns="0" rIns="0" bIns="0" rtlCol="0" anchor="ctr"/>
          <a:lstStyle/>
          <a:p>
            <a:pPr marL="0" indent="0" algn="ctr">
              <a:buNone/>
            </a:pPr>
            <a:r>
              <a:rPr lang="en-US" sz="1100" i="1" dirty="0">
                <a:solidFill>
                  <a:srgbClr val="6B6F8A"/>
                </a:solidFill>
                <a:latin typeface="BM HANNA 11yrs old OTF" panose="020B0600000101010101" pitchFamily="34" charset="-127"/>
                <a:ea typeface="BM HANNA 11yrs old OTF" panose="020B0600000101010101" pitchFamily="34" charset="-127"/>
                <a:cs typeface="Calibri" pitchFamily="34" charset="-120"/>
              </a:rPr>
              <a:t>세션을 넘어 영속</a:t>
            </a:r>
            <a:endParaRPr lang="en-US" sz="1100" dirty="0">
              <a:latin typeface="BM HANNA 11yrs old OTF" panose="020B0600000101010101" pitchFamily="34" charset="-127"/>
              <a:ea typeface="BM HANNA 11yrs old OTF" panose="020B0600000101010101" pitchFamily="34" charset="-127"/>
            </a:endParaRPr>
          </a:p>
        </p:txBody>
      </p:sp>
      <p:sp>
        <p:nvSpPr>
          <p:cNvPr id="20" name="Text 17"/>
          <p:cNvSpPr/>
          <p:nvPr/>
        </p:nvSpPr>
        <p:spPr>
          <a:xfrm>
            <a:off x="8427720" y="3017520"/>
            <a:ext cx="2865120" cy="1600200"/>
          </a:xfrm>
          <a:prstGeom prst="rect">
            <a:avLst/>
          </a:prstGeom>
          <a:noFill/>
          <a:ln/>
        </p:spPr>
        <p:txBody>
          <a:bodyPr wrap="square" lIns="0" tIns="0" rIns="0" bIns="0" rtlCol="0" anchor="t"/>
          <a:lstStyle/>
          <a:p>
            <a:pPr marL="177800" indent="-177800">
              <a:lnSpc>
                <a:spcPct val="120000"/>
              </a:lnSpc>
              <a:spcAft>
                <a:spcPts val="1000"/>
              </a:spcAft>
              <a:buSzPct val="100000"/>
              <a:buChar char="•"/>
            </a:pPr>
            <a:r>
              <a:rPr lang="en-US" sz="11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user_preference — 선호 </a:t>
            </a:r>
            <a:r>
              <a:rPr lang="en-US" sz="115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지역·축종·보유</a:t>
            </a:r>
            <a:r>
              <a:rPr lang="en-US" sz="11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 여부</a:t>
            </a:r>
            <a:endParaRPr lang="en-US" sz="1150" dirty="0">
              <a:latin typeface="BM HANNA 11yrs old OTF" panose="020B0600000101010101" pitchFamily="34" charset="-127"/>
              <a:ea typeface="BM HANNA 11yrs old OTF" panose="020B0600000101010101" pitchFamily="34" charset="-127"/>
            </a:endParaRPr>
          </a:p>
          <a:p>
            <a:pPr marL="177800" indent="-177800">
              <a:lnSpc>
                <a:spcPct val="120000"/>
              </a:lnSpc>
              <a:spcAft>
                <a:spcPts val="1000"/>
              </a:spcAft>
              <a:buSzPct val="100000"/>
              <a:buChar char="•"/>
            </a:pPr>
            <a:r>
              <a:rPr lang="en-US" sz="11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(개인화 추천의 근거, 1.2 기능 6번)</a:t>
            </a:r>
            <a:endParaRPr lang="en-US" sz="1150" dirty="0">
              <a:latin typeface="BM HANNA 11yrs old OTF" panose="020B0600000101010101" pitchFamily="34" charset="-127"/>
              <a:ea typeface="BM HANNA 11yrs old OTF" panose="020B0600000101010101" pitchFamily="34" charset="-127"/>
            </a:endParaRPr>
          </a:p>
        </p:txBody>
      </p:sp>
      <p:sp>
        <p:nvSpPr>
          <p:cNvPr id="21" name="Shape 18"/>
          <p:cNvSpPr/>
          <p:nvPr/>
        </p:nvSpPr>
        <p:spPr>
          <a:xfrm>
            <a:off x="548640" y="5120640"/>
            <a:ext cx="11064240" cy="822960"/>
          </a:xfrm>
          <a:prstGeom prst="roundRect">
            <a:avLst>
              <a:gd name="adj" fmla="val 10000"/>
            </a:avLst>
          </a:prstGeom>
          <a:solidFill>
            <a:srgbClr val="FFF4DC"/>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22" name="Text 19"/>
          <p:cNvSpPr/>
          <p:nvPr/>
        </p:nvSpPr>
        <p:spPr>
          <a:xfrm>
            <a:off x="822960" y="5120640"/>
            <a:ext cx="10515600" cy="822960"/>
          </a:xfrm>
          <a:prstGeom prst="rect">
            <a:avLst/>
          </a:prstGeom>
          <a:noFill/>
          <a:ln/>
        </p:spPr>
        <p:txBody>
          <a:bodyPr wrap="square" lIns="0" tIns="0" rIns="0" bIns="0" rtlCol="0" anchor="ctr"/>
          <a:lstStyle/>
          <a:p>
            <a:pPr marL="0" indent="0">
              <a:buNone/>
            </a:pPr>
            <a:r>
              <a:rPr lang="en-US" sz="1300" b="1" dirty="0">
                <a:solidFill>
                  <a:srgbClr val="1E2761"/>
                </a:solidFill>
                <a:latin typeface="BM HANNA 11yrs old OTF" panose="020B0600000101010101" pitchFamily="34" charset="-127"/>
                <a:ea typeface="BM HANNA 11yrs old OTF" panose="020B0600000101010101" pitchFamily="34" charset="-127"/>
                <a:cs typeface="Calibri" pitchFamily="34" charset="-120"/>
              </a:rPr>
              <a:t>별도: </a:t>
            </a:r>
            <a:r>
              <a:rPr lang="en-US" sz="13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지역코드·품종코드표는 유저와 무관한 정적 참조표라 Store가 아닌 앱 레벨 캐시로 기동 시 1회 로드</a:t>
            </a:r>
            <a:endParaRPr lang="en-US" sz="1300" dirty="0">
              <a:latin typeface="BM HANNA 11yrs old OTF" panose="020B0600000101010101" pitchFamily="34" charset="-127"/>
              <a:ea typeface="BM HANNA 11yrs old OTF" panose="020B0600000101010101" pitchFamily="34" charset="-127"/>
            </a:endParaRPr>
          </a:p>
        </p:txBody>
      </p:sp>
      <p:sp>
        <p:nvSpPr>
          <p:cNvPr id="23" name="Text 20"/>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14</a:t>
            </a:r>
            <a:endParaRPr lang="en-US" sz="1000" dirty="0">
              <a:latin typeface="BM HANNA 11yrs old OTF" panose="020B0600000101010101" pitchFamily="34" charset="-127"/>
              <a:ea typeface="BM HANNA 11yrs old OTF" panose="020B0600000101010101" pitchFamily="34" charset="-127"/>
            </a:endParaRPr>
          </a:p>
        </p:txBody>
      </p:sp>
      <p:sp>
        <p:nvSpPr>
          <p:cNvPr id="24" name="Text 21"/>
          <p:cNvSpPr/>
          <p:nvPr/>
        </p:nvSpPr>
        <p:spPr>
          <a:xfrm>
            <a:off x="457200" y="6446520"/>
            <a:ext cx="3657600" cy="274320"/>
          </a:xfrm>
          <a:prstGeom prst="rect">
            <a:avLst/>
          </a:prstGeom>
          <a:noFill/>
          <a:ln/>
        </p:spPr>
        <p:txBody>
          <a:bodyPr wrap="square" lIns="0" tIns="0" rIns="0" bIns="0" rtlCol="0" anchor="ctr"/>
          <a:lstStyle/>
          <a:p>
            <a:pPr marL="0" indent="0" algn="l">
              <a:buNone/>
            </a:pPr>
            <a:r>
              <a:rPr lang="en-US" sz="9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함께갈개 · AI Agent 설계</a:t>
            </a:r>
            <a:endParaRPr lang="en-US" sz="900" dirty="0">
              <a:latin typeface="BM HANNA 11yrs old OTF" panose="020B0600000101010101" pitchFamily="34" charset="-127"/>
              <a:ea typeface="BM HANNA 11yrs old OTF" panose="020B0600000101010101" pitchFamily="34" charset="-127"/>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658368" cy="658368"/>
          </a:xfrm>
          <a:prstGeom prst="ellipse">
            <a:avLst/>
          </a:prstGeom>
          <a:solidFill>
            <a:srgbClr val="F96167"/>
          </a:solidFill>
          <a:ln/>
          <a:effectLst>
            <a:outerShdw blurRad="76200" dist="25400" dir="5400000" algn="bl" rotWithShape="0">
              <a:srgbClr val="888888">
                <a:alpha val="25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3" name="Image 0" descr="/home/claude/ppt_project/icons/cogs.png"/>
          <p:cNvPicPr>
            <a:picLocks noChangeAspect="1"/>
          </p:cNvPicPr>
          <p:nvPr/>
        </p:nvPicPr>
        <p:blipFill>
          <a:blip r:embed="rId3"/>
          <a:stretch>
            <a:fillRect/>
          </a:stretch>
        </p:blipFill>
        <p:spPr>
          <a:xfrm>
            <a:off x="713232" y="594360"/>
            <a:ext cx="237744" cy="237744"/>
          </a:xfrm>
          <a:prstGeom prst="rect">
            <a:avLst/>
          </a:prstGeom>
        </p:spPr>
      </p:pic>
      <p:sp>
        <p:nvSpPr>
          <p:cNvPr id="4" name="Text 1"/>
          <p:cNvSpPr/>
          <p:nvPr/>
        </p:nvSpPr>
        <p:spPr>
          <a:xfrm>
            <a:off x="1325880" y="329184"/>
            <a:ext cx="9875520" cy="502920"/>
          </a:xfrm>
          <a:prstGeom prst="rect">
            <a:avLst/>
          </a:prstGeom>
          <a:noFill/>
          <a:ln/>
        </p:spPr>
        <p:txBody>
          <a:bodyPr wrap="square" lIns="0" tIns="0" rIns="0" bIns="0" rtlCol="0" anchor="ctr"/>
          <a:lstStyle/>
          <a:p>
            <a:pPr marL="0" indent="0" algn="l">
              <a:buNone/>
            </a:pPr>
            <a:r>
              <a:rPr lang="en-US" sz="27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Middleware 파이프라인</a:t>
            </a:r>
            <a:endParaRPr lang="en-US" sz="2700" dirty="0">
              <a:latin typeface="BM HANNA 11yrs old OTF" panose="020B0600000101010101" pitchFamily="34" charset="-127"/>
              <a:ea typeface="BM HANNA 11yrs old OTF" panose="020B0600000101010101" pitchFamily="34" charset="-127"/>
            </a:endParaRPr>
          </a:p>
        </p:txBody>
      </p:sp>
      <p:sp>
        <p:nvSpPr>
          <p:cNvPr id="5" name="Text 2"/>
          <p:cNvSpPr/>
          <p:nvPr/>
        </p:nvSpPr>
        <p:spPr>
          <a:xfrm>
            <a:off x="1325880" y="822960"/>
            <a:ext cx="9875520" cy="292608"/>
          </a:xfrm>
          <a:prstGeom prst="rect">
            <a:avLst/>
          </a:prstGeom>
          <a:noFill/>
          <a:ln/>
        </p:spPr>
        <p:txBody>
          <a:bodyPr wrap="square" lIns="0" tIns="0" rIns="0" bIns="0" rtlCol="0" anchor="ctr"/>
          <a:lstStyle/>
          <a:p>
            <a:pPr marL="0" indent="0" algn="l">
              <a:buNone/>
            </a:pPr>
            <a:r>
              <a:rPr lang="en-US" sz="1200" i="1" dirty="0">
                <a:solidFill>
                  <a:srgbClr val="6B6F8A"/>
                </a:solidFill>
                <a:latin typeface="BM HANNA 11yrs old OTF" panose="020B0600000101010101" pitchFamily="34" charset="-127"/>
                <a:ea typeface="BM HANNA 11yrs old OTF" panose="020B0600000101010101" pitchFamily="34" charset="-127"/>
                <a:cs typeface="Calibri" pitchFamily="34" charset="-120"/>
              </a:rPr>
              <a:t>3.2  Hook 지점별 구성</a:t>
            </a:r>
            <a:endParaRPr lang="en-US" sz="1200" dirty="0">
              <a:latin typeface="BM HANNA 11yrs old OTF" panose="020B0600000101010101" pitchFamily="34" charset="-127"/>
              <a:ea typeface="BM HANNA 11yrs old OTF" panose="020B0600000101010101" pitchFamily="34" charset="-127"/>
            </a:endParaRPr>
          </a:p>
        </p:txBody>
      </p:sp>
      <p:sp>
        <p:nvSpPr>
          <p:cNvPr id="6" name="Shape 3"/>
          <p:cNvSpPr/>
          <p:nvPr/>
        </p:nvSpPr>
        <p:spPr>
          <a:xfrm>
            <a:off x="548640" y="1737360"/>
            <a:ext cx="2560320" cy="2651760"/>
          </a:xfrm>
          <a:prstGeom prst="roundRect">
            <a:avLst>
              <a:gd name="adj" fmla="val 3214"/>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7" name="Shape 4"/>
          <p:cNvSpPr/>
          <p:nvPr/>
        </p:nvSpPr>
        <p:spPr>
          <a:xfrm>
            <a:off x="713232" y="1938528"/>
            <a:ext cx="2231136" cy="438912"/>
          </a:xfrm>
          <a:prstGeom prst="roundRect">
            <a:avLst>
              <a:gd name="adj" fmla="val 50000"/>
            </a:avLst>
          </a:prstGeom>
          <a:solidFill>
            <a:srgbClr val="F96167"/>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8" name="Text 5"/>
          <p:cNvSpPr/>
          <p:nvPr/>
        </p:nvSpPr>
        <p:spPr>
          <a:xfrm>
            <a:off x="713232" y="1938528"/>
            <a:ext cx="2231136"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BM HANNA 11yrs old OTF" panose="020B0600000101010101" pitchFamily="34" charset="-127"/>
                <a:ea typeface="BM HANNA 11yrs old OTF" panose="020B0600000101010101" pitchFamily="34" charset="-127"/>
                <a:cs typeface="Courier New" pitchFamily="34" charset="-120"/>
              </a:rPr>
              <a:t>before_agent</a:t>
            </a:r>
            <a:endParaRPr lang="en-US" sz="1100" dirty="0">
              <a:latin typeface="BM HANNA 11yrs old OTF" panose="020B0600000101010101" pitchFamily="34" charset="-127"/>
              <a:ea typeface="BM HANNA 11yrs old OTF" panose="020B0600000101010101" pitchFamily="34" charset="-127"/>
            </a:endParaRPr>
          </a:p>
        </p:txBody>
      </p:sp>
      <p:sp>
        <p:nvSpPr>
          <p:cNvPr id="9" name="Text 6"/>
          <p:cNvSpPr/>
          <p:nvPr/>
        </p:nvSpPr>
        <p:spPr>
          <a:xfrm>
            <a:off x="749808" y="2606040"/>
            <a:ext cx="2157984" cy="1600200"/>
          </a:xfrm>
          <a:prstGeom prst="rect">
            <a:avLst/>
          </a:prstGeom>
          <a:noFill/>
          <a:ln/>
        </p:spPr>
        <p:txBody>
          <a:bodyPr wrap="square" lIns="0" tIns="0" rIns="0" bIns="0" rtlCol="0" anchor="t"/>
          <a:lstStyle/>
          <a:p>
            <a:pPr marL="177800" indent="-177800">
              <a:lnSpc>
                <a:spcPct val="120000"/>
              </a:lnSpc>
              <a:spcAft>
                <a:spcPts val="1000"/>
              </a:spcAft>
              <a:buSzPct val="100000"/>
              <a:buChar char="•"/>
            </a:pPr>
            <a:r>
              <a:rPr lang="en-US" sz="1080" dirty="0">
                <a:solidFill>
                  <a:srgbClr val="22264A"/>
                </a:solidFill>
                <a:latin typeface="BM HANNA 11yrs old OTF" panose="020B0600000101010101" pitchFamily="34" charset="-127"/>
                <a:ea typeface="BM HANNA 11yrs old OTF" panose="020B0600000101010101" pitchFamily="34" charset="-127"/>
                <a:cs typeface="Calibri" pitchFamily="34" charset="-120"/>
              </a:rPr>
              <a:t>InputGuardrailMiddleware</a:t>
            </a:r>
            <a:endParaRPr lang="en-US" sz="1080" dirty="0">
              <a:latin typeface="BM HANNA 11yrs old OTF" panose="020B0600000101010101" pitchFamily="34" charset="-127"/>
              <a:ea typeface="BM HANNA 11yrs old OTF" panose="020B0600000101010101" pitchFamily="34" charset="-127"/>
            </a:endParaRPr>
          </a:p>
        </p:txBody>
      </p:sp>
      <p:sp>
        <p:nvSpPr>
          <p:cNvPr id="10" name="Shape 7"/>
          <p:cNvSpPr/>
          <p:nvPr/>
        </p:nvSpPr>
        <p:spPr>
          <a:xfrm>
            <a:off x="3383280" y="1737360"/>
            <a:ext cx="2560320" cy="2651760"/>
          </a:xfrm>
          <a:prstGeom prst="roundRect">
            <a:avLst>
              <a:gd name="adj" fmla="val 3214"/>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1" name="Shape 8"/>
          <p:cNvSpPr/>
          <p:nvPr/>
        </p:nvSpPr>
        <p:spPr>
          <a:xfrm>
            <a:off x="3547872" y="1938528"/>
            <a:ext cx="2231136" cy="438912"/>
          </a:xfrm>
          <a:prstGeom prst="roundRect">
            <a:avLst>
              <a:gd name="adj" fmla="val 50000"/>
            </a:avLst>
          </a:prstGeom>
          <a:solidFill>
            <a:srgbClr val="F5A623"/>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2" name="Text 9"/>
          <p:cNvSpPr/>
          <p:nvPr/>
        </p:nvSpPr>
        <p:spPr>
          <a:xfrm>
            <a:off x="3547872" y="1938528"/>
            <a:ext cx="2231136"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BM HANNA 11yrs old OTF" panose="020B0600000101010101" pitchFamily="34" charset="-127"/>
                <a:ea typeface="BM HANNA 11yrs old OTF" panose="020B0600000101010101" pitchFamily="34" charset="-127"/>
                <a:cs typeface="Courier New" pitchFamily="34" charset="-120"/>
              </a:rPr>
              <a:t>wrap_model_call</a:t>
            </a:r>
            <a:endParaRPr lang="en-US" sz="1100" dirty="0">
              <a:latin typeface="BM HANNA 11yrs old OTF" panose="020B0600000101010101" pitchFamily="34" charset="-127"/>
              <a:ea typeface="BM HANNA 11yrs old OTF" panose="020B0600000101010101" pitchFamily="34" charset="-127"/>
            </a:endParaRPr>
          </a:p>
        </p:txBody>
      </p:sp>
      <p:sp>
        <p:nvSpPr>
          <p:cNvPr id="13" name="Text 10"/>
          <p:cNvSpPr/>
          <p:nvPr/>
        </p:nvSpPr>
        <p:spPr>
          <a:xfrm>
            <a:off x="3584448" y="2606040"/>
            <a:ext cx="2157984" cy="1600200"/>
          </a:xfrm>
          <a:prstGeom prst="rect">
            <a:avLst/>
          </a:prstGeom>
          <a:noFill/>
          <a:ln/>
        </p:spPr>
        <p:txBody>
          <a:bodyPr wrap="square" lIns="0" tIns="0" rIns="0" bIns="0" rtlCol="0" anchor="t"/>
          <a:lstStyle/>
          <a:p>
            <a:pPr marL="177800" indent="-177800">
              <a:lnSpc>
                <a:spcPct val="120000"/>
              </a:lnSpc>
              <a:spcAft>
                <a:spcPts val="1000"/>
              </a:spcAft>
              <a:buSzPct val="100000"/>
              <a:buChar char="•"/>
            </a:pPr>
            <a:r>
              <a:rPr lang="en-US" sz="1080" dirty="0">
                <a:solidFill>
                  <a:srgbClr val="22264A"/>
                </a:solidFill>
                <a:latin typeface="BM HANNA 11yrs old OTF" panose="020B0600000101010101" pitchFamily="34" charset="-127"/>
                <a:ea typeface="BM HANNA 11yrs old OTF" panose="020B0600000101010101" pitchFamily="34" charset="-127"/>
                <a:cs typeface="Calibri" pitchFamily="34" charset="-120"/>
              </a:rPr>
              <a:t>IntentRoutingMiddleware</a:t>
            </a:r>
            <a:endParaRPr lang="en-US" sz="1080" dirty="0">
              <a:latin typeface="BM HANNA 11yrs old OTF" panose="020B0600000101010101" pitchFamily="34" charset="-127"/>
              <a:ea typeface="BM HANNA 11yrs old OTF" panose="020B0600000101010101" pitchFamily="34" charset="-127"/>
            </a:endParaRPr>
          </a:p>
          <a:p>
            <a:pPr marL="177800" indent="-177800">
              <a:lnSpc>
                <a:spcPct val="120000"/>
              </a:lnSpc>
              <a:spcAft>
                <a:spcPts val="1000"/>
              </a:spcAft>
              <a:buSzPct val="100000"/>
              <a:buChar char="•"/>
            </a:pPr>
            <a:r>
              <a:rPr lang="en-US" sz="1080" dirty="0">
                <a:solidFill>
                  <a:srgbClr val="22264A"/>
                </a:solidFill>
                <a:latin typeface="BM HANNA 11yrs old OTF" panose="020B0600000101010101" pitchFamily="34" charset="-127"/>
                <a:ea typeface="BM HANNA 11yrs old OTF" panose="020B0600000101010101" pitchFamily="34" charset="-127"/>
                <a:cs typeface="Calibri" pitchFamily="34" charset="-120"/>
              </a:rPr>
              <a:t>PreferenceBindingMiddleware</a:t>
            </a:r>
            <a:endParaRPr lang="en-US" sz="1080" dirty="0">
              <a:latin typeface="BM HANNA 11yrs old OTF" panose="020B0600000101010101" pitchFamily="34" charset="-127"/>
              <a:ea typeface="BM HANNA 11yrs old OTF" panose="020B0600000101010101" pitchFamily="34" charset="-127"/>
            </a:endParaRPr>
          </a:p>
        </p:txBody>
      </p:sp>
      <p:sp>
        <p:nvSpPr>
          <p:cNvPr id="14" name="Shape 11"/>
          <p:cNvSpPr/>
          <p:nvPr/>
        </p:nvSpPr>
        <p:spPr>
          <a:xfrm>
            <a:off x="6217920" y="1737360"/>
            <a:ext cx="2560320" cy="2651760"/>
          </a:xfrm>
          <a:prstGeom prst="roundRect">
            <a:avLst>
              <a:gd name="adj" fmla="val 3214"/>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5" name="Shape 12"/>
          <p:cNvSpPr/>
          <p:nvPr/>
        </p:nvSpPr>
        <p:spPr>
          <a:xfrm>
            <a:off x="6382512" y="1938528"/>
            <a:ext cx="2231136" cy="438912"/>
          </a:xfrm>
          <a:prstGeom prst="roundRect">
            <a:avLst>
              <a:gd name="adj" fmla="val 50000"/>
            </a:avLst>
          </a:prstGeom>
          <a:solidFill>
            <a:srgbClr val="3AA6A0"/>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6" name="Text 13"/>
          <p:cNvSpPr/>
          <p:nvPr/>
        </p:nvSpPr>
        <p:spPr>
          <a:xfrm>
            <a:off x="6382512" y="1938528"/>
            <a:ext cx="2231136"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BM HANNA 11yrs old OTF" panose="020B0600000101010101" pitchFamily="34" charset="-127"/>
                <a:ea typeface="BM HANNA 11yrs old OTF" panose="020B0600000101010101" pitchFamily="34" charset="-127"/>
                <a:cs typeface="Courier New" pitchFamily="34" charset="-120"/>
              </a:rPr>
              <a:t>wrap_tool_call</a:t>
            </a:r>
            <a:endParaRPr lang="en-US" sz="1100" dirty="0">
              <a:latin typeface="BM HANNA 11yrs old OTF" panose="020B0600000101010101" pitchFamily="34" charset="-127"/>
              <a:ea typeface="BM HANNA 11yrs old OTF" panose="020B0600000101010101" pitchFamily="34" charset="-127"/>
            </a:endParaRPr>
          </a:p>
        </p:txBody>
      </p:sp>
      <p:sp>
        <p:nvSpPr>
          <p:cNvPr id="17" name="Text 14"/>
          <p:cNvSpPr/>
          <p:nvPr/>
        </p:nvSpPr>
        <p:spPr>
          <a:xfrm>
            <a:off x="6419088" y="2606040"/>
            <a:ext cx="2157984" cy="1600200"/>
          </a:xfrm>
          <a:prstGeom prst="rect">
            <a:avLst/>
          </a:prstGeom>
          <a:noFill/>
          <a:ln/>
        </p:spPr>
        <p:txBody>
          <a:bodyPr wrap="square" lIns="0" tIns="0" rIns="0" bIns="0" rtlCol="0" anchor="t"/>
          <a:lstStyle/>
          <a:p>
            <a:pPr marL="177800" indent="-177800">
              <a:lnSpc>
                <a:spcPct val="120000"/>
              </a:lnSpc>
              <a:spcAft>
                <a:spcPts val="1000"/>
              </a:spcAft>
              <a:buSzPct val="100000"/>
              <a:buChar char="•"/>
            </a:pPr>
            <a:r>
              <a:rPr lang="en-US" sz="1080" dirty="0">
                <a:solidFill>
                  <a:srgbClr val="22264A"/>
                </a:solidFill>
                <a:latin typeface="BM HANNA 11yrs old OTF" panose="020B0600000101010101" pitchFamily="34" charset="-127"/>
                <a:ea typeface="BM HANNA 11yrs old OTF" panose="020B0600000101010101" pitchFamily="34" charset="-127"/>
                <a:cs typeface="Calibri" pitchFamily="34" charset="-120"/>
              </a:rPr>
              <a:t>RegionCodeResolverMiddleware</a:t>
            </a:r>
            <a:endParaRPr lang="en-US" sz="1080" dirty="0">
              <a:latin typeface="BM HANNA 11yrs old OTF" panose="020B0600000101010101" pitchFamily="34" charset="-127"/>
              <a:ea typeface="BM HANNA 11yrs old OTF" panose="020B0600000101010101" pitchFamily="34" charset="-127"/>
            </a:endParaRPr>
          </a:p>
          <a:p>
            <a:pPr marL="177800" indent="-177800">
              <a:lnSpc>
                <a:spcPct val="120000"/>
              </a:lnSpc>
              <a:spcAft>
                <a:spcPts val="1000"/>
              </a:spcAft>
              <a:buSzPct val="100000"/>
              <a:buChar char="•"/>
            </a:pPr>
            <a:r>
              <a:rPr lang="en-US" sz="1080" dirty="0">
                <a:solidFill>
                  <a:srgbClr val="22264A"/>
                </a:solidFill>
                <a:latin typeface="BM HANNA 11yrs old OTF" panose="020B0600000101010101" pitchFamily="34" charset="-127"/>
                <a:ea typeface="BM HANNA 11yrs old OTF" panose="020B0600000101010101" pitchFamily="34" charset="-127"/>
                <a:cs typeface="Calibri" pitchFamily="34" charset="-120"/>
              </a:rPr>
              <a:t>CacheMiddleware</a:t>
            </a:r>
            <a:endParaRPr lang="en-US" sz="1080" dirty="0">
              <a:latin typeface="BM HANNA 11yrs old OTF" panose="020B0600000101010101" pitchFamily="34" charset="-127"/>
              <a:ea typeface="BM HANNA 11yrs old OTF" panose="020B0600000101010101" pitchFamily="34" charset="-127"/>
            </a:endParaRPr>
          </a:p>
          <a:p>
            <a:pPr marL="177800" indent="-177800">
              <a:lnSpc>
                <a:spcPct val="120000"/>
              </a:lnSpc>
              <a:spcAft>
                <a:spcPts val="1000"/>
              </a:spcAft>
              <a:buSzPct val="100000"/>
              <a:buChar char="•"/>
            </a:pPr>
            <a:r>
              <a:rPr lang="en-US" sz="1080" dirty="0">
                <a:solidFill>
                  <a:srgbClr val="22264A"/>
                </a:solidFill>
                <a:latin typeface="BM HANNA 11yrs old OTF" panose="020B0600000101010101" pitchFamily="34" charset="-127"/>
                <a:ea typeface="BM HANNA 11yrs old OTF" panose="020B0600000101010101" pitchFamily="34" charset="-127"/>
                <a:cs typeface="Calibri" pitchFamily="34" charset="-120"/>
              </a:rPr>
              <a:t>ToolRetryMiddleware (내장)</a:t>
            </a:r>
            <a:endParaRPr lang="en-US" sz="1080" dirty="0">
              <a:latin typeface="BM HANNA 11yrs old OTF" panose="020B0600000101010101" pitchFamily="34" charset="-127"/>
              <a:ea typeface="BM HANNA 11yrs old OTF" panose="020B0600000101010101" pitchFamily="34" charset="-127"/>
            </a:endParaRPr>
          </a:p>
          <a:p>
            <a:pPr marL="177800" indent="-177800">
              <a:lnSpc>
                <a:spcPct val="120000"/>
              </a:lnSpc>
              <a:spcAft>
                <a:spcPts val="1000"/>
              </a:spcAft>
              <a:buSzPct val="100000"/>
              <a:buChar char="•"/>
            </a:pPr>
            <a:r>
              <a:rPr lang="en-US" sz="1080" dirty="0">
                <a:solidFill>
                  <a:srgbClr val="22264A"/>
                </a:solidFill>
                <a:latin typeface="BM HANNA 11yrs old OTF" panose="020B0600000101010101" pitchFamily="34" charset="-127"/>
                <a:ea typeface="BM HANNA 11yrs old OTF" panose="020B0600000101010101" pitchFamily="34" charset="-127"/>
                <a:cs typeface="Calibri" pitchFamily="34" charset="-120"/>
              </a:rPr>
              <a:t>ResultFilterMiddleware</a:t>
            </a:r>
            <a:endParaRPr lang="en-US" sz="1080" dirty="0">
              <a:latin typeface="BM HANNA 11yrs old OTF" panose="020B0600000101010101" pitchFamily="34" charset="-127"/>
              <a:ea typeface="BM HANNA 11yrs old OTF" panose="020B0600000101010101" pitchFamily="34" charset="-127"/>
            </a:endParaRPr>
          </a:p>
        </p:txBody>
      </p:sp>
      <p:sp>
        <p:nvSpPr>
          <p:cNvPr id="18" name="Shape 15"/>
          <p:cNvSpPr/>
          <p:nvPr/>
        </p:nvSpPr>
        <p:spPr>
          <a:xfrm>
            <a:off x="9052560" y="1737360"/>
            <a:ext cx="2560320" cy="2651760"/>
          </a:xfrm>
          <a:prstGeom prst="roundRect">
            <a:avLst>
              <a:gd name="adj" fmla="val 3214"/>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9" name="Shape 16"/>
          <p:cNvSpPr/>
          <p:nvPr/>
        </p:nvSpPr>
        <p:spPr>
          <a:xfrm>
            <a:off x="9217152" y="1938528"/>
            <a:ext cx="2231136" cy="438912"/>
          </a:xfrm>
          <a:prstGeom prst="roundRect">
            <a:avLst>
              <a:gd name="adj" fmla="val 50000"/>
            </a:avLst>
          </a:prstGeom>
          <a:solidFill>
            <a:srgbClr val="2F3C7E"/>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20" name="Text 17"/>
          <p:cNvSpPr/>
          <p:nvPr/>
        </p:nvSpPr>
        <p:spPr>
          <a:xfrm>
            <a:off x="9217152" y="1938528"/>
            <a:ext cx="2231136"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BM HANNA 11yrs old OTF" panose="020B0600000101010101" pitchFamily="34" charset="-127"/>
                <a:ea typeface="BM HANNA 11yrs old OTF" panose="020B0600000101010101" pitchFamily="34" charset="-127"/>
                <a:cs typeface="Courier New" pitchFamily="34" charset="-120"/>
              </a:rPr>
              <a:t>after_agent</a:t>
            </a:r>
            <a:endParaRPr lang="en-US" sz="1100" dirty="0">
              <a:latin typeface="BM HANNA 11yrs old OTF" panose="020B0600000101010101" pitchFamily="34" charset="-127"/>
              <a:ea typeface="BM HANNA 11yrs old OTF" panose="020B0600000101010101" pitchFamily="34" charset="-127"/>
            </a:endParaRPr>
          </a:p>
        </p:txBody>
      </p:sp>
      <p:sp>
        <p:nvSpPr>
          <p:cNvPr id="21" name="Text 18"/>
          <p:cNvSpPr/>
          <p:nvPr/>
        </p:nvSpPr>
        <p:spPr>
          <a:xfrm>
            <a:off x="9253728" y="2606040"/>
            <a:ext cx="2157984" cy="1600200"/>
          </a:xfrm>
          <a:prstGeom prst="rect">
            <a:avLst/>
          </a:prstGeom>
          <a:noFill/>
          <a:ln/>
        </p:spPr>
        <p:txBody>
          <a:bodyPr wrap="square" lIns="0" tIns="0" rIns="0" bIns="0" rtlCol="0" anchor="t"/>
          <a:lstStyle/>
          <a:p>
            <a:pPr marL="177800" indent="-177800">
              <a:lnSpc>
                <a:spcPct val="120000"/>
              </a:lnSpc>
              <a:spcAft>
                <a:spcPts val="1000"/>
              </a:spcAft>
              <a:buSzPct val="100000"/>
              <a:buChar char="•"/>
            </a:pPr>
            <a:r>
              <a:rPr lang="en-US" sz="1080" dirty="0">
                <a:solidFill>
                  <a:srgbClr val="22264A"/>
                </a:solidFill>
                <a:latin typeface="BM HANNA 11yrs old OTF" panose="020B0600000101010101" pitchFamily="34" charset="-127"/>
                <a:ea typeface="BM HANNA 11yrs old OTF" panose="020B0600000101010101" pitchFamily="34" charset="-127"/>
                <a:cs typeface="Calibri" pitchFamily="34" charset="-120"/>
              </a:rPr>
              <a:t>OutputGuardrailMiddleware</a:t>
            </a:r>
            <a:endParaRPr lang="en-US" sz="1080" dirty="0">
              <a:latin typeface="BM HANNA 11yrs old OTF" panose="020B0600000101010101" pitchFamily="34" charset="-127"/>
              <a:ea typeface="BM HANNA 11yrs old OTF" panose="020B0600000101010101" pitchFamily="34" charset="-127"/>
            </a:endParaRPr>
          </a:p>
        </p:txBody>
      </p:sp>
      <p:sp>
        <p:nvSpPr>
          <p:cNvPr id="22" name="Shape 19"/>
          <p:cNvSpPr/>
          <p:nvPr/>
        </p:nvSpPr>
        <p:spPr>
          <a:xfrm>
            <a:off x="548640" y="4709160"/>
            <a:ext cx="11064240" cy="914400"/>
          </a:xfrm>
          <a:prstGeom prst="roundRect">
            <a:avLst>
              <a:gd name="adj" fmla="val 9000"/>
            </a:avLst>
          </a:prstGeom>
          <a:solidFill>
            <a:srgbClr val="FFF4DC"/>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23" name="Text 20"/>
          <p:cNvSpPr/>
          <p:nvPr/>
        </p:nvSpPr>
        <p:spPr>
          <a:xfrm>
            <a:off x="868680" y="4709160"/>
            <a:ext cx="10424160" cy="914400"/>
          </a:xfrm>
          <a:prstGeom prst="rect">
            <a:avLst/>
          </a:prstGeom>
          <a:noFill/>
          <a:ln/>
        </p:spPr>
        <p:txBody>
          <a:bodyPr wrap="square" lIns="0" tIns="0" rIns="0" bIns="0" rtlCol="0" anchor="ctr"/>
          <a:lstStyle/>
          <a:p>
            <a:pPr marL="0" indent="0">
              <a:lnSpc>
                <a:spcPct val="120000"/>
              </a:lnSpc>
              <a:buNone/>
            </a:pPr>
            <a:r>
              <a:rPr lang="en-US" sz="1300" b="1" dirty="0">
                <a:solidFill>
                  <a:srgbClr val="1E2761"/>
                </a:solidFill>
                <a:latin typeface="BM HANNA 11yrs old OTF" panose="020B0600000101010101" pitchFamily="34" charset="-127"/>
                <a:ea typeface="BM HANNA 11yrs old OTF" panose="020B0600000101010101" pitchFamily="34" charset="-127"/>
                <a:cs typeface="Calibri" pitchFamily="34" charset="-120"/>
              </a:rPr>
              <a:t>내장 등록(create_agent):  </a:t>
            </a:r>
            <a:r>
              <a:rPr lang="en-US" sz="13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ToolCallLimitMiddleware(호출 상한) · SummarizationMiddleware(멀티턴 요약) — 별도 구현 없이 프레임워크 제공 기능 활용</a:t>
            </a:r>
            <a:endParaRPr lang="en-US" sz="1300" dirty="0">
              <a:latin typeface="BM HANNA 11yrs old OTF" panose="020B0600000101010101" pitchFamily="34" charset="-127"/>
              <a:ea typeface="BM HANNA 11yrs old OTF" panose="020B0600000101010101" pitchFamily="34" charset="-127"/>
            </a:endParaRPr>
          </a:p>
        </p:txBody>
      </p:sp>
      <p:sp>
        <p:nvSpPr>
          <p:cNvPr id="24" name="Text 21"/>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15</a:t>
            </a:r>
            <a:endParaRPr lang="en-US" sz="1000" dirty="0">
              <a:latin typeface="BM HANNA 11yrs old OTF" panose="020B0600000101010101" pitchFamily="34" charset="-127"/>
              <a:ea typeface="BM HANNA 11yrs old OTF" panose="020B0600000101010101" pitchFamily="34" charset="-127"/>
            </a:endParaRPr>
          </a:p>
        </p:txBody>
      </p:sp>
      <p:sp>
        <p:nvSpPr>
          <p:cNvPr id="25" name="Text 22"/>
          <p:cNvSpPr/>
          <p:nvPr/>
        </p:nvSpPr>
        <p:spPr>
          <a:xfrm>
            <a:off x="457200" y="6446520"/>
            <a:ext cx="3657600" cy="274320"/>
          </a:xfrm>
          <a:prstGeom prst="rect">
            <a:avLst/>
          </a:prstGeom>
          <a:noFill/>
          <a:ln/>
        </p:spPr>
        <p:txBody>
          <a:bodyPr wrap="square" lIns="0" tIns="0" rIns="0" bIns="0" rtlCol="0" anchor="ctr"/>
          <a:lstStyle/>
          <a:p>
            <a:pPr marL="0" indent="0" algn="l">
              <a:buNone/>
            </a:pPr>
            <a:r>
              <a:rPr lang="en-US" sz="9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함께갈개 · AI Agent 설계</a:t>
            </a:r>
            <a:endParaRPr lang="en-US" sz="900" dirty="0">
              <a:latin typeface="BM HANNA 11yrs old OTF" panose="020B0600000101010101" pitchFamily="34" charset="-127"/>
              <a:ea typeface="BM HANNA 11yrs old OTF" panose="020B0600000101010101" pitchFamily="34" charset="-127"/>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658368" cy="658368"/>
          </a:xfrm>
          <a:prstGeom prst="ellipse">
            <a:avLst/>
          </a:prstGeom>
          <a:solidFill>
            <a:srgbClr val="F96167"/>
          </a:solidFill>
          <a:ln/>
          <a:effectLst>
            <a:outerShdw blurRad="76200" dist="25400" dir="5400000" algn="bl" rotWithShape="0">
              <a:srgbClr val="888888">
                <a:alpha val="25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3" name="Image 0" descr="/home/claude/ppt_project/icons/shield.png"/>
          <p:cNvPicPr>
            <a:picLocks noChangeAspect="1"/>
          </p:cNvPicPr>
          <p:nvPr/>
        </p:nvPicPr>
        <p:blipFill>
          <a:blip r:embed="rId3"/>
          <a:stretch>
            <a:fillRect/>
          </a:stretch>
        </p:blipFill>
        <p:spPr>
          <a:xfrm>
            <a:off x="713232" y="594360"/>
            <a:ext cx="237744" cy="237744"/>
          </a:xfrm>
          <a:prstGeom prst="rect">
            <a:avLst/>
          </a:prstGeom>
        </p:spPr>
      </p:pic>
      <p:sp>
        <p:nvSpPr>
          <p:cNvPr id="4" name="Text 1"/>
          <p:cNvSpPr/>
          <p:nvPr/>
        </p:nvSpPr>
        <p:spPr>
          <a:xfrm>
            <a:off x="1325880" y="329184"/>
            <a:ext cx="9875520" cy="502920"/>
          </a:xfrm>
          <a:prstGeom prst="rect">
            <a:avLst/>
          </a:prstGeom>
          <a:noFill/>
          <a:ln/>
        </p:spPr>
        <p:txBody>
          <a:bodyPr wrap="square" lIns="0" tIns="0" rIns="0" bIns="0" rtlCol="0" anchor="ctr"/>
          <a:lstStyle/>
          <a:p>
            <a:pPr marL="0" indent="0" algn="l">
              <a:buNone/>
            </a:pPr>
            <a:r>
              <a:rPr lang="en-US" sz="27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Guardrail — 2중 방어 구조</a:t>
            </a:r>
            <a:endParaRPr lang="en-US" sz="2700" dirty="0">
              <a:latin typeface="BM HANNA 11yrs old OTF" panose="020B0600000101010101" pitchFamily="34" charset="-127"/>
              <a:ea typeface="BM HANNA 11yrs old OTF" panose="020B0600000101010101" pitchFamily="34" charset="-127"/>
            </a:endParaRPr>
          </a:p>
        </p:txBody>
      </p:sp>
      <p:sp>
        <p:nvSpPr>
          <p:cNvPr id="5" name="Text 2"/>
          <p:cNvSpPr/>
          <p:nvPr/>
        </p:nvSpPr>
        <p:spPr>
          <a:xfrm>
            <a:off x="1325880" y="822960"/>
            <a:ext cx="9875520" cy="292608"/>
          </a:xfrm>
          <a:prstGeom prst="rect">
            <a:avLst/>
          </a:prstGeom>
          <a:noFill/>
          <a:ln/>
        </p:spPr>
        <p:txBody>
          <a:bodyPr wrap="square" lIns="0" tIns="0" rIns="0" bIns="0" rtlCol="0" anchor="ctr"/>
          <a:lstStyle/>
          <a:p>
            <a:pPr marL="0" indent="0" algn="l">
              <a:buNone/>
            </a:pPr>
            <a:r>
              <a:rPr lang="en-US" sz="1200" i="1" dirty="0">
                <a:solidFill>
                  <a:srgbClr val="6B6F8A"/>
                </a:solidFill>
                <a:latin typeface="BM HANNA 11yrs old OTF" panose="020B0600000101010101" pitchFamily="34" charset="-127"/>
                <a:ea typeface="BM HANNA 11yrs old OTF" panose="020B0600000101010101" pitchFamily="34" charset="-127"/>
                <a:cs typeface="Calibri" pitchFamily="34" charset="-120"/>
              </a:rPr>
              <a:t>3.3  규칙 기반 1차 → 모델 기반 2차</a:t>
            </a:r>
            <a:endParaRPr lang="en-US" sz="1200" dirty="0">
              <a:latin typeface="BM HANNA 11yrs old OTF" panose="020B0600000101010101" pitchFamily="34" charset="-127"/>
              <a:ea typeface="BM HANNA 11yrs old OTF" panose="020B0600000101010101" pitchFamily="34" charset="-127"/>
            </a:endParaRPr>
          </a:p>
        </p:txBody>
      </p:sp>
      <p:sp>
        <p:nvSpPr>
          <p:cNvPr id="6" name="Shape 3"/>
          <p:cNvSpPr/>
          <p:nvPr/>
        </p:nvSpPr>
        <p:spPr>
          <a:xfrm>
            <a:off x="548640" y="1737360"/>
            <a:ext cx="5349240" cy="3200400"/>
          </a:xfrm>
          <a:prstGeom prst="roundRect">
            <a:avLst>
              <a:gd name="adj" fmla="val 2571"/>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7" name="Shape 4"/>
          <p:cNvSpPr/>
          <p:nvPr/>
        </p:nvSpPr>
        <p:spPr>
          <a:xfrm>
            <a:off x="868680" y="2011680"/>
            <a:ext cx="548640" cy="548640"/>
          </a:xfrm>
          <a:prstGeom prst="ellipse">
            <a:avLst/>
          </a:prstGeom>
          <a:solidFill>
            <a:srgbClr val="F96167"/>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8" name="Image 1" descr="/home/claude/ppt_project/icons/shield.png"/>
          <p:cNvPicPr>
            <a:picLocks noChangeAspect="1"/>
          </p:cNvPicPr>
          <p:nvPr/>
        </p:nvPicPr>
        <p:blipFill>
          <a:blip r:embed="rId3"/>
          <a:stretch>
            <a:fillRect/>
          </a:stretch>
        </p:blipFill>
        <p:spPr>
          <a:xfrm>
            <a:off x="1016813" y="2159813"/>
            <a:ext cx="252374" cy="252374"/>
          </a:xfrm>
          <a:prstGeom prst="rect">
            <a:avLst/>
          </a:prstGeom>
        </p:spPr>
      </p:pic>
      <p:sp>
        <p:nvSpPr>
          <p:cNvPr id="9" name="Text 5"/>
          <p:cNvSpPr/>
          <p:nvPr/>
        </p:nvSpPr>
        <p:spPr>
          <a:xfrm>
            <a:off x="1600200" y="2011680"/>
            <a:ext cx="4069080" cy="365760"/>
          </a:xfrm>
          <a:prstGeom prst="rect">
            <a:avLst/>
          </a:prstGeom>
          <a:noFill/>
          <a:ln/>
        </p:spPr>
        <p:txBody>
          <a:bodyPr wrap="square" lIns="0" tIns="0" rIns="0" bIns="0" rtlCol="0" anchor="ctr"/>
          <a:lstStyle/>
          <a:p>
            <a:pPr marL="0" indent="0">
              <a:buNone/>
            </a:pPr>
            <a:r>
              <a:rPr lang="en-US" sz="16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Input Guardrail</a:t>
            </a:r>
            <a:endParaRPr lang="en-US" sz="1600" dirty="0">
              <a:latin typeface="BM HANNA 11yrs old OTF" panose="020B0600000101010101" pitchFamily="34" charset="-127"/>
              <a:ea typeface="BM HANNA 11yrs old OTF" panose="020B0600000101010101" pitchFamily="34" charset="-127"/>
            </a:endParaRPr>
          </a:p>
        </p:txBody>
      </p:sp>
      <p:sp>
        <p:nvSpPr>
          <p:cNvPr id="10" name="Text 6"/>
          <p:cNvSpPr/>
          <p:nvPr/>
        </p:nvSpPr>
        <p:spPr>
          <a:xfrm>
            <a:off x="1600200" y="2377440"/>
            <a:ext cx="4069080" cy="274320"/>
          </a:xfrm>
          <a:prstGeom prst="rect">
            <a:avLst/>
          </a:prstGeom>
          <a:noFill/>
          <a:ln/>
        </p:spPr>
        <p:txBody>
          <a:bodyPr wrap="square" lIns="0" tIns="0" rIns="0" bIns="0" rtlCol="0" anchor="ctr"/>
          <a:lstStyle/>
          <a:p>
            <a:pPr marL="0" indent="0">
              <a:buNone/>
            </a:pPr>
            <a:r>
              <a:rPr lang="en-US" sz="1100" dirty="0">
                <a:solidFill>
                  <a:srgbClr val="6B6F8A"/>
                </a:solidFill>
                <a:latin typeface="BM HANNA 11yrs old OTF" panose="020B0600000101010101" pitchFamily="34" charset="-127"/>
                <a:ea typeface="BM HANNA 11yrs old OTF" panose="020B0600000101010101" pitchFamily="34" charset="-127"/>
                <a:cs typeface="Courier New" pitchFamily="34" charset="-120"/>
              </a:rPr>
              <a:t>before_agent</a:t>
            </a:r>
            <a:endParaRPr lang="en-US" sz="1100" dirty="0">
              <a:latin typeface="BM HANNA 11yrs old OTF" panose="020B0600000101010101" pitchFamily="34" charset="-127"/>
              <a:ea typeface="BM HANNA 11yrs old OTF" panose="020B0600000101010101" pitchFamily="34" charset="-127"/>
            </a:endParaRPr>
          </a:p>
        </p:txBody>
      </p:sp>
      <p:sp>
        <p:nvSpPr>
          <p:cNvPr id="11" name="Text 7"/>
          <p:cNvSpPr/>
          <p:nvPr/>
        </p:nvSpPr>
        <p:spPr>
          <a:xfrm>
            <a:off x="914400" y="2926080"/>
            <a:ext cx="4617720" cy="1874520"/>
          </a:xfrm>
          <a:prstGeom prst="rect">
            <a:avLst/>
          </a:prstGeom>
          <a:noFill/>
          <a:ln/>
        </p:spPr>
        <p:txBody>
          <a:bodyPr wrap="square" lIns="0" tIns="0" rIns="0" bIns="0" rtlCol="0" anchor="t"/>
          <a:lstStyle/>
          <a:p>
            <a:pPr marL="177800" indent="-177800">
              <a:lnSpc>
                <a:spcPct val="125000"/>
              </a:lnSpc>
              <a:spcAft>
                <a:spcPts val="1200"/>
              </a:spcAft>
              <a:buSzPct val="100000"/>
              <a:buChar char="•"/>
            </a:pPr>
            <a:r>
              <a:rPr lang="en-US" sz="12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오프토픽 필터 — Low</a:t>
            </a:r>
            <a:endParaRPr lang="en-US" sz="1200" dirty="0">
              <a:latin typeface="BM HANNA 11yrs old OTF" panose="020B0600000101010101" pitchFamily="34" charset="-127"/>
              <a:ea typeface="BM HANNA 11yrs old OTF" panose="020B0600000101010101" pitchFamily="34" charset="-127"/>
            </a:endParaRPr>
          </a:p>
          <a:p>
            <a:pPr marL="177800" indent="-177800">
              <a:lnSpc>
                <a:spcPct val="125000"/>
              </a:lnSpc>
              <a:spcAft>
                <a:spcPts val="1200"/>
              </a:spcAft>
              <a:buSzPct val="100000"/>
              <a:buChar char="•"/>
            </a:pPr>
            <a:r>
              <a:rPr lang="en-US" sz="12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프롬프트 인젝션 탐지 — High</a:t>
            </a:r>
            <a:endParaRPr lang="en-US" sz="1200" dirty="0">
              <a:latin typeface="BM HANNA 11yrs old OTF" panose="020B0600000101010101" pitchFamily="34" charset="-127"/>
              <a:ea typeface="BM HANNA 11yrs old OTF" panose="020B0600000101010101" pitchFamily="34" charset="-127"/>
            </a:endParaRPr>
          </a:p>
          <a:p>
            <a:pPr marL="177800" indent="-177800">
              <a:lnSpc>
                <a:spcPct val="125000"/>
              </a:lnSpc>
              <a:spcAft>
                <a:spcPts val="1200"/>
              </a:spcAft>
              <a:buSzPct val="100000"/>
              <a:buChar char="•"/>
            </a:pPr>
            <a:r>
              <a:rPr lang="en-US" sz="12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동물학대·불법거래 차단 — High</a:t>
            </a:r>
            <a:endParaRPr lang="en-US" sz="1200" dirty="0">
              <a:latin typeface="BM HANNA 11yrs old OTF" panose="020B0600000101010101" pitchFamily="34" charset="-127"/>
              <a:ea typeface="BM HANNA 11yrs old OTF" panose="020B0600000101010101" pitchFamily="34" charset="-127"/>
            </a:endParaRPr>
          </a:p>
        </p:txBody>
      </p:sp>
      <p:sp>
        <p:nvSpPr>
          <p:cNvPr id="12" name="Shape 8"/>
          <p:cNvSpPr/>
          <p:nvPr/>
        </p:nvSpPr>
        <p:spPr>
          <a:xfrm>
            <a:off x="6263640" y="1737360"/>
            <a:ext cx="5349240" cy="3200400"/>
          </a:xfrm>
          <a:prstGeom prst="roundRect">
            <a:avLst>
              <a:gd name="adj" fmla="val 2571"/>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3" name="Shape 9"/>
          <p:cNvSpPr/>
          <p:nvPr/>
        </p:nvSpPr>
        <p:spPr>
          <a:xfrm>
            <a:off x="6583680" y="2011680"/>
            <a:ext cx="548640" cy="548640"/>
          </a:xfrm>
          <a:prstGeom prst="ellipse">
            <a:avLst/>
          </a:prstGeom>
          <a:solidFill>
            <a:srgbClr val="2F3C7E"/>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14" name="Image 2" descr="/home/claude/ppt_project/icons/shield.png"/>
          <p:cNvPicPr>
            <a:picLocks noChangeAspect="1"/>
          </p:cNvPicPr>
          <p:nvPr/>
        </p:nvPicPr>
        <p:blipFill>
          <a:blip r:embed="rId3"/>
          <a:stretch>
            <a:fillRect/>
          </a:stretch>
        </p:blipFill>
        <p:spPr>
          <a:xfrm>
            <a:off x="6731813" y="2159813"/>
            <a:ext cx="252374" cy="252374"/>
          </a:xfrm>
          <a:prstGeom prst="rect">
            <a:avLst/>
          </a:prstGeom>
        </p:spPr>
      </p:pic>
      <p:sp>
        <p:nvSpPr>
          <p:cNvPr id="15" name="Text 10"/>
          <p:cNvSpPr/>
          <p:nvPr/>
        </p:nvSpPr>
        <p:spPr>
          <a:xfrm>
            <a:off x="7315200" y="2011680"/>
            <a:ext cx="4069080" cy="365760"/>
          </a:xfrm>
          <a:prstGeom prst="rect">
            <a:avLst/>
          </a:prstGeom>
          <a:noFill/>
          <a:ln/>
        </p:spPr>
        <p:txBody>
          <a:bodyPr wrap="square" lIns="0" tIns="0" rIns="0" bIns="0" rtlCol="0" anchor="ctr"/>
          <a:lstStyle/>
          <a:p>
            <a:pPr marL="0" indent="0">
              <a:buNone/>
            </a:pPr>
            <a:r>
              <a:rPr lang="en-US" sz="16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Output Guardrail</a:t>
            </a:r>
            <a:endParaRPr lang="en-US" sz="1600" dirty="0">
              <a:latin typeface="BM HANNA 11yrs old OTF" panose="020B0600000101010101" pitchFamily="34" charset="-127"/>
              <a:ea typeface="BM HANNA 11yrs old OTF" panose="020B0600000101010101" pitchFamily="34" charset="-127"/>
            </a:endParaRPr>
          </a:p>
        </p:txBody>
      </p:sp>
      <p:sp>
        <p:nvSpPr>
          <p:cNvPr id="16" name="Text 11"/>
          <p:cNvSpPr/>
          <p:nvPr/>
        </p:nvSpPr>
        <p:spPr>
          <a:xfrm>
            <a:off x="7315200" y="2377440"/>
            <a:ext cx="4069080" cy="274320"/>
          </a:xfrm>
          <a:prstGeom prst="rect">
            <a:avLst/>
          </a:prstGeom>
          <a:noFill/>
          <a:ln/>
        </p:spPr>
        <p:txBody>
          <a:bodyPr wrap="square" lIns="0" tIns="0" rIns="0" bIns="0" rtlCol="0" anchor="ctr"/>
          <a:lstStyle/>
          <a:p>
            <a:pPr marL="0" indent="0">
              <a:buNone/>
            </a:pPr>
            <a:r>
              <a:rPr lang="en-US" sz="1100" dirty="0">
                <a:solidFill>
                  <a:srgbClr val="6B6F8A"/>
                </a:solidFill>
                <a:latin typeface="BM HANNA 11yrs old OTF" panose="020B0600000101010101" pitchFamily="34" charset="-127"/>
                <a:ea typeface="BM HANNA 11yrs old OTF" panose="020B0600000101010101" pitchFamily="34" charset="-127"/>
                <a:cs typeface="Courier New" pitchFamily="34" charset="-120"/>
              </a:rPr>
              <a:t>after_agent</a:t>
            </a:r>
            <a:endParaRPr lang="en-US" sz="1100" dirty="0">
              <a:latin typeface="BM HANNA 11yrs old OTF" panose="020B0600000101010101" pitchFamily="34" charset="-127"/>
              <a:ea typeface="BM HANNA 11yrs old OTF" panose="020B0600000101010101" pitchFamily="34" charset="-127"/>
            </a:endParaRPr>
          </a:p>
        </p:txBody>
      </p:sp>
      <p:sp>
        <p:nvSpPr>
          <p:cNvPr id="17" name="Text 12"/>
          <p:cNvSpPr/>
          <p:nvPr/>
        </p:nvSpPr>
        <p:spPr>
          <a:xfrm>
            <a:off x="6629400" y="2926080"/>
            <a:ext cx="4617720" cy="1874520"/>
          </a:xfrm>
          <a:prstGeom prst="rect">
            <a:avLst/>
          </a:prstGeom>
          <a:noFill/>
          <a:ln/>
        </p:spPr>
        <p:txBody>
          <a:bodyPr wrap="square" lIns="0" tIns="0" rIns="0" bIns="0" rtlCol="0" anchor="t"/>
          <a:lstStyle/>
          <a:p>
            <a:pPr marL="177800" indent="-177800">
              <a:lnSpc>
                <a:spcPct val="125000"/>
              </a:lnSpc>
              <a:spcAft>
                <a:spcPts val="1200"/>
              </a:spcAft>
              <a:buSzPct val="100000"/>
              <a:buChar char="•"/>
            </a:pPr>
            <a:r>
              <a:rPr lang="en-US" sz="1200" dirty="0" err="1">
                <a:solidFill>
                  <a:srgbClr val="22264A"/>
                </a:solidFill>
                <a:latin typeface="BM HANNA 11yrs old OTF" panose="020B0600000101010101" pitchFamily="34" charset="-127"/>
                <a:ea typeface="BM HANNA 11yrs old OTF" panose="020B0600000101010101" pitchFamily="34" charset="-127"/>
                <a:cs typeface="Calibri" pitchFamily="34" charset="-120"/>
              </a:rPr>
              <a:t>출력</a:t>
            </a:r>
            <a:r>
              <a:rPr lang="en-US" sz="12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 PII 마스킹 — Low~Medium</a:t>
            </a:r>
            <a:endParaRPr lang="en-US" sz="1200" dirty="0">
              <a:latin typeface="BM HANNA 11yrs old OTF" panose="020B0600000101010101" pitchFamily="34" charset="-127"/>
              <a:ea typeface="BM HANNA 11yrs old OTF" panose="020B0600000101010101" pitchFamily="34" charset="-127"/>
            </a:endParaRPr>
          </a:p>
          <a:p>
            <a:pPr marL="177800" indent="-177800">
              <a:lnSpc>
                <a:spcPct val="125000"/>
              </a:lnSpc>
              <a:spcAft>
                <a:spcPts val="1200"/>
              </a:spcAft>
              <a:buSzPct val="100000"/>
              <a:buChar char="•"/>
            </a:pPr>
            <a:r>
              <a:rPr lang="en-US" sz="12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근거 없는 사실 차단(grounded) — High</a:t>
            </a:r>
            <a:endParaRPr lang="en-US" sz="1200" dirty="0">
              <a:latin typeface="BM HANNA 11yrs old OTF" panose="020B0600000101010101" pitchFamily="34" charset="-127"/>
              <a:ea typeface="BM HANNA 11yrs old OTF" panose="020B0600000101010101" pitchFamily="34" charset="-127"/>
            </a:endParaRPr>
          </a:p>
        </p:txBody>
      </p:sp>
      <p:sp>
        <p:nvSpPr>
          <p:cNvPr id="18" name="Shape 13"/>
          <p:cNvSpPr/>
          <p:nvPr/>
        </p:nvSpPr>
        <p:spPr>
          <a:xfrm>
            <a:off x="548640" y="5120640"/>
            <a:ext cx="11064240" cy="1051560"/>
          </a:xfrm>
          <a:prstGeom prst="roundRect">
            <a:avLst>
              <a:gd name="adj" fmla="val 7826"/>
            </a:avLst>
          </a:prstGeom>
          <a:solidFill>
            <a:srgbClr val="FFF4DC"/>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9" name="Text 14"/>
          <p:cNvSpPr/>
          <p:nvPr/>
        </p:nvSpPr>
        <p:spPr>
          <a:xfrm>
            <a:off x="868680" y="5120640"/>
            <a:ext cx="10424160" cy="1051560"/>
          </a:xfrm>
          <a:prstGeom prst="rect">
            <a:avLst/>
          </a:prstGeom>
          <a:noFill/>
          <a:ln/>
        </p:spPr>
        <p:txBody>
          <a:bodyPr wrap="square" lIns="0" tIns="0" rIns="0" bIns="0" rtlCol="0" anchor="ctr"/>
          <a:lstStyle/>
          <a:p>
            <a:pPr marL="0" indent="0">
              <a:lnSpc>
                <a:spcPct val="120000"/>
              </a:lnSpc>
              <a:buNone/>
            </a:pPr>
            <a:r>
              <a:rPr lang="en-US" sz="1300" b="1" dirty="0">
                <a:solidFill>
                  <a:srgbClr val="1E2761"/>
                </a:solidFill>
                <a:latin typeface="BM HANNA 11yrs old OTF" panose="020B0600000101010101" pitchFamily="34" charset="-127"/>
                <a:ea typeface="BM HANNA 11yrs old OTF" panose="020B0600000101010101" pitchFamily="34" charset="-127"/>
                <a:cs typeface="Calibri" pitchFamily="34" charset="-120"/>
              </a:rPr>
              <a:t>설계 원칙:  </a:t>
            </a:r>
            <a:r>
              <a:rPr lang="en-US" sz="13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저비용·저지연 규칙 기반 필터를 먼저 적용하고, 통과된 것만 비용이 큰 모델 기반 판별기(GPT-5-nano)로 재검증</a:t>
            </a:r>
            <a:endParaRPr lang="en-US" sz="1300" dirty="0">
              <a:latin typeface="BM HANNA 11yrs old OTF" panose="020B0600000101010101" pitchFamily="34" charset="-127"/>
              <a:ea typeface="BM HANNA 11yrs old OTF" panose="020B0600000101010101" pitchFamily="34" charset="-127"/>
            </a:endParaRPr>
          </a:p>
        </p:txBody>
      </p:sp>
      <p:sp>
        <p:nvSpPr>
          <p:cNvPr id="20" name="Text 15"/>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16</a:t>
            </a:r>
            <a:endParaRPr lang="en-US" sz="1000" dirty="0">
              <a:latin typeface="BM HANNA 11yrs old OTF" panose="020B0600000101010101" pitchFamily="34" charset="-127"/>
              <a:ea typeface="BM HANNA 11yrs old OTF" panose="020B0600000101010101" pitchFamily="34" charset="-127"/>
            </a:endParaRPr>
          </a:p>
        </p:txBody>
      </p:sp>
      <p:sp>
        <p:nvSpPr>
          <p:cNvPr id="21" name="Text 16"/>
          <p:cNvSpPr/>
          <p:nvPr/>
        </p:nvSpPr>
        <p:spPr>
          <a:xfrm>
            <a:off x="457200" y="6446520"/>
            <a:ext cx="3657600" cy="274320"/>
          </a:xfrm>
          <a:prstGeom prst="rect">
            <a:avLst/>
          </a:prstGeom>
          <a:noFill/>
          <a:ln/>
        </p:spPr>
        <p:txBody>
          <a:bodyPr wrap="square" lIns="0" tIns="0" rIns="0" bIns="0" rtlCol="0" anchor="ctr"/>
          <a:lstStyle/>
          <a:p>
            <a:pPr marL="0" indent="0" algn="l">
              <a:buNone/>
            </a:pPr>
            <a:r>
              <a:rPr lang="en-US" sz="9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함께갈개 · AI Agent 설계</a:t>
            </a:r>
            <a:endParaRPr lang="en-US" sz="900" dirty="0">
              <a:latin typeface="BM HANNA 11yrs old OTF" panose="020B0600000101010101" pitchFamily="34" charset="-127"/>
              <a:ea typeface="BM HANNA 11yrs old OTF" panose="020B0600000101010101" pitchFamily="34" charset="-127"/>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658368" cy="658368"/>
          </a:xfrm>
          <a:prstGeom prst="ellipse">
            <a:avLst/>
          </a:prstGeom>
          <a:solidFill>
            <a:srgbClr val="F96167"/>
          </a:solidFill>
          <a:ln/>
          <a:effectLst>
            <a:outerShdw blurRad="76200" dist="25400" dir="5400000" algn="bl" rotWithShape="0">
              <a:srgbClr val="888888">
                <a:alpha val="25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3" name="Image 0" descr="/home/claude/ppt_project/icons/vial.png"/>
          <p:cNvPicPr>
            <a:picLocks noChangeAspect="1"/>
          </p:cNvPicPr>
          <p:nvPr/>
        </p:nvPicPr>
        <p:blipFill>
          <a:blip r:embed="rId3"/>
          <a:stretch>
            <a:fillRect/>
          </a:stretch>
        </p:blipFill>
        <p:spPr>
          <a:xfrm>
            <a:off x="713232" y="594360"/>
            <a:ext cx="237744" cy="237744"/>
          </a:xfrm>
          <a:prstGeom prst="rect">
            <a:avLst/>
          </a:prstGeom>
        </p:spPr>
      </p:pic>
      <p:sp>
        <p:nvSpPr>
          <p:cNvPr id="4" name="Text 1"/>
          <p:cNvSpPr/>
          <p:nvPr/>
        </p:nvSpPr>
        <p:spPr>
          <a:xfrm>
            <a:off x="1325880" y="329184"/>
            <a:ext cx="9875520" cy="502920"/>
          </a:xfrm>
          <a:prstGeom prst="rect">
            <a:avLst/>
          </a:prstGeom>
          <a:noFill/>
          <a:ln/>
        </p:spPr>
        <p:txBody>
          <a:bodyPr wrap="square" lIns="0" tIns="0" rIns="0" bIns="0" rtlCol="0" anchor="ctr"/>
          <a:lstStyle/>
          <a:p>
            <a:pPr marL="0" indent="0" algn="l">
              <a:buNone/>
            </a:pPr>
            <a:r>
              <a:rPr lang="en-US" sz="27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테스트 설계</a:t>
            </a:r>
            <a:endParaRPr lang="en-US" sz="2700" dirty="0">
              <a:latin typeface="BM HANNA 11yrs old OTF" panose="020B0600000101010101" pitchFamily="34" charset="-127"/>
              <a:ea typeface="BM HANNA 11yrs old OTF" panose="020B0600000101010101" pitchFamily="34" charset="-127"/>
            </a:endParaRPr>
          </a:p>
        </p:txBody>
      </p:sp>
      <p:sp>
        <p:nvSpPr>
          <p:cNvPr id="5" name="Text 2"/>
          <p:cNvSpPr/>
          <p:nvPr/>
        </p:nvSpPr>
        <p:spPr>
          <a:xfrm>
            <a:off x="1325880" y="822960"/>
            <a:ext cx="9875520" cy="292608"/>
          </a:xfrm>
          <a:prstGeom prst="rect">
            <a:avLst/>
          </a:prstGeom>
          <a:noFill/>
          <a:ln/>
        </p:spPr>
        <p:txBody>
          <a:bodyPr wrap="square" lIns="0" tIns="0" rIns="0" bIns="0" rtlCol="0" anchor="ctr"/>
          <a:lstStyle/>
          <a:p>
            <a:pPr marL="0" indent="0" algn="l">
              <a:buNone/>
            </a:pPr>
            <a:r>
              <a:rPr lang="en-US" sz="1200" i="1" dirty="0">
                <a:solidFill>
                  <a:srgbClr val="6B6F8A"/>
                </a:solidFill>
                <a:latin typeface="BM HANNA 11yrs old OTF" panose="020B0600000101010101" pitchFamily="34" charset="-127"/>
                <a:ea typeface="BM HANNA 11yrs old OTF" panose="020B0600000101010101" pitchFamily="34" charset="-127"/>
                <a:cs typeface="Calibri" pitchFamily="34" charset="-120"/>
              </a:rPr>
              <a:t>4장  8개 카테고리 · 8개 시나리오</a:t>
            </a:r>
            <a:endParaRPr lang="en-US" sz="1200" dirty="0">
              <a:latin typeface="BM HANNA 11yrs old OTF" panose="020B0600000101010101" pitchFamily="34" charset="-127"/>
              <a:ea typeface="BM HANNA 11yrs old OTF" panose="020B0600000101010101" pitchFamily="34" charset="-127"/>
            </a:endParaRPr>
          </a:p>
        </p:txBody>
      </p:sp>
      <p:sp>
        <p:nvSpPr>
          <p:cNvPr id="6" name="Shape 3"/>
          <p:cNvSpPr/>
          <p:nvPr/>
        </p:nvSpPr>
        <p:spPr>
          <a:xfrm>
            <a:off x="548640" y="1737360"/>
            <a:ext cx="1223010" cy="777240"/>
          </a:xfrm>
          <a:prstGeom prst="roundRect">
            <a:avLst>
              <a:gd name="adj" fmla="val 9412"/>
            </a:avLst>
          </a:prstGeom>
          <a:solidFill>
            <a:srgbClr val="F96167"/>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7" name="Text 4"/>
          <p:cNvSpPr/>
          <p:nvPr/>
        </p:nvSpPr>
        <p:spPr>
          <a:xfrm>
            <a:off x="594360" y="1783080"/>
            <a:ext cx="1131570" cy="685800"/>
          </a:xfrm>
          <a:prstGeom prst="rect">
            <a:avLst/>
          </a:prstGeom>
          <a:noFill/>
          <a:ln/>
        </p:spPr>
        <p:txBody>
          <a:bodyPr wrap="square" lIns="0" tIns="0" rIns="0" bIns="0" rtlCol="0" anchor="ctr"/>
          <a:lstStyle/>
          <a:p>
            <a:pPr marL="0" indent="0" algn="ctr">
              <a:lnSpc>
                <a:spcPct val="105000"/>
              </a:lnSpc>
              <a:buNone/>
            </a:pPr>
            <a:r>
              <a:rPr lang="en-US" sz="1000" b="1" dirty="0">
                <a:solidFill>
                  <a:srgbClr val="FFFFFF"/>
                </a:solidFill>
                <a:latin typeface="BM HANNA 11yrs old OTF" panose="020B0600000101010101" pitchFamily="34" charset="-127"/>
                <a:ea typeface="BM HANNA 11yrs old OTF" panose="020B0600000101010101" pitchFamily="34" charset="-127"/>
                <a:cs typeface="Calibri" pitchFamily="34" charset="-120"/>
              </a:rPr>
              <a:t>Happy Path</a:t>
            </a:r>
            <a:endParaRPr lang="en-US" sz="1000" dirty="0">
              <a:latin typeface="BM HANNA 11yrs old OTF" panose="020B0600000101010101" pitchFamily="34" charset="-127"/>
              <a:ea typeface="BM HANNA 11yrs old OTF" panose="020B0600000101010101" pitchFamily="34" charset="-127"/>
            </a:endParaRPr>
          </a:p>
        </p:txBody>
      </p:sp>
      <p:sp>
        <p:nvSpPr>
          <p:cNvPr id="8" name="Shape 5"/>
          <p:cNvSpPr/>
          <p:nvPr/>
        </p:nvSpPr>
        <p:spPr>
          <a:xfrm>
            <a:off x="1954530" y="1737360"/>
            <a:ext cx="1223010" cy="777240"/>
          </a:xfrm>
          <a:prstGeom prst="roundRect">
            <a:avLst>
              <a:gd name="adj" fmla="val 9412"/>
            </a:avLst>
          </a:prstGeom>
          <a:solidFill>
            <a:srgbClr val="F5A623"/>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9" name="Text 6"/>
          <p:cNvSpPr/>
          <p:nvPr/>
        </p:nvSpPr>
        <p:spPr>
          <a:xfrm>
            <a:off x="2000250" y="1783080"/>
            <a:ext cx="1131570" cy="685800"/>
          </a:xfrm>
          <a:prstGeom prst="rect">
            <a:avLst/>
          </a:prstGeom>
          <a:noFill/>
          <a:ln/>
        </p:spPr>
        <p:txBody>
          <a:bodyPr wrap="square" lIns="0" tIns="0" rIns="0" bIns="0" rtlCol="0" anchor="ctr"/>
          <a:lstStyle/>
          <a:p>
            <a:pPr marL="0" indent="0" algn="ctr">
              <a:lnSpc>
                <a:spcPct val="105000"/>
              </a:lnSpc>
              <a:buNone/>
            </a:pPr>
            <a:r>
              <a:rPr lang="en-US" sz="1000" b="1" dirty="0">
                <a:solidFill>
                  <a:srgbClr val="FFFFFF"/>
                </a:solidFill>
                <a:latin typeface="BM HANNA 11yrs old OTF" panose="020B0600000101010101" pitchFamily="34" charset="-127"/>
                <a:ea typeface="BM HANNA 11yrs old OTF" panose="020B0600000101010101" pitchFamily="34" charset="-127"/>
                <a:cs typeface="Calibri" pitchFamily="34" charset="-120"/>
              </a:rPr>
              <a:t>Tool 오류 처리</a:t>
            </a:r>
            <a:endParaRPr lang="en-US" sz="1000" dirty="0">
              <a:latin typeface="BM HANNA 11yrs old OTF" panose="020B0600000101010101" pitchFamily="34" charset="-127"/>
              <a:ea typeface="BM HANNA 11yrs old OTF" panose="020B0600000101010101" pitchFamily="34" charset="-127"/>
            </a:endParaRPr>
          </a:p>
        </p:txBody>
      </p:sp>
      <p:sp>
        <p:nvSpPr>
          <p:cNvPr id="10" name="Shape 7"/>
          <p:cNvSpPr/>
          <p:nvPr/>
        </p:nvSpPr>
        <p:spPr>
          <a:xfrm>
            <a:off x="3360420" y="1737360"/>
            <a:ext cx="1223010" cy="777240"/>
          </a:xfrm>
          <a:prstGeom prst="roundRect">
            <a:avLst>
              <a:gd name="adj" fmla="val 9412"/>
            </a:avLst>
          </a:prstGeom>
          <a:solidFill>
            <a:srgbClr val="3AA6A0"/>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1" name="Text 8"/>
          <p:cNvSpPr/>
          <p:nvPr/>
        </p:nvSpPr>
        <p:spPr>
          <a:xfrm>
            <a:off x="3406140" y="1783080"/>
            <a:ext cx="1131570" cy="685800"/>
          </a:xfrm>
          <a:prstGeom prst="rect">
            <a:avLst/>
          </a:prstGeom>
          <a:noFill/>
          <a:ln/>
        </p:spPr>
        <p:txBody>
          <a:bodyPr wrap="square" lIns="0" tIns="0" rIns="0" bIns="0" rtlCol="0" anchor="ctr"/>
          <a:lstStyle/>
          <a:p>
            <a:pPr marL="0" indent="0" algn="ctr">
              <a:lnSpc>
                <a:spcPct val="105000"/>
              </a:lnSpc>
              <a:buNone/>
            </a:pPr>
            <a:r>
              <a:rPr lang="en-US" sz="1000" b="1" dirty="0">
                <a:solidFill>
                  <a:srgbClr val="FFFFFF"/>
                </a:solidFill>
                <a:latin typeface="BM HANNA 11yrs old OTF" panose="020B0600000101010101" pitchFamily="34" charset="-127"/>
                <a:ea typeface="BM HANNA 11yrs old OTF" panose="020B0600000101010101" pitchFamily="34" charset="-127"/>
                <a:cs typeface="Calibri" pitchFamily="34" charset="-120"/>
              </a:rPr>
              <a:t>Guardrail 검증</a:t>
            </a:r>
            <a:endParaRPr lang="en-US" sz="1000" dirty="0">
              <a:latin typeface="BM HANNA 11yrs old OTF" panose="020B0600000101010101" pitchFamily="34" charset="-127"/>
              <a:ea typeface="BM HANNA 11yrs old OTF" panose="020B0600000101010101" pitchFamily="34" charset="-127"/>
            </a:endParaRPr>
          </a:p>
        </p:txBody>
      </p:sp>
      <p:sp>
        <p:nvSpPr>
          <p:cNvPr id="12" name="Shape 9"/>
          <p:cNvSpPr/>
          <p:nvPr/>
        </p:nvSpPr>
        <p:spPr>
          <a:xfrm>
            <a:off x="4766310" y="1737360"/>
            <a:ext cx="1223010" cy="777240"/>
          </a:xfrm>
          <a:prstGeom prst="roundRect">
            <a:avLst>
              <a:gd name="adj" fmla="val 9412"/>
            </a:avLst>
          </a:prstGeom>
          <a:solidFill>
            <a:srgbClr val="2F3C7E"/>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3" name="Text 10"/>
          <p:cNvSpPr/>
          <p:nvPr/>
        </p:nvSpPr>
        <p:spPr>
          <a:xfrm>
            <a:off x="4812030" y="1783080"/>
            <a:ext cx="1131570" cy="685800"/>
          </a:xfrm>
          <a:prstGeom prst="rect">
            <a:avLst/>
          </a:prstGeom>
          <a:noFill/>
          <a:ln/>
        </p:spPr>
        <p:txBody>
          <a:bodyPr wrap="square" lIns="0" tIns="0" rIns="0" bIns="0" rtlCol="0" anchor="ctr"/>
          <a:lstStyle/>
          <a:p>
            <a:pPr marL="0" indent="0" algn="ctr">
              <a:lnSpc>
                <a:spcPct val="105000"/>
              </a:lnSpc>
              <a:buNone/>
            </a:pPr>
            <a:r>
              <a:rPr lang="en-US" sz="1000" b="1" dirty="0">
                <a:solidFill>
                  <a:srgbClr val="FFFFFF"/>
                </a:solidFill>
                <a:latin typeface="BM HANNA 11yrs old OTF" panose="020B0600000101010101" pitchFamily="34" charset="-127"/>
                <a:ea typeface="BM HANNA 11yrs old OTF" panose="020B0600000101010101" pitchFamily="34" charset="-127"/>
                <a:cs typeface="Calibri" pitchFamily="34" charset="-120"/>
              </a:rPr>
              <a:t>Structured Output</a:t>
            </a:r>
            <a:endParaRPr lang="en-US" sz="1000" dirty="0">
              <a:latin typeface="BM HANNA 11yrs old OTF" panose="020B0600000101010101" pitchFamily="34" charset="-127"/>
              <a:ea typeface="BM HANNA 11yrs old OTF" panose="020B0600000101010101" pitchFamily="34" charset="-127"/>
            </a:endParaRPr>
          </a:p>
        </p:txBody>
      </p:sp>
      <p:sp>
        <p:nvSpPr>
          <p:cNvPr id="14" name="Shape 11"/>
          <p:cNvSpPr/>
          <p:nvPr/>
        </p:nvSpPr>
        <p:spPr>
          <a:xfrm>
            <a:off x="6172200" y="1737360"/>
            <a:ext cx="1223010" cy="777240"/>
          </a:xfrm>
          <a:prstGeom prst="roundRect">
            <a:avLst>
              <a:gd name="adj" fmla="val 9412"/>
            </a:avLst>
          </a:prstGeom>
          <a:solidFill>
            <a:srgbClr val="F96167"/>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5" name="Text 12"/>
          <p:cNvSpPr/>
          <p:nvPr/>
        </p:nvSpPr>
        <p:spPr>
          <a:xfrm>
            <a:off x="6217920" y="1783080"/>
            <a:ext cx="1131570" cy="685800"/>
          </a:xfrm>
          <a:prstGeom prst="rect">
            <a:avLst/>
          </a:prstGeom>
          <a:noFill/>
          <a:ln/>
        </p:spPr>
        <p:txBody>
          <a:bodyPr wrap="square" lIns="0" tIns="0" rIns="0" bIns="0" rtlCol="0" anchor="ctr"/>
          <a:lstStyle/>
          <a:p>
            <a:pPr marL="0" indent="0" algn="ctr">
              <a:lnSpc>
                <a:spcPct val="105000"/>
              </a:lnSpc>
              <a:buNone/>
            </a:pPr>
            <a:r>
              <a:rPr lang="en-US" sz="1000" b="1" dirty="0">
                <a:solidFill>
                  <a:srgbClr val="FFFFFF"/>
                </a:solidFill>
                <a:latin typeface="BM HANNA 11yrs old OTF" panose="020B0600000101010101" pitchFamily="34" charset="-127"/>
                <a:ea typeface="BM HANNA 11yrs old OTF" panose="020B0600000101010101" pitchFamily="34" charset="-127"/>
                <a:cs typeface="Calibri" pitchFamily="34" charset="-120"/>
              </a:rPr>
              <a:t>Multi-turn/Memory</a:t>
            </a:r>
            <a:endParaRPr lang="en-US" sz="1000" dirty="0">
              <a:latin typeface="BM HANNA 11yrs old OTF" panose="020B0600000101010101" pitchFamily="34" charset="-127"/>
              <a:ea typeface="BM HANNA 11yrs old OTF" panose="020B0600000101010101" pitchFamily="34" charset="-127"/>
            </a:endParaRPr>
          </a:p>
        </p:txBody>
      </p:sp>
      <p:sp>
        <p:nvSpPr>
          <p:cNvPr id="16" name="Shape 13"/>
          <p:cNvSpPr/>
          <p:nvPr/>
        </p:nvSpPr>
        <p:spPr>
          <a:xfrm>
            <a:off x="7578090" y="1737360"/>
            <a:ext cx="1223010" cy="777240"/>
          </a:xfrm>
          <a:prstGeom prst="roundRect">
            <a:avLst>
              <a:gd name="adj" fmla="val 9412"/>
            </a:avLst>
          </a:prstGeom>
          <a:solidFill>
            <a:srgbClr val="F5A623"/>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7" name="Text 14"/>
          <p:cNvSpPr/>
          <p:nvPr/>
        </p:nvSpPr>
        <p:spPr>
          <a:xfrm>
            <a:off x="7623810" y="1783080"/>
            <a:ext cx="1131570" cy="685800"/>
          </a:xfrm>
          <a:prstGeom prst="rect">
            <a:avLst/>
          </a:prstGeom>
          <a:noFill/>
          <a:ln/>
        </p:spPr>
        <p:txBody>
          <a:bodyPr wrap="square" lIns="0" tIns="0" rIns="0" bIns="0" rtlCol="0" anchor="ctr"/>
          <a:lstStyle/>
          <a:p>
            <a:pPr marL="0" indent="0" algn="ctr">
              <a:lnSpc>
                <a:spcPct val="105000"/>
              </a:lnSpc>
              <a:buNone/>
            </a:pPr>
            <a:r>
              <a:rPr lang="en-US" sz="1000" b="1" dirty="0">
                <a:solidFill>
                  <a:srgbClr val="FFFFFF"/>
                </a:solidFill>
                <a:latin typeface="BM HANNA 11yrs old OTF" panose="020B0600000101010101" pitchFamily="34" charset="-127"/>
                <a:ea typeface="BM HANNA 11yrs old OTF" panose="020B0600000101010101" pitchFamily="34" charset="-127"/>
                <a:cs typeface="Calibri" pitchFamily="34" charset="-120"/>
              </a:rPr>
              <a:t>Middleware 검증</a:t>
            </a:r>
            <a:endParaRPr lang="en-US" sz="1000" dirty="0">
              <a:latin typeface="BM HANNA 11yrs old OTF" panose="020B0600000101010101" pitchFamily="34" charset="-127"/>
              <a:ea typeface="BM HANNA 11yrs old OTF" panose="020B0600000101010101" pitchFamily="34" charset="-127"/>
            </a:endParaRPr>
          </a:p>
        </p:txBody>
      </p:sp>
      <p:sp>
        <p:nvSpPr>
          <p:cNvPr id="18" name="Shape 15"/>
          <p:cNvSpPr/>
          <p:nvPr/>
        </p:nvSpPr>
        <p:spPr>
          <a:xfrm>
            <a:off x="8983980" y="1737360"/>
            <a:ext cx="1223010" cy="777240"/>
          </a:xfrm>
          <a:prstGeom prst="roundRect">
            <a:avLst>
              <a:gd name="adj" fmla="val 9412"/>
            </a:avLst>
          </a:prstGeom>
          <a:solidFill>
            <a:srgbClr val="3AA6A0"/>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9" name="Text 16"/>
          <p:cNvSpPr/>
          <p:nvPr/>
        </p:nvSpPr>
        <p:spPr>
          <a:xfrm>
            <a:off x="9029700" y="1783080"/>
            <a:ext cx="1131570" cy="685800"/>
          </a:xfrm>
          <a:prstGeom prst="rect">
            <a:avLst/>
          </a:prstGeom>
          <a:noFill/>
          <a:ln/>
        </p:spPr>
        <p:txBody>
          <a:bodyPr wrap="square" lIns="0" tIns="0" rIns="0" bIns="0" rtlCol="0" anchor="ctr"/>
          <a:lstStyle/>
          <a:p>
            <a:pPr marL="0" indent="0" algn="ctr">
              <a:lnSpc>
                <a:spcPct val="105000"/>
              </a:lnSpc>
              <a:buNone/>
            </a:pPr>
            <a:r>
              <a:rPr lang="en-US" sz="1000" b="1" dirty="0">
                <a:solidFill>
                  <a:srgbClr val="FFFFFF"/>
                </a:solidFill>
                <a:latin typeface="BM HANNA 11yrs old OTF" panose="020B0600000101010101" pitchFamily="34" charset="-127"/>
                <a:ea typeface="BM HANNA 11yrs old OTF" panose="020B0600000101010101" pitchFamily="34" charset="-127"/>
                <a:cs typeface="Calibri" pitchFamily="34" charset="-120"/>
              </a:rPr>
              <a:t>Edge Case</a:t>
            </a:r>
            <a:endParaRPr lang="en-US" sz="1000" dirty="0">
              <a:latin typeface="BM HANNA 11yrs old OTF" panose="020B0600000101010101" pitchFamily="34" charset="-127"/>
              <a:ea typeface="BM HANNA 11yrs old OTF" panose="020B0600000101010101" pitchFamily="34" charset="-127"/>
            </a:endParaRPr>
          </a:p>
        </p:txBody>
      </p:sp>
      <p:sp>
        <p:nvSpPr>
          <p:cNvPr id="20" name="Shape 17"/>
          <p:cNvSpPr/>
          <p:nvPr/>
        </p:nvSpPr>
        <p:spPr>
          <a:xfrm>
            <a:off x="10389870" y="1737360"/>
            <a:ext cx="1223010" cy="777240"/>
          </a:xfrm>
          <a:prstGeom prst="roundRect">
            <a:avLst>
              <a:gd name="adj" fmla="val 9412"/>
            </a:avLst>
          </a:prstGeom>
          <a:solidFill>
            <a:srgbClr val="2F3C7E"/>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21" name="Text 18"/>
          <p:cNvSpPr/>
          <p:nvPr/>
        </p:nvSpPr>
        <p:spPr>
          <a:xfrm>
            <a:off x="10435590" y="1783080"/>
            <a:ext cx="1131570" cy="685800"/>
          </a:xfrm>
          <a:prstGeom prst="rect">
            <a:avLst/>
          </a:prstGeom>
          <a:noFill/>
          <a:ln/>
        </p:spPr>
        <p:txBody>
          <a:bodyPr wrap="square" lIns="0" tIns="0" rIns="0" bIns="0" rtlCol="0" anchor="ctr"/>
          <a:lstStyle/>
          <a:p>
            <a:pPr marL="0" indent="0" algn="ctr">
              <a:lnSpc>
                <a:spcPct val="105000"/>
              </a:lnSpc>
              <a:buNone/>
            </a:pPr>
            <a:r>
              <a:rPr lang="en-US" sz="1000" b="1" dirty="0">
                <a:solidFill>
                  <a:srgbClr val="FFFFFF"/>
                </a:solidFill>
                <a:latin typeface="BM HANNA 11yrs old OTF" panose="020B0600000101010101" pitchFamily="34" charset="-127"/>
                <a:ea typeface="BM HANNA 11yrs old OTF" panose="020B0600000101010101" pitchFamily="34" charset="-127"/>
                <a:cs typeface="Calibri" pitchFamily="34" charset="-120"/>
              </a:rPr>
              <a:t>성능/한계</a:t>
            </a:r>
            <a:endParaRPr lang="en-US" sz="1000" dirty="0">
              <a:latin typeface="BM HANNA 11yrs old OTF" panose="020B0600000101010101" pitchFamily="34" charset="-127"/>
              <a:ea typeface="BM HANNA 11yrs old OTF" panose="020B0600000101010101" pitchFamily="34" charset="-127"/>
            </a:endParaRPr>
          </a:p>
        </p:txBody>
      </p:sp>
      <p:sp>
        <p:nvSpPr>
          <p:cNvPr id="22" name="Shape 19"/>
          <p:cNvSpPr/>
          <p:nvPr/>
        </p:nvSpPr>
        <p:spPr>
          <a:xfrm>
            <a:off x="548640" y="2834640"/>
            <a:ext cx="11064240" cy="960120"/>
          </a:xfrm>
          <a:prstGeom prst="roundRect">
            <a:avLst>
              <a:gd name="adj" fmla="val 8571"/>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23" name="Shape 20"/>
          <p:cNvSpPr/>
          <p:nvPr/>
        </p:nvSpPr>
        <p:spPr>
          <a:xfrm>
            <a:off x="822960" y="3086100"/>
            <a:ext cx="1051560" cy="457200"/>
          </a:xfrm>
          <a:prstGeom prst="roundRect">
            <a:avLst>
              <a:gd name="adj" fmla="val 20000"/>
            </a:avLst>
          </a:prstGeom>
          <a:solidFill>
            <a:srgbClr val="1E2761"/>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24" name="Text 21"/>
          <p:cNvSpPr/>
          <p:nvPr/>
        </p:nvSpPr>
        <p:spPr>
          <a:xfrm>
            <a:off x="822960" y="3086100"/>
            <a:ext cx="105156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BM HANNA 11yrs old OTF" panose="020B0600000101010101" pitchFamily="34" charset="-127"/>
                <a:ea typeface="BM HANNA 11yrs old OTF" panose="020B0600000101010101" pitchFamily="34" charset="-127"/>
                <a:cs typeface="Courier New" pitchFamily="34" charset="-120"/>
              </a:rPr>
              <a:t>TS-01</a:t>
            </a:r>
            <a:endParaRPr lang="en-US" sz="1250" dirty="0">
              <a:latin typeface="BM HANNA 11yrs old OTF" panose="020B0600000101010101" pitchFamily="34" charset="-127"/>
              <a:ea typeface="BM HANNA 11yrs old OTF" panose="020B0600000101010101" pitchFamily="34" charset="-127"/>
            </a:endParaRPr>
          </a:p>
        </p:txBody>
      </p:sp>
      <p:sp>
        <p:nvSpPr>
          <p:cNvPr id="25" name="Text 22"/>
          <p:cNvSpPr/>
          <p:nvPr/>
        </p:nvSpPr>
        <p:spPr>
          <a:xfrm>
            <a:off x="2103120" y="2926080"/>
            <a:ext cx="4206240" cy="777240"/>
          </a:xfrm>
          <a:prstGeom prst="rect">
            <a:avLst/>
          </a:prstGeom>
          <a:noFill/>
          <a:ln/>
        </p:spPr>
        <p:txBody>
          <a:bodyPr wrap="square" lIns="0" tIns="0" rIns="0" bIns="0" rtlCol="0" anchor="ctr"/>
          <a:lstStyle/>
          <a:p>
            <a:pPr marL="0" indent="0">
              <a:buNone/>
            </a:pPr>
            <a:r>
              <a:rPr lang="en-US" sz="12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지역+축종 검색 후 체중 후처리·상세조회</a:t>
            </a:r>
            <a:endParaRPr lang="en-US" sz="1200" dirty="0">
              <a:latin typeface="BM HANNA 11yrs old OTF" panose="020B0600000101010101" pitchFamily="34" charset="-127"/>
              <a:ea typeface="BM HANNA 11yrs old OTF" panose="020B0600000101010101" pitchFamily="34" charset="-127"/>
            </a:endParaRPr>
          </a:p>
        </p:txBody>
      </p:sp>
      <p:sp>
        <p:nvSpPr>
          <p:cNvPr id="26" name="Text 23"/>
          <p:cNvSpPr/>
          <p:nvPr/>
        </p:nvSpPr>
        <p:spPr>
          <a:xfrm>
            <a:off x="6492240" y="2926080"/>
            <a:ext cx="4937760" cy="777240"/>
          </a:xfrm>
          <a:prstGeom prst="rect">
            <a:avLst/>
          </a:prstGeom>
          <a:noFill/>
          <a:ln/>
        </p:spPr>
        <p:txBody>
          <a:bodyPr wrap="square" lIns="0" tIns="0" rIns="0" bIns="0" rtlCol="0" anchor="ctr"/>
          <a:lstStyle/>
          <a:p>
            <a:pPr marL="0" indent="0">
              <a:lnSpc>
                <a:spcPct val="110000"/>
              </a:lnSpc>
              <a:buNone/>
            </a:pPr>
            <a:r>
              <a:rPr lang="en-US" sz="1120" b="1" dirty="0">
                <a:solidFill>
                  <a:srgbClr val="1E2761"/>
                </a:solidFill>
                <a:latin typeface="BM HANNA 11yrs old OTF" panose="020B0600000101010101" pitchFamily="34" charset="-127"/>
                <a:ea typeface="BM HANNA 11yrs old OTF" panose="020B0600000101010101" pitchFamily="34" charset="-127"/>
                <a:cs typeface="Calibri" pitchFamily="34" charset="-120"/>
              </a:rPr>
              <a:t>Pass 기준: </a:t>
            </a:r>
            <a:r>
              <a:rPr lang="en-US" sz="1120" dirty="0">
                <a:solidFill>
                  <a:srgbClr val="22264A"/>
                </a:solidFill>
                <a:latin typeface="BM HANNA 11yrs old OTF" panose="020B0600000101010101" pitchFamily="34" charset="-127"/>
                <a:ea typeface="BM HANNA 11yrs old OTF" panose="020B0600000101010101" pitchFamily="34" charset="-127"/>
                <a:cs typeface="Calibri" pitchFamily="34" charset="-120"/>
              </a:rPr>
              <a:t>Tool 1회 호출, animals 비어있지 않음, grounded=true</a:t>
            </a:r>
            <a:endParaRPr lang="en-US" sz="1120" dirty="0">
              <a:latin typeface="BM HANNA 11yrs old OTF" panose="020B0600000101010101" pitchFamily="34" charset="-127"/>
              <a:ea typeface="BM HANNA 11yrs old OTF" panose="020B0600000101010101" pitchFamily="34" charset="-127"/>
            </a:endParaRPr>
          </a:p>
        </p:txBody>
      </p:sp>
      <p:sp>
        <p:nvSpPr>
          <p:cNvPr id="27" name="Shape 24"/>
          <p:cNvSpPr/>
          <p:nvPr/>
        </p:nvSpPr>
        <p:spPr>
          <a:xfrm>
            <a:off x="548640" y="3931920"/>
            <a:ext cx="11064240" cy="960120"/>
          </a:xfrm>
          <a:prstGeom prst="roundRect">
            <a:avLst>
              <a:gd name="adj" fmla="val 8571"/>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28" name="Shape 25"/>
          <p:cNvSpPr/>
          <p:nvPr/>
        </p:nvSpPr>
        <p:spPr>
          <a:xfrm>
            <a:off x="822960" y="4183380"/>
            <a:ext cx="1051560" cy="457200"/>
          </a:xfrm>
          <a:prstGeom prst="roundRect">
            <a:avLst>
              <a:gd name="adj" fmla="val 20000"/>
            </a:avLst>
          </a:prstGeom>
          <a:solidFill>
            <a:srgbClr val="1E2761"/>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29" name="Text 26"/>
          <p:cNvSpPr/>
          <p:nvPr/>
        </p:nvSpPr>
        <p:spPr>
          <a:xfrm>
            <a:off x="822960" y="4183380"/>
            <a:ext cx="105156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BM HANNA 11yrs old OTF" panose="020B0600000101010101" pitchFamily="34" charset="-127"/>
                <a:ea typeface="BM HANNA 11yrs old OTF" panose="020B0600000101010101" pitchFamily="34" charset="-127"/>
                <a:cs typeface="Courier New" pitchFamily="34" charset="-120"/>
              </a:rPr>
              <a:t>TS-03</a:t>
            </a:r>
            <a:endParaRPr lang="en-US" sz="1250" dirty="0">
              <a:latin typeface="BM HANNA 11yrs old OTF" panose="020B0600000101010101" pitchFamily="34" charset="-127"/>
              <a:ea typeface="BM HANNA 11yrs old OTF" panose="020B0600000101010101" pitchFamily="34" charset="-127"/>
            </a:endParaRPr>
          </a:p>
        </p:txBody>
      </p:sp>
      <p:sp>
        <p:nvSpPr>
          <p:cNvPr id="30" name="Text 27"/>
          <p:cNvSpPr/>
          <p:nvPr/>
        </p:nvSpPr>
        <p:spPr>
          <a:xfrm>
            <a:off x="2103120" y="4023360"/>
            <a:ext cx="4206240" cy="777240"/>
          </a:xfrm>
          <a:prstGeom prst="rect">
            <a:avLst/>
          </a:prstGeom>
          <a:noFill/>
          <a:ln/>
        </p:spPr>
        <p:txBody>
          <a:bodyPr wrap="square" lIns="0" tIns="0" rIns="0" bIns="0" rtlCol="0" anchor="ctr"/>
          <a:lstStyle/>
          <a:p>
            <a:pPr marL="0" indent="0">
              <a:buNone/>
            </a:pPr>
            <a:r>
              <a:rPr lang="en-US" sz="12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불법거래/학대 요청 입력 시 즉시 차단</a:t>
            </a:r>
            <a:endParaRPr lang="en-US" sz="1200" dirty="0">
              <a:latin typeface="BM HANNA 11yrs old OTF" panose="020B0600000101010101" pitchFamily="34" charset="-127"/>
              <a:ea typeface="BM HANNA 11yrs old OTF" panose="020B0600000101010101" pitchFamily="34" charset="-127"/>
            </a:endParaRPr>
          </a:p>
        </p:txBody>
      </p:sp>
      <p:sp>
        <p:nvSpPr>
          <p:cNvPr id="31" name="Text 28"/>
          <p:cNvSpPr/>
          <p:nvPr/>
        </p:nvSpPr>
        <p:spPr>
          <a:xfrm>
            <a:off x="6492240" y="4023360"/>
            <a:ext cx="4937760" cy="777240"/>
          </a:xfrm>
          <a:prstGeom prst="rect">
            <a:avLst/>
          </a:prstGeom>
          <a:noFill/>
          <a:ln/>
        </p:spPr>
        <p:txBody>
          <a:bodyPr wrap="square" lIns="0" tIns="0" rIns="0" bIns="0" rtlCol="0" anchor="ctr"/>
          <a:lstStyle/>
          <a:p>
            <a:pPr marL="0" indent="0">
              <a:lnSpc>
                <a:spcPct val="110000"/>
              </a:lnSpc>
              <a:buNone/>
            </a:pPr>
            <a:r>
              <a:rPr lang="en-US" sz="1120" b="1" dirty="0">
                <a:solidFill>
                  <a:srgbClr val="1E2761"/>
                </a:solidFill>
                <a:latin typeface="BM HANNA 11yrs old OTF" panose="020B0600000101010101" pitchFamily="34" charset="-127"/>
                <a:ea typeface="BM HANNA 11yrs old OTF" panose="020B0600000101010101" pitchFamily="34" charset="-127"/>
                <a:cs typeface="Calibri" pitchFamily="34" charset="-120"/>
              </a:rPr>
              <a:t>Pass 기준: </a:t>
            </a:r>
            <a:r>
              <a:rPr lang="en-US" sz="1120" dirty="0">
                <a:solidFill>
                  <a:srgbClr val="22264A"/>
                </a:solidFill>
                <a:latin typeface="BM HANNA 11yrs old OTF" panose="020B0600000101010101" pitchFamily="34" charset="-127"/>
                <a:ea typeface="BM HANNA 11yrs old OTF" panose="020B0600000101010101" pitchFamily="34" charset="-127"/>
                <a:cs typeface="Calibri" pitchFamily="34" charset="-120"/>
              </a:rPr>
              <a:t>어떤 Tool도 호출되지 않고 차단 메시지만 반환</a:t>
            </a:r>
            <a:endParaRPr lang="en-US" sz="1120" dirty="0">
              <a:latin typeface="BM HANNA 11yrs old OTF" panose="020B0600000101010101" pitchFamily="34" charset="-127"/>
              <a:ea typeface="BM HANNA 11yrs old OTF" panose="020B0600000101010101" pitchFamily="34" charset="-127"/>
            </a:endParaRPr>
          </a:p>
        </p:txBody>
      </p:sp>
      <p:sp>
        <p:nvSpPr>
          <p:cNvPr id="32" name="Shape 29"/>
          <p:cNvSpPr/>
          <p:nvPr/>
        </p:nvSpPr>
        <p:spPr>
          <a:xfrm>
            <a:off x="548640" y="5029200"/>
            <a:ext cx="11064240" cy="960120"/>
          </a:xfrm>
          <a:prstGeom prst="roundRect">
            <a:avLst>
              <a:gd name="adj" fmla="val 8571"/>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33" name="Shape 30"/>
          <p:cNvSpPr/>
          <p:nvPr/>
        </p:nvSpPr>
        <p:spPr>
          <a:xfrm>
            <a:off x="822960" y="5280660"/>
            <a:ext cx="1051560" cy="457200"/>
          </a:xfrm>
          <a:prstGeom prst="roundRect">
            <a:avLst>
              <a:gd name="adj" fmla="val 20000"/>
            </a:avLst>
          </a:prstGeom>
          <a:solidFill>
            <a:srgbClr val="1E2761"/>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34" name="Text 31"/>
          <p:cNvSpPr/>
          <p:nvPr/>
        </p:nvSpPr>
        <p:spPr>
          <a:xfrm>
            <a:off x="822960" y="5280660"/>
            <a:ext cx="105156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BM HANNA 11yrs old OTF" panose="020B0600000101010101" pitchFamily="34" charset="-127"/>
                <a:ea typeface="BM HANNA 11yrs old OTF" panose="020B0600000101010101" pitchFamily="34" charset="-127"/>
                <a:cs typeface="Courier New" pitchFamily="34" charset="-120"/>
              </a:rPr>
              <a:t>TS-08</a:t>
            </a:r>
            <a:endParaRPr lang="en-US" sz="1250" dirty="0">
              <a:latin typeface="BM HANNA 11yrs old OTF" panose="020B0600000101010101" pitchFamily="34" charset="-127"/>
              <a:ea typeface="BM HANNA 11yrs old OTF" panose="020B0600000101010101" pitchFamily="34" charset="-127"/>
            </a:endParaRPr>
          </a:p>
        </p:txBody>
      </p:sp>
      <p:sp>
        <p:nvSpPr>
          <p:cNvPr id="35" name="Text 32"/>
          <p:cNvSpPr/>
          <p:nvPr/>
        </p:nvSpPr>
        <p:spPr>
          <a:xfrm>
            <a:off x="2103120" y="5120640"/>
            <a:ext cx="4206240" cy="777240"/>
          </a:xfrm>
          <a:prstGeom prst="rect">
            <a:avLst/>
          </a:prstGeom>
          <a:noFill/>
          <a:ln/>
        </p:spPr>
        <p:txBody>
          <a:bodyPr wrap="square" lIns="0" tIns="0" rIns="0" bIns="0" rtlCol="0" anchor="ctr"/>
          <a:lstStyle/>
          <a:p>
            <a:pPr marL="0" indent="0">
              <a:buNone/>
            </a:pPr>
            <a:r>
              <a:rPr lang="en-US" sz="1200" dirty="0">
                <a:solidFill>
                  <a:srgbClr val="22264A"/>
                </a:solidFill>
                <a:latin typeface="BM HANNA 11yrs old OTF" panose="020B0600000101010101" pitchFamily="34" charset="-127"/>
                <a:ea typeface="BM HANNA 11yrs old OTF" panose="020B0600000101010101" pitchFamily="34" charset="-127"/>
                <a:cs typeface="Calibri" pitchFamily="34" charset="-120"/>
              </a:rPr>
              <a:t>종합 연동(fan-out 포함) 응답시간·반복호출 한계</a:t>
            </a:r>
            <a:endParaRPr lang="en-US" sz="1200" dirty="0">
              <a:latin typeface="BM HANNA 11yrs old OTF" panose="020B0600000101010101" pitchFamily="34" charset="-127"/>
              <a:ea typeface="BM HANNA 11yrs old OTF" panose="020B0600000101010101" pitchFamily="34" charset="-127"/>
            </a:endParaRPr>
          </a:p>
        </p:txBody>
      </p:sp>
      <p:sp>
        <p:nvSpPr>
          <p:cNvPr id="36" name="Text 33"/>
          <p:cNvSpPr/>
          <p:nvPr/>
        </p:nvSpPr>
        <p:spPr>
          <a:xfrm>
            <a:off x="6492240" y="5120640"/>
            <a:ext cx="4937760" cy="777240"/>
          </a:xfrm>
          <a:prstGeom prst="rect">
            <a:avLst/>
          </a:prstGeom>
          <a:noFill/>
          <a:ln/>
        </p:spPr>
        <p:txBody>
          <a:bodyPr wrap="square" lIns="0" tIns="0" rIns="0" bIns="0" rtlCol="0" anchor="ctr"/>
          <a:lstStyle/>
          <a:p>
            <a:pPr marL="0" indent="0">
              <a:lnSpc>
                <a:spcPct val="110000"/>
              </a:lnSpc>
              <a:buNone/>
            </a:pPr>
            <a:r>
              <a:rPr lang="en-US" sz="1120" b="1" dirty="0">
                <a:solidFill>
                  <a:srgbClr val="1E2761"/>
                </a:solidFill>
                <a:latin typeface="BM HANNA 11yrs old OTF" panose="020B0600000101010101" pitchFamily="34" charset="-127"/>
                <a:ea typeface="BM HANNA 11yrs old OTF" panose="020B0600000101010101" pitchFamily="34" charset="-127"/>
                <a:cs typeface="Calibri" pitchFamily="34" charset="-120"/>
              </a:rPr>
              <a:t>Pass 기준: </a:t>
            </a:r>
            <a:r>
              <a:rPr lang="en-US" sz="1120" dirty="0">
                <a:solidFill>
                  <a:srgbClr val="22264A"/>
                </a:solidFill>
                <a:latin typeface="BM HANNA 11yrs old OTF" panose="020B0600000101010101" pitchFamily="34" charset="-127"/>
                <a:ea typeface="BM HANNA 11yrs old OTF" panose="020B0600000101010101" pitchFamily="34" charset="-127"/>
                <a:cs typeface="Calibri" pitchFamily="34" charset="-120"/>
              </a:rPr>
              <a:t>15초 이내(p95), Tool 6회 이하, max iteration 미도달</a:t>
            </a:r>
            <a:endParaRPr lang="en-US" sz="1120" dirty="0">
              <a:latin typeface="BM HANNA 11yrs old OTF" panose="020B0600000101010101" pitchFamily="34" charset="-127"/>
              <a:ea typeface="BM HANNA 11yrs old OTF" panose="020B0600000101010101" pitchFamily="34" charset="-127"/>
            </a:endParaRPr>
          </a:p>
        </p:txBody>
      </p:sp>
      <p:sp>
        <p:nvSpPr>
          <p:cNvPr id="37" name="Text 34"/>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17</a:t>
            </a:r>
            <a:endParaRPr lang="en-US" sz="1000" dirty="0">
              <a:latin typeface="BM HANNA 11yrs old OTF" panose="020B0600000101010101" pitchFamily="34" charset="-127"/>
              <a:ea typeface="BM HANNA 11yrs old OTF" panose="020B0600000101010101" pitchFamily="34" charset="-127"/>
            </a:endParaRPr>
          </a:p>
        </p:txBody>
      </p:sp>
      <p:sp>
        <p:nvSpPr>
          <p:cNvPr id="38" name="Text 35"/>
          <p:cNvSpPr/>
          <p:nvPr/>
        </p:nvSpPr>
        <p:spPr>
          <a:xfrm>
            <a:off x="457200" y="6446520"/>
            <a:ext cx="3657600" cy="274320"/>
          </a:xfrm>
          <a:prstGeom prst="rect">
            <a:avLst/>
          </a:prstGeom>
          <a:noFill/>
          <a:ln/>
        </p:spPr>
        <p:txBody>
          <a:bodyPr wrap="square" lIns="0" tIns="0" rIns="0" bIns="0" rtlCol="0" anchor="ctr"/>
          <a:lstStyle/>
          <a:p>
            <a:pPr marL="0" indent="0" algn="l">
              <a:buNone/>
            </a:pPr>
            <a:r>
              <a:rPr lang="en-US" sz="9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함께갈개 · AI Agent 설계</a:t>
            </a:r>
            <a:endParaRPr lang="en-US" sz="900" dirty="0">
              <a:latin typeface="BM HANNA 11yrs old OTF" panose="020B0600000101010101" pitchFamily="34" charset="-127"/>
              <a:ea typeface="BM HANNA 11yrs old OTF" panose="020B0600000101010101" pitchFamily="34" charset="-127"/>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658368" cy="658368"/>
          </a:xfrm>
          <a:prstGeom prst="ellipse">
            <a:avLst/>
          </a:prstGeom>
          <a:solidFill>
            <a:srgbClr val="F96167"/>
          </a:solidFill>
          <a:ln/>
          <a:effectLst>
            <a:outerShdw blurRad="76200" dist="25400" dir="5400000" algn="bl" rotWithShape="0">
              <a:srgbClr val="888888">
                <a:alpha val="25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3" name="Image 0" descr="/home/claude/ppt_project/icons/lightbulb.png"/>
          <p:cNvPicPr>
            <a:picLocks noChangeAspect="1"/>
          </p:cNvPicPr>
          <p:nvPr/>
        </p:nvPicPr>
        <p:blipFill>
          <a:blip r:embed="rId3"/>
          <a:stretch>
            <a:fillRect/>
          </a:stretch>
        </p:blipFill>
        <p:spPr>
          <a:xfrm>
            <a:off x="713232" y="594360"/>
            <a:ext cx="237744" cy="237744"/>
          </a:xfrm>
          <a:prstGeom prst="rect">
            <a:avLst/>
          </a:prstGeom>
        </p:spPr>
      </p:pic>
      <p:sp>
        <p:nvSpPr>
          <p:cNvPr id="4" name="Text 1"/>
          <p:cNvSpPr/>
          <p:nvPr/>
        </p:nvSpPr>
        <p:spPr>
          <a:xfrm>
            <a:off x="1325880" y="329184"/>
            <a:ext cx="9875520" cy="502920"/>
          </a:xfrm>
          <a:prstGeom prst="rect">
            <a:avLst/>
          </a:prstGeom>
          <a:noFill/>
          <a:ln/>
        </p:spPr>
        <p:txBody>
          <a:bodyPr wrap="square" lIns="0" tIns="0" rIns="0" bIns="0" rtlCol="0" anchor="ctr"/>
          <a:lstStyle/>
          <a:p>
            <a:pPr marL="0" indent="0" algn="l">
              <a:buNone/>
            </a:pPr>
            <a:r>
              <a:rPr lang="en-US" sz="27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핵심 차별점 요약</a:t>
            </a:r>
            <a:endParaRPr lang="en-US" sz="2700" dirty="0">
              <a:latin typeface="BM HANNA 11yrs old OTF" panose="020B0600000101010101" pitchFamily="34" charset="-127"/>
              <a:ea typeface="BM HANNA 11yrs old OTF" panose="020B0600000101010101" pitchFamily="34" charset="-127"/>
            </a:endParaRPr>
          </a:p>
        </p:txBody>
      </p:sp>
      <p:sp>
        <p:nvSpPr>
          <p:cNvPr id="5" name="Text 2"/>
          <p:cNvSpPr/>
          <p:nvPr/>
        </p:nvSpPr>
        <p:spPr>
          <a:xfrm>
            <a:off x="1325880" y="822960"/>
            <a:ext cx="9875520" cy="292608"/>
          </a:xfrm>
          <a:prstGeom prst="rect">
            <a:avLst/>
          </a:prstGeom>
          <a:noFill/>
          <a:ln/>
        </p:spPr>
        <p:txBody>
          <a:bodyPr wrap="square" lIns="0" tIns="0" rIns="0" bIns="0" rtlCol="0" anchor="ctr"/>
          <a:lstStyle/>
          <a:p>
            <a:pPr marL="0" indent="0" algn="l">
              <a:buNone/>
            </a:pPr>
            <a:r>
              <a:rPr lang="en-US" sz="1200" i="1" dirty="0">
                <a:solidFill>
                  <a:srgbClr val="6B6F8A"/>
                </a:solidFill>
                <a:latin typeface="BM HANNA 11yrs old OTF" panose="020B0600000101010101" pitchFamily="34" charset="-127"/>
                <a:ea typeface="BM HANNA 11yrs old OTF" panose="020B0600000101010101" pitchFamily="34" charset="-127"/>
                <a:cs typeface="Calibri" pitchFamily="34" charset="-120"/>
              </a:rPr>
              <a:t>설계에서 가장 신경 쓴 5가지</a:t>
            </a:r>
            <a:endParaRPr lang="en-US" sz="1200" dirty="0">
              <a:latin typeface="BM HANNA 11yrs old OTF" panose="020B0600000101010101" pitchFamily="34" charset="-127"/>
              <a:ea typeface="BM HANNA 11yrs old OTF" panose="020B0600000101010101" pitchFamily="34" charset="-127"/>
            </a:endParaRPr>
          </a:p>
        </p:txBody>
      </p:sp>
      <p:sp>
        <p:nvSpPr>
          <p:cNvPr id="6" name="Shape 3"/>
          <p:cNvSpPr/>
          <p:nvPr/>
        </p:nvSpPr>
        <p:spPr>
          <a:xfrm>
            <a:off x="548640" y="1737360"/>
            <a:ext cx="11064240" cy="804672"/>
          </a:xfrm>
          <a:prstGeom prst="roundRect">
            <a:avLst>
              <a:gd name="adj" fmla="val 10227"/>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7" name="Shape 4"/>
          <p:cNvSpPr/>
          <p:nvPr/>
        </p:nvSpPr>
        <p:spPr>
          <a:xfrm>
            <a:off x="777240" y="1888236"/>
            <a:ext cx="502920" cy="502920"/>
          </a:xfrm>
          <a:prstGeom prst="ellipse">
            <a:avLst/>
          </a:prstGeom>
          <a:solidFill>
            <a:srgbClr val="F96167"/>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8" name="Image 1" descr="/home/claude/ppt_project/icons/shield.png"/>
          <p:cNvPicPr>
            <a:picLocks noChangeAspect="1"/>
          </p:cNvPicPr>
          <p:nvPr/>
        </p:nvPicPr>
        <p:blipFill>
          <a:blip r:embed="rId4"/>
          <a:stretch>
            <a:fillRect/>
          </a:stretch>
        </p:blipFill>
        <p:spPr>
          <a:xfrm>
            <a:off x="913028" y="2024024"/>
            <a:ext cx="231343" cy="231343"/>
          </a:xfrm>
          <a:prstGeom prst="rect">
            <a:avLst/>
          </a:prstGeom>
        </p:spPr>
      </p:pic>
      <p:sp>
        <p:nvSpPr>
          <p:cNvPr id="9" name="Text 5"/>
          <p:cNvSpPr/>
          <p:nvPr/>
        </p:nvSpPr>
        <p:spPr>
          <a:xfrm>
            <a:off x="1508760" y="1819656"/>
            <a:ext cx="3291840" cy="640080"/>
          </a:xfrm>
          <a:prstGeom prst="rect">
            <a:avLst/>
          </a:prstGeom>
          <a:noFill/>
          <a:ln/>
        </p:spPr>
        <p:txBody>
          <a:bodyPr wrap="square" lIns="0" tIns="0" rIns="0" bIns="0" rtlCol="0" anchor="ctr"/>
          <a:lstStyle/>
          <a:p>
            <a:pPr marL="0" indent="0">
              <a:buNone/>
            </a:pPr>
            <a:r>
              <a:rPr lang="en-US" sz="14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Guardrail 2중 방어</a:t>
            </a:r>
            <a:endParaRPr lang="en-US" sz="1400" dirty="0">
              <a:latin typeface="BM HANNA 11yrs old OTF" panose="020B0600000101010101" pitchFamily="34" charset="-127"/>
              <a:ea typeface="BM HANNA 11yrs old OTF" panose="020B0600000101010101" pitchFamily="34" charset="-127"/>
            </a:endParaRPr>
          </a:p>
        </p:txBody>
      </p:sp>
      <p:sp>
        <p:nvSpPr>
          <p:cNvPr id="10" name="Text 6"/>
          <p:cNvSpPr/>
          <p:nvPr/>
        </p:nvSpPr>
        <p:spPr>
          <a:xfrm>
            <a:off x="4892040" y="1819656"/>
            <a:ext cx="6537960" cy="640080"/>
          </a:xfrm>
          <a:prstGeom prst="rect">
            <a:avLst/>
          </a:prstGeom>
          <a:noFill/>
          <a:ln/>
        </p:spPr>
        <p:txBody>
          <a:bodyPr wrap="square" lIns="0" tIns="0" rIns="0" bIns="0" rtlCol="0" anchor="ctr"/>
          <a:lstStyle/>
          <a:p>
            <a:pPr marL="0" indent="0">
              <a:buNone/>
            </a:pPr>
            <a:r>
              <a:rPr lang="en-US" sz="12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규칙 기반 1차 + 모델 기반 2차, 입력·출력 양쪽 모두 검증</a:t>
            </a:r>
            <a:endParaRPr lang="en-US" sz="1250" dirty="0">
              <a:latin typeface="BM HANNA 11yrs old OTF" panose="020B0600000101010101" pitchFamily="34" charset="-127"/>
              <a:ea typeface="BM HANNA 11yrs old OTF" panose="020B0600000101010101" pitchFamily="34" charset="-127"/>
            </a:endParaRPr>
          </a:p>
        </p:txBody>
      </p:sp>
      <p:sp>
        <p:nvSpPr>
          <p:cNvPr id="11" name="Shape 7"/>
          <p:cNvSpPr/>
          <p:nvPr/>
        </p:nvSpPr>
        <p:spPr>
          <a:xfrm>
            <a:off x="548640" y="2660904"/>
            <a:ext cx="11064240" cy="804672"/>
          </a:xfrm>
          <a:prstGeom prst="roundRect">
            <a:avLst>
              <a:gd name="adj" fmla="val 10227"/>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2" name="Shape 8"/>
          <p:cNvSpPr/>
          <p:nvPr/>
        </p:nvSpPr>
        <p:spPr>
          <a:xfrm>
            <a:off x="777240" y="2811780"/>
            <a:ext cx="502920" cy="502920"/>
          </a:xfrm>
          <a:prstGeom prst="ellipse">
            <a:avLst/>
          </a:prstGeom>
          <a:solidFill>
            <a:srgbClr val="2F3C7E"/>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13" name="Image 2" descr="/home/claude/ppt_project/icons/checkCircle.png"/>
          <p:cNvPicPr>
            <a:picLocks noChangeAspect="1"/>
          </p:cNvPicPr>
          <p:nvPr/>
        </p:nvPicPr>
        <p:blipFill>
          <a:blip r:embed="rId5"/>
          <a:stretch>
            <a:fillRect/>
          </a:stretch>
        </p:blipFill>
        <p:spPr>
          <a:xfrm>
            <a:off x="913028" y="2947568"/>
            <a:ext cx="231343" cy="231343"/>
          </a:xfrm>
          <a:prstGeom prst="rect">
            <a:avLst/>
          </a:prstGeom>
        </p:spPr>
      </p:pic>
      <p:sp>
        <p:nvSpPr>
          <p:cNvPr id="14" name="Text 9"/>
          <p:cNvSpPr/>
          <p:nvPr/>
        </p:nvSpPr>
        <p:spPr>
          <a:xfrm>
            <a:off x="1508760" y="2743200"/>
            <a:ext cx="3291840" cy="640080"/>
          </a:xfrm>
          <a:prstGeom prst="rect">
            <a:avLst/>
          </a:prstGeom>
          <a:noFill/>
          <a:ln/>
        </p:spPr>
        <p:txBody>
          <a:bodyPr wrap="square" lIns="0" tIns="0" rIns="0" bIns="0" rtlCol="0" anchor="ctr"/>
          <a:lstStyle/>
          <a:p>
            <a:pPr marL="0" indent="0">
              <a:buNone/>
            </a:pPr>
            <a:r>
              <a:rPr lang="en-US" sz="14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Grounded 검증</a:t>
            </a:r>
            <a:endParaRPr lang="en-US" sz="1400" dirty="0">
              <a:latin typeface="BM HANNA 11yrs old OTF" panose="020B0600000101010101" pitchFamily="34" charset="-127"/>
              <a:ea typeface="BM HANNA 11yrs old OTF" panose="020B0600000101010101" pitchFamily="34" charset="-127"/>
            </a:endParaRPr>
          </a:p>
        </p:txBody>
      </p:sp>
      <p:sp>
        <p:nvSpPr>
          <p:cNvPr id="15" name="Text 10"/>
          <p:cNvSpPr/>
          <p:nvPr/>
        </p:nvSpPr>
        <p:spPr>
          <a:xfrm>
            <a:off x="4892040" y="2743200"/>
            <a:ext cx="6537960" cy="640080"/>
          </a:xfrm>
          <a:prstGeom prst="rect">
            <a:avLst/>
          </a:prstGeom>
          <a:noFill/>
          <a:ln/>
        </p:spPr>
        <p:txBody>
          <a:bodyPr wrap="square" lIns="0" tIns="0" rIns="0" bIns="0" rtlCol="0" anchor="ctr"/>
          <a:lstStyle/>
          <a:p>
            <a:pPr marL="0" indent="0">
              <a:buNone/>
            </a:pPr>
            <a:r>
              <a:rPr lang="en-US" sz="12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인용 ID를 시스템이 Tool 응답 원문과 대조 — 할루시네이션 원천 차단</a:t>
            </a:r>
            <a:endParaRPr lang="en-US" sz="1250" dirty="0">
              <a:latin typeface="BM HANNA 11yrs old OTF" panose="020B0600000101010101" pitchFamily="34" charset="-127"/>
              <a:ea typeface="BM HANNA 11yrs old OTF" panose="020B0600000101010101" pitchFamily="34" charset="-127"/>
            </a:endParaRPr>
          </a:p>
        </p:txBody>
      </p:sp>
      <p:sp>
        <p:nvSpPr>
          <p:cNvPr id="16" name="Shape 11"/>
          <p:cNvSpPr/>
          <p:nvPr/>
        </p:nvSpPr>
        <p:spPr>
          <a:xfrm>
            <a:off x="548640" y="3584448"/>
            <a:ext cx="11064240" cy="804672"/>
          </a:xfrm>
          <a:prstGeom prst="roundRect">
            <a:avLst>
              <a:gd name="adj" fmla="val 10227"/>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17" name="Shape 12"/>
          <p:cNvSpPr/>
          <p:nvPr/>
        </p:nvSpPr>
        <p:spPr>
          <a:xfrm>
            <a:off x="777240" y="3735324"/>
            <a:ext cx="502920" cy="502920"/>
          </a:xfrm>
          <a:prstGeom prst="ellipse">
            <a:avLst/>
          </a:prstGeom>
          <a:solidFill>
            <a:srgbClr val="F5A623"/>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18" name="Image 3" descr="/home/claude/ppt_project/icons/bolt.png"/>
          <p:cNvPicPr>
            <a:picLocks noChangeAspect="1"/>
          </p:cNvPicPr>
          <p:nvPr/>
        </p:nvPicPr>
        <p:blipFill>
          <a:blip r:embed="rId6"/>
          <a:stretch>
            <a:fillRect/>
          </a:stretch>
        </p:blipFill>
        <p:spPr>
          <a:xfrm>
            <a:off x="913028" y="3871112"/>
            <a:ext cx="231343" cy="231343"/>
          </a:xfrm>
          <a:prstGeom prst="rect">
            <a:avLst/>
          </a:prstGeom>
        </p:spPr>
      </p:pic>
      <p:sp>
        <p:nvSpPr>
          <p:cNvPr id="19" name="Text 13"/>
          <p:cNvSpPr/>
          <p:nvPr/>
        </p:nvSpPr>
        <p:spPr>
          <a:xfrm>
            <a:off x="1508760" y="3666744"/>
            <a:ext cx="3291840" cy="640080"/>
          </a:xfrm>
          <a:prstGeom prst="rect">
            <a:avLst/>
          </a:prstGeom>
          <a:noFill/>
          <a:ln/>
        </p:spPr>
        <p:txBody>
          <a:bodyPr wrap="square" lIns="0" tIns="0" rIns="0" bIns="0" rtlCol="0" anchor="ctr"/>
          <a:lstStyle/>
          <a:p>
            <a:pPr marL="0" indent="0">
              <a:buNone/>
            </a:pPr>
            <a:r>
              <a:rPr lang="en-US" sz="14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차등 캐싱 전략</a:t>
            </a:r>
            <a:endParaRPr lang="en-US" sz="1400" dirty="0">
              <a:latin typeface="BM HANNA 11yrs old OTF" panose="020B0600000101010101" pitchFamily="34" charset="-127"/>
              <a:ea typeface="BM HANNA 11yrs old OTF" panose="020B0600000101010101" pitchFamily="34" charset="-127"/>
            </a:endParaRPr>
          </a:p>
        </p:txBody>
      </p:sp>
      <p:sp>
        <p:nvSpPr>
          <p:cNvPr id="20" name="Text 14"/>
          <p:cNvSpPr/>
          <p:nvPr/>
        </p:nvSpPr>
        <p:spPr>
          <a:xfrm>
            <a:off x="4892040" y="3666744"/>
            <a:ext cx="6537960" cy="640080"/>
          </a:xfrm>
          <a:prstGeom prst="rect">
            <a:avLst/>
          </a:prstGeom>
          <a:noFill/>
          <a:ln/>
        </p:spPr>
        <p:txBody>
          <a:bodyPr wrap="square" lIns="0" tIns="0" rIns="0" bIns="0" rtlCol="0" anchor="ctr"/>
          <a:lstStyle/>
          <a:p>
            <a:pPr marL="0" indent="0">
              <a:buNone/>
            </a:pPr>
            <a:r>
              <a:rPr lang="en-US" sz="12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TTL 차등 + 지역코드 매핑 계층으로 트래픽 제약 속 안정적 성능</a:t>
            </a:r>
            <a:endParaRPr lang="en-US" sz="1250" dirty="0">
              <a:latin typeface="BM HANNA 11yrs old OTF" panose="020B0600000101010101" pitchFamily="34" charset="-127"/>
              <a:ea typeface="BM HANNA 11yrs old OTF" panose="020B0600000101010101" pitchFamily="34" charset="-127"/>
            </a:endParaRPr>
          </a:p>
        </p:txBody>
      </p:sp>
      <p:sp>
        <p:nvSpPr>
          <p:cNvPr id="21" name="Shape 15"/>
          <p:cNvSpPr/>
          <p:nvPr/>
        </p:nvSpPr>
        <p:spPr>
          <a:xfrm>
            <a:off x="548640" y="4507992"/>
            <a:ext cx="11064240" cy="804672"/>
          </a:xfrm>
          <a:prstGeom prst="roundRect">
            <a:avLst>
              <a:gd name="adj" fmla="val 10227"/>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22" name="Shape 16"/>
          <p:cNvSpPr/>
          <p:nvPr/>
        </p:nvSpPr>
        <p:spPr>
          <a:xfrm>
            <a:off x="777240" y="4658868"/>
            <a:ext cx="502920" cy="502920"/>
          </a:xfrm>
          <a:prstGeom prst="ellipse">
            <a:avLst/>
          </a:prstGeom>
          <a:solidFill>
            <a:srgbClr val="3AA6A0"/>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23" name="Image 4" descr="/home/claude/ppt_project/icons/comments.png"/>
          <p:cNvPicPr>
            <a:picLocks noChangeAspect="1"/>
          </p:cNvPicPr>
          <p:nvPr/>
        </p:nvPicPr>
        <p:blipFill>
          <a:blip r:embed="rId7"/>
          <a:stretch>
            <a:fillRect/>
          </a:stretch>
        </p:blipFill>
        <p:spPr>
          <a:xfrm>
            <a:off x="913028" y="4794656"/>
            <a:ext cx="231343" cy="231343"/>
          </a:xfrm>
          <a:prstGeom prst="rect">
            <a:avLst/>
          </a:prstGeom>
        </p:spPr>
      </p:pic>
      <p:sp>
        <p:nvSpPr>
          <p:cNvPr id="24" name="Text 17"/>
          <p:cNvSpPr/>
          <p:nvPr/>
        </p:nvSpPr>
        <p:spPr>
          <a:xfrm>
            <a:off x="1508760" y="4590288"/>
            <a:ext cx="3291840" cy="640080"/>
          </a:xfrm>
          <a:prstGeom prst="rect">
            <a:avLst/>
          </a:prstGeom>
          <a:noFill/>
          <a:ln/>
        </p:spPr>
        <p:txBody>
          <a:bodyPr wrap="square" lIns="0" tIns="0" rIns="0" bIns="0" rtlCol="0" anchor="ctr"/>
          <a:lstStyle/>
          <a:p>
            <a:pPr marL="0" indent="0">
              <a:buNone/>
            </a:pPr>
            <a:r>
              <a:rPr lang="en-US" sz="14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Multi-turn 개인화</a:t>
            </a:r>
            <a:endParaRPr lang="en-US" sz="1400" dirty="0">
              <a:latin typeface="BM HANNA 11yrs old OTF" panose="020B0600000101010101" pitchFamily="34" charset="-127"/>
              <a:ea typeface="BM HANNA 11yrs old OTF" panose="020B0600000101010101" pitchFamily="34" charset="-127"/>
            </a:endParaRPr>
          </a:p>
        </p:txBody>
      </p:sp>
      <p:sp>
        <p:nvSpPr>
          <p:cNvPr id="25" name="Text 18"/>
          <p:cNvSpPr/>
          <p:nvPr/>
        </p:nvSpPr>
        <p:spPr>
          <a:xfrm>
            <a:off x="4892040" y="4590288"/>
            <a:ext cx="6537960" cy="640080"/>
          </a:xfrm>
          <a:prstGeom prst="rect">
            <a:avLst/>
          </a:prstGeom>
          <a:noFill/>
          <a:ln/>
        </p:spPr>
        <p:txBody>
          <a:bodyPr wrap="square" lIns="0" tIns="0" rIns="0" bIns="0" rtlCol="0" anchor="ctr"/>
          <a:lstStyle/>
          <a:p>
            <a:pPr marL="0" indent="0">
              <a:buNone/>
            </a:pPr>
            <a:r>
              <a:rPr lang="en-US" sz="12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State/Store 분리로 자연스러운 지시어 해석과 세션 간 기억</a:t>
            </a:r>
            <a:endParaRPr lang="en-US" sz="1250" dirty="0">
              <a:latin typeface="BM HANNA 11yrs old OTF" panose="020B0600000101010101" pitchFamily="34" charset="-127"/>
              <a:ea typeface="BM HANNA 11yrs old OTF" panose="020B0600000101010101" pitchFamily="34" charset="-127"/>
            </a:endParaRPr>
          </a:p>
        </p:txBody>
      </p:sp>
      <p:sp>
        <p:nvSpPr>
          <p:cNvPr id="26" name="Shape 19"/>
          <p:cNvSpPr/>
          <p:nvPr/>
        </p:nvSpPr>
        <p:spPr>
          <a:xfrm>
            <a:off x="548640" y="5431536"/>
            <a:ext cx="11064240" cy="804672"/>
          </a:xfrm>
          <a:prstGeom prst="roundRect">
            <a:avLst>
              <a:gd name="adj" fmla="val 10227"/>
            </a:avLst>
          </a:prstGeom>
          <a:solidFill>
            <a:srgbClr val="F5F6FB"/>
          </a:solidFill>
          <a:ln/>
          <a:effectLst>
            <a:outerShdw blurRad="101600" dist="25400" dir="5400000" algn="bl" rotWithShape="0">
              <a:srgbClr val="9AA0C0">
                <a:alpha val="18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sp>
        <p:nvSpPr>
          <p:cNvPr id="27" name="Shape 20"/>
          <p:cNvSpPr/>
          <p:nvPr/>
        </p:nvSpPr>
        <p:spPr>
          <a:xfrm>
            <a:off x="777240" y="5582412"/>
            <a:ext cx="502920" cy="502920"/>
          </a:xfrm>
          <a:prstGeom prst="ellipse">
            <a:avLst/>
          </a:prstGeom>
          <a:solidFill>
            <a:srgbClr val="F96167"/>
          </a:solidFill>
          <a:ln/>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28" name="Image 5" descr="/home/claude/ppt_project/icons/infoCircle.png"/>
          <p:cNvPicPr>
            <a:picLocks noChangeAspect="1"/>
          </p:cNvPicPr>
          <p:nvPr/>
        </p:nvPicPr>
        <p:blipFill>
          <a:blip r:embed="rId8"/>
          <a:stretch>
            <a:fillRect/>
          </a:stretch>
        </p:blipFill>
        <p:spPr>
          <a:xfrm>
            <a:off x="913028" y="5718200"/>
            <a:ext cx="231343" cy="231343"/>
          </a:xfrm>
          <a:prstGeom prst="rect">
            <a:avLst/>
          </a:prstGeom>
        </p:spPr>
      </p:pic>
      <p:sp>
        <p:nvSpPr>
          <p:cNvPr id="29" name="Text 21"/>
          <p:cNvSpPr/>
          <p:nvPr/>
        </p:nvSpPr>
        <p:spPr>
          <a:xfrm>
            <a:off x="1508760" y="5513832"/>
            <a:ext cx="3291840" cy="640080"/>
          </a:xfrm>
          <a:prstGeom prst="rect">
            <a:avLst/>
          </a:prstGeom>
          <a:noFill/>
          <a:ln/>
        </p:spPr>
        <p:txBody>
          <a:bodyPr wrap="square" lIns="0" tIns="0" rIns="0" bIns="0" rtlCol="0" anchor="ctr"/>
          <a:lstStyle/>
          <a:p>
            <a:pPr marL="0" indent="0">
              <a:buNone/>
            </a:pPr>
            <a:r>
              <a:rPr lang="en-US" sz="14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정직한 실패 처리</a:t>
            </a:r>
            <a:endParaRPr lang="en-US" sz="1400" dirty="0">
              <a:latin typeface="BM HANNA 11yrs old OTF" panose="020B0600000101010101" pitchFamily="34" charset="-127"/>
              <a:ea typeface="BM HANNA 11yrs old OTF" panose="020B0600000101010101" pitchFamily="34" charset="-127"/>
            </a:endParaRPr>
          </a:p>
        </p:txBody>
      </p:sp>
      <p:sp>
        <p:nvSpPr>
          <p:cNvPr id="30" name="Text 22"/>
          <p:cNvSpPr/>
          <p:nvPr/>
        </p:nvSpPr>
        <p:spPr>
          <a:xfrm>
            <a:off x="4892040" y="5513832"/>
            <a:ext cx="6537960" cy="640080"/>
          </a:xfrm>
          <a:prstGeom prst="rect">
            <a:avLst/>
          </a:prstGeom>
          <a:noFill/>
          <a:ln/>
        </p:spPr>
        <p:txBody>
          <a:bodyPr wrap="square" lIns="0" tIns="0" rIns="0" bIns="0" rtlCol="0" anchor="ctr"/>
          <a:lstStyle/>
          <a:p>
            <a:pPr marL="0" indent="0">
              <a:buNone/>
            </a:pPr>
            <a:r>
              <a:rPr lang="en-US" sz="1250" dirty="0">
                <a:solidFill>
                  <a:srgbClr val="22264A"/>
                </a:solidFill>
                <a:latin typeface="BM HANNA 11yrs old OTF" panose="020B0600000101010101" pitchFamily="34" charset="-127"/>
                <a:ea typeface="BM HANNA 11yrs old OTF" panose="020B0600000101010101" pitchFamily="34" charset="-127"/>
                <a:cs typeface="Calibri" pitchFamily="34" charset="-120"/>
              </a:rPr>
              <a:t>결과 0건·소량일 때도 지어내지 않고 대안을 제시</a:t>
            </a:r>
            <a:endParaRPr lang="en-US" sz="1250" dirty="0">
              <a:latin typeface="BM HANNA 11yrs old OTF" panose="020B0600000101010101" pitchFamily="34" charset="-127"/>
              <a:ea typeface="BM HANNA 11yrs old OTF" panose="020B0600000101010101" pitchFamily="34" charset="-127"/>
            </a:endParaRPr>
          </a:p>
        </p:txBody>
      </p:sp>
      <p:sp>
        <p:nvSpPr>
          <p:cNvPr id="31" name="Text 23"/>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18</a:t>
            </a:r>
            <a:endParaRPr lang="en-US" sz="1000" dirty="0">
              <a:latin typeface="BM HANNA 11yrs old OTF" panose="020B0600000101010101" pitchFamily="34" charset="-127"/>
              <a:ea typeface="BM HANNA 11yrs old OTF" panose="020B0600000101010101" pitchFamily="34" charset="-127"/>
            </a:endParaRPr>
          </a:p>
        </p:txBody>
      </p:sp>
      <p:sp>
        <p:nvSpPr>
          <p:cNvPr id="32" name="Text 24"/>
          <p:cNvSpPr/>
          <p:nvPr/>
        </p:nvSpPr>
        <p:spPr>
          <a:xfrm>
            <a:off x="457200" y="6446520"/>
            <a:ext cx="3657600" cy="274320"/>
          </a:xfrm>
          <a:prstGeom prst="rect">
            <a:avLst/>
          </a:prstGeom>
          <a:noFill/>
          <a:ln/>
        </p:spPr>
        <p:txBody>
          <a:bodyPr wrap="square" lIns="0" tIns="0" rIns="0" bIns="0" rtlCol="0" anchor="ctr"/>
          <a:lstStyle/>
          <a:p>
            <a:pPr marL="0" indent="0" algn="l">
              <a:buNone/>
            </a:pPr>
            <a:r>
              <a:rPr lang="en-US" sz="9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함께갈개 · AI Agent 설계</a:t>
            </a:r>
            <a:endParaRPr lang="en-US" sz="900" dirty="0">
              <a:latin typeface="BM HANNA 11yrs old OTF" panose="020B0600000101010101" pitchFamily="34" charset="-127"/>
              <a:ea typeface="BM HANNA 11yrs old OTF" panose="020B0600000101010101" pitchFamily="34" charset="-127"/>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280160" y="-1463040"/>
            <a:ext cx="4389120" cy="4389120"/>
          </a:xfrm>
          <a:prstGeom prst="ellipse">
            <a:avLst/>
          </a:prstGeom>
          <a:solidFill>
            <a:srgbClr val="E4F5F3"/>
          </a:solidFill>
          <a:ln/>
        </p:spPr>
        <p:txBody>
          <a:bodyPr/>
          <a:lstStyle/>
          <a:p>
            <a:endParaRPr lang="ko-KR" altLang="en-US"/>
          </a:p>
        </p:txBody>
      </p:sp>
      <p:sp>
        <p:nvSpPr>
          <p:cNvPr id="3" name="Shape 1"/>
          <p:cNvSpPr/>
          <p:nvPr/>
        </p:nvSpPr>
        <p:spPr>
          <a:xfrm>
            <a:off x="9875520" y="4206240"/>
            <a:ext cx="3840480" cy="3840480"/>
          </a:xfrm>
          <a:prstGeom prst="ellipse">
            <a:avLst/>
          </a:prstGeom>
          <a:solidFill>
            <a:srgbClr val="FDEAEA"/>
          </a:solidFill>
          <a:ln/>
        </p:spPr>
        <p:txBody>
          <a:bodyPr/>
          <a:lstStyle/>
          <a:p>
            <a:endParaRPr lang="ko-KR" altLang="en-US"/>
          </a:p>
        </p:txBody>
      </p:sp>
      <p:sp>
        <p:nvSpPr>
          <p:cNvPr id="4" name="Shape 2"/>
          <p:cNvSpPr/>
          <p:nvPr/>
        </p:nvSpPr>
        <p:spPr>
          <a:xfrm>
            <a:off x="8961120" y="548640"/>
            <a:ext cx="1188720" cy="1188720"/>
          </a:xfrm>
          <a:prstGeom prst="ellipse">
            <a:avLst/>
          </a:prstGeom>
          <a:solidFill>
            <a:srgbClr val="FFF4DC"/>
          </a:solidFill>
          <a:ln/>
        </p:spPr>
        <p:txBody>
          <a:bodyPr/>
          <a:lstStyle/>
          <a:p>
            <a:endParaRPr lang="ko-KR" altLang="en-US"/>
          </a:p>
        </p:txBody>
      </p:sp>
      <p:sp>
        <p:nvSpPr>
          <p:cNvPr id="5" name="Shape 3"/>
          <p:cNvSpPr/>
          <p:nvPr/>
        </p:nvSpPr>
        <p:spPr>
          <a:xfrm>
            <a:off x="5592928" y="1554480"/>
            <a:ext cx="1005840" cy="1005840"/>
          </a:xfrm>
          <a:prstGeom prst="ellipse">
            <a:avLst/>
          </a:prstGeom>
          <a:solidFill>
            <a:srgbClr val="F96167"/>
          </a:solidFill>
          <a:ln/>
          <a:effectLst>
            <a:outerShdw blurRad="101600" dist="38100" dir="5400000" algn="bl" rotWithShape="0">
              <a:srgbClr val="888888">
                <a:alpha val="25000"/>
              </a:srgbClr>
            </a:outerShdw>
          </a:effectLst>
        </p:spPr>
        <p:txBody>
          <a:bodyPr/>
          <a:lstStyle/>
          <a:p>
            <a:endParaRPr lang="ko-KR" altLang="en-US">
              <a:latin typeface="BM HANNA 11yrs old OTF" panose="020B0600000101010101" pitchFamily="34" charset="-127"/>
              <a:ea typeface="BM HANNA 11yrs old OTF" panose="020B0600000101010101" pitchFamily="34" charset="-127"/>
            </a:endParaRPr>
          </a:p>
        </p:txBody>
      </p:sp>
      <p:pic>
        <p:nvPicPr>
          <p:cNvPr id="6" name="Image 0" descr="/home/claude/ppt_project/icons/comments.png"/>
          <p:cNvPicPr>
            <a:picLocks noChangeAspect="1"/>
          </p:cNvPicPr>
          <p:nvPr/>
        </p:nvPicPr>
        <p:blipFill>
          <a:blip r:embed="rId3"/>
          <a:stretch>
            <a:fillRect/>
          </a:stretch>
        </p:blipFill>
        <p:spPr>
          <a:xfrm>
            <a:off x="5839816" y="1801368"/>
            <a:ext cx="512064" cy="512064"/>
          </a:xfrm>
          <a:prstGeom prst="rect">
            <a:avLst/>
          </a:prstGeom>
        </p:spPr>
      </p:pic>
      <p:sp>
        <p:nvSpPr>
          <p:cNvPr id="7" name="Text 4"/>
          <p:cNvSpPr/>
          <p:nvPr/>
        </p:nvSpPr>
        <p:spPr>
          <a:xfrm>
            <a:off x="0" y="2788920"/>
            <a:ext cx="12191695" cy="822960"/>
          </a:xfrm>
          <a:prstGeom prst="rect">
            <a:avLst/>
          </a:prstGeom>
          <a:noFill/>
          <a:ln/>
        </p:spPr>
        <p:txBody>
          <a:bodyPr wrap="square" lIns="0" tIns="0" rIns="0" bIns="0" rtlCol="0" anchor="ctr"/>
          <a:lstStyle/>
          <a:p>
            <a:pPr marL="0" indent="0" algn="ctr">
              <a:buNone/>
            </a:pPr>
            <a:r>
              <a:rPr lang="en-US" sz="4200" b="1" dirty="0">
                <a:solidFill>
                  <a:srgbClr val="1E2761"/>
                </a:solidFill>
                <a:latin typeface="BM HANNA 11yrs old OTF" panose="020B0600000101010101" pitchFamily="34" charset="-127"/>
                <a:ea typeface="BM HANNA 11yrs old OTF" panose="020B0600000101010101" pitchFamily="34" charset="-127"/>
                <a:cs typeface="Cambria" pitchFamily="34" charset="-120"/>
              </a:rPr>
              <a:t>감사합니다</a:t>
            </a:r>
            <a:endParaRPr lang="en-US" sz="4200" dirty="0">
              <a:latin typeface="BM HANNA 11yrs old OTF" panose="020B0600000101010101" pitchFamily="34" charset="-127"/>
              <a:ea typeface="BM HANNA 11yrs old OTF" panose="020B0600000101010101" pitchFamily="34" charset="-127"/>
            </a:endParaRPr>
          </a:p>
        </p:txBody>
      </p:sp>
      <p:sp>
        <p:nvSpPr>
          <p:cNvPr id="8" name="Text 5"/>
          <p:cNvSpPr/>
          <p:nvPr/>
        </p:nvSpPr>
        <p:spPr>
          <a:xfrm>
            <a:off x="0" y="3611880"/>
            <a:ext cx="12191695" cy="548640"/>
          </a:xfrm>
          <a:prstGeom prst="rect">
            <a:avLst/>
          </a:prstGeom>
          <a:noFill/>
          <a:ln/>
        </p:spPr>
        <p:txBody>
          <a:bodyPr wrap="square" lIns="0" tIns="0" rIns="0" bIns="0" rtlCol="0" anchor="ctr"/>
          <a:lstStyle/>
          <a:p>
            <a:pPr marL="0" indent="0" algn="ctr">
              <a:buNone/>
            </a:pPr>
            <a:r>
              <a:rPr lang="en-US" sz="2200" dirty="0">
                <a:solidFill>
                  <a:srgbClr val="F96167"/>
                </a:solidFill>
                <a:latin typeface="BM HANNA 11yrs old OTF" panose="020B0600000101010101" pitchFamily="34" charset="-127"/>
                <a:ea typeface="BM HANNA 11yrs old OTF" panose="020B0600000101010101" pitchFamily="34" charset="-127"/>
                <a:cs typeface="Cambria" pitchFamily="34" charset="-120"/>
              </a:rPr>
              <a:t>Q &amp; A</a:t>
            </a:r>
            <a:endParaRPr lang="en-US" sz="2200" dirty="0">
              <a:latin typeface="BM HANNA 11yrs old OTF" panose="020B0600000101010101" pitchFamily="34" charset="-127"/>
              <a:ea typeface="BM HANNA 11yrs old OTF" panose="020B0600000101010101" pitchFamily="34" charset="-127"/>
            </a:endParaRPr>
          </a:p>
        </p:txBody>
      </p:sp>
      <p:sp>
        <p:nvSpPr>
          <p:cNvPr id="9" name="Text 6"/>
          <p:cNvSpPr/>
          <p:nvPr/>
        </p:nvSpPr>
        <p:spPr>
          <a:xfrm>
            <a:off x="0" y="6035040"/>
            <a:ext cx="12191695" cy="365760"/>
          </a:xfrm>
          <a:prstGeom prst="rect">
            <a:avLst/>
          </a:prstGeom>
          <a:noFill/>
          <a:ln/>
        </p:spPr>
        <p:txBody>
          <a:bodyPr wrap="square" lIns="0" tIns="0" rIns="0" bIns="0" rtlCol="0" anchor="ctr"/>
          <a:lstStyle/>
          <a:p>
            <a:pPr marL="0" indent="0" algn="ctr">
              <a:buNone/>
            </a:pPr>
            <a:r>
              <a:rPr lang="en-US" sz="13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함께갈개 · 5층 10반 4조</a:t>
            </a:r>
            <a:endParaRPr lang="en-US" sz="1300" dirty="0">
              <a:latin typeface="BM HANNA 11yrs old OTF" panose="020B0600000101010101" pitchFamily="34" charset="-127"/>
              <a:ea typeface="BM HANNA 11yrs old OTF" panose="020B0600000101010101" pitchFamily="34" charset="-127"/>
            </a:endParaRPr>
          </a:p>
        </p:txBody>
      </p:sp>
      <p:sp>
        <p:nvSpPr>
          <p:cNvPr id="10" name="Text 7"/>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19</a:t>
            </a:r>
            <a:endParaRPr lang="en-US" sz="1000" dirty="0">
              <a:latin typeface="BM HANNA 11yrs old OTF" panose="020B0600000101010101" pitchFamily="34" charset="-127"/>
              <a:ea typeface="BM HANNA 11yrs old OTF" panose="020B0600000101010101" pitchFamily="34" charset="-127"/>
            </a:endParaRPr>
          </a:p>
        </p:txBody>
      </p:sp>
      <p:sp>
        <p:nvSpPr>
          <p:cNvPr id="11" name="Text 8"/>
          <p:cNvSpPr/>
          <p:nvPr/>
        </p:nvSpPr>
        <p:spPr>
          <a:xfrm>
            <a:off x="457200" y="6446520"/>
            <a:ext cx="3657600" cy="274320"/>
          </a:xfrm>
          <a:prstGeom prst="rect">
            <a:avLst/>
          </a:prstGeom>
          <a:noFill/>
          <a:ln/>
        </p:spPr>
        <p:txBody>
          <a:bodyPr wrap="square" lIns="0" tIns="0" rIns="0" bIns="0" rtlCol="0" anchor="ctr"/>
          <a:lstStyle/>
          <a:p>
            <a:pPr marL="0" indent="0" algn="l">
              <a:buNone/>
            </a:pPr>
            <a:r>
              <a:rPr lang="en-US" sz="900" dirty="0">
                <a:solidFill>
                  <a:srgbClr val="6B6F8A"/>
                </a:solidFill>
                <a:latin typeface="BM HANNA 11yrs old OTF" panose="020B0600000101010101" pitchFamily="34" charset="-127"/>
                <a:ea typeface="BM HANNA 11yrs old OTF" panose="020B0600000101010101" pitchFamily="34" charset="-127"/>
                <a:cs typeface="Calibri" pitchFamily="34" charset="-120"/>
              </a:rPr>
              <a:t>함께갈개 · AI Agent 설계</a:t>
            </a:r>
            <a:endParaRPr lang="en-US" sz="900" dirty="0">
              <a:latin typeface="BM HANNA 11yrs old OTF" panose="020B0600000101010101" pitchFamily="34" charset="-127"/>
              <a:ea typeface="BM HANNA 11yrs old OTF" panose="020B0600000101010101" pitchFamily="34" charset="-127"/>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70</TotalTime>
  <Words>2393</Words>
  <Application>Microsoft Macintosh PowerPoint</Application>
  <PresentationFormat>와이드스크린</PresentationFormat>
  <Paragraphs>341</Paragraphs>
  <Slides>19</Slides>
  <Notes>19</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19</vt:i4>
      </vt:variant>
    </vt:vector>
  </HeadingPairs>
  <TitlesOfParts>
    <vt:vector size="22" baseType="lpstr">
      <vt:lpstr>BM HANNA 11yrs old OTF</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Eunbae Jeon</cp:lastModifiedBy>
  <cp:revision>13</cp:revision>
  <dcterms:created xsi:type="dcterms:W3CDTF">2026-09-10T23:59:11Z</dcterms:created>
  <dcterms:modified xsi:type="dcterms:W3CDTF">2026-09-11T01:25:24Z</dcterms:modified>
</cp:coreProperties>
</file>